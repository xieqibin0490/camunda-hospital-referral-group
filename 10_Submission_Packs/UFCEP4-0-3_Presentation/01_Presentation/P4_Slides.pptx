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【谁讲】finn（开场）；【时长】20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英文开场：Good morning. We modelled a hospital referral, treatment and administration system. Today we present the two things the brief asks for: the operational BPMN diagram, and the measurable acceptance criteria we use to judge it.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中文提示：不要讲技术细节，先把"今天只讲两件事"说清楚。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【谁讲】finn；【时长】20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英文：Part A is the operational model — finn and henry. Part B is the measurable acceptance criteria — peter and max. Each of us owns two slides.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中文提示：这页是分工交底。peter 和 max 各只有两页，内容最少。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【谁讲】finn；【时长】1 分 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演示操作：打开 02_BPMN_readable_exports/O1_Operational_Merged.png（或 Camunda Modeler 打开 .bpmn）。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英文：This is the operational model — one collaboration. The hospital is one pool with eight swimlanes, one per accountable team. The eight external organisations are black-box pools. Every exchange with the outside world is an explicit, labelled message flow — fifteen of them. Inside, thirty-six activities and twelve decision gateways.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中文提示：手指从左到右划一遍即可：转诊进来 → 临床审核 → 预约 → 治疗授权 → 资金/支付 → 确认排期。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【谁讲】finn；【时长】1 分 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英文：Three ideas. First the boundary: the hospital is one white-box pool, the eight external organisations are black boxes because the case study does not describe their internals. Second responsibility: the eight lanes are the eight accountable teams. Third communication: fifteen named message flows, including four request-and-response pairs. The two panels show intake — a missing document loops back — and booking — no suitable slot escalates instead of stopping.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中文提示：这页是 finn 的收尾，讲完把话筒交给 henry。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【谁讲】henry；【时长】1 分 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英文：These twelve decisions are the business rules. Three we would highlight: a missing document loops back to the completeness check instead of ending the case; the referral decision has four controlled outcomes; and a payment the provider took but never confirmed is marked for investigation rather than requested again.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中文提示：不要逐行念，挑三条讲完就过。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【谁讲】henry；【时长】1 分钟。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英文：The case study's central risk is confused responsibility, so every activity sits in the lane of the team accountable for it. We also executed the model: it passes the Camunda linter with zero reports and deploys — six definitions. Deploying it found four defects that reading it had not, and we fixed all four. One honest limit: the candidate groups express intent but are not enforced by the engine.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中文提示：讲完这页把话筒交给 peter。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【谁讲】peter；【时长】1 分钟。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英文（短句，可照念）：The original twenty criteria described activities, not outcomes. Only two had a number, so eighteen could not fail. They missed the exception paths. So we rewrote them: twenty-eight criteria in four families — eleven normal path, nine exception, five business rules, three non-functional. Every one can be tested.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中文提示：peter 英语吃力，这页只背三句；信息大多在图和数字上。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【谁讲】peter；【时长】1 分钟。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英文：These four show the form. AC-R-12 is the important one: if the provider took the money but the confirmation never came back, the transaction is marked for investigation and no second request is raised. AC-R-19 we cannot execute, because there is no field where card data could be entered — we state that instead of claiming a pass.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中文提示：讲完把话筒交给 max（最后一棒）。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【谁讲】max；【时长】45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英文（短句）：We also executed the eighteen in-scope cases against build 1.0: all passed, no incidents. And we list what we do not claim: enforced role-based access, immutable audit, management reporting output, live integrations and downtime behaviour.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中文提示：max 英语吃力，这页数字大、句子短，照念两句即可。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【谁讲】max（收尾，全组接问题）；【时长】30 秒。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英文收尾：To summarise: the operational model is complete and executable, the criteria are measurable and traceable, and we report honestly what we did not meet. Thank you — we are happy to take questions.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中文提示：三个讨论点是引导老师提问的方向，提前准备答案。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【用途】备用页。老师若问跨组织交流的具体清单，翻到这里。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ts val="600"/>
              </a:spcBef>
            </a:pPr>
            <a:r>
              <a:rPr lang="zh-CN" sz="1300" b="false" i="false" dirty="0">
                <a:solidFill>
                  <a:srgbClr val="000000"/>
                </a:solidFill>
                <a:latin typeface="Calibri"/>
                <a:ea typeface="Microsoft YaHei"/>
              </a:rPr>
              <a:t>【用途】备用页（今天老师会问代码）。要点：11 个 job type 全部有订阅者；失败分类；变量契约；41 个单测证明契约。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gO1.png"/><Relationship Id="rIdN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gZ1.png"/><Relationship Id="rId3" Type="http://schemas.openxmlformats.org/officeDocument/2006/relationships/image" Target="../media/imgZ2.png"/><Relationship Id="rIdN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N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9DB6D6"/>
                </a:solidFill>
                <a:latin typeface="Calibri"/>
                <a:cs typeface="Calibri"/>
              </a:rPr>
              <a:t>UFCEP4-0-3  ·  BUSINESS PROCESS MODELLING AND ENTERPRISE ARCHITECTURE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1325880"/>
            <a:ext cx="10789920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3000" b="1" i="0" dirty="0">
                <a:solidFill>
                  <a:srgbClr val="FFFFFF"/>
                </a:solidFill>
                <a:latin typeface="Calibri"/>
                <a:cs typeface="Calibri"/>
              </a:rPr>
              <a:t>Hospital Patient Referral, Treatment &amp; Administration System</a:t>
            </a:r>
          </a:p>
        </p:txBody>
      </p:sp>
      <p:sp>
        <p:nvSpPr>
          <p:cNvPr id="5" name="Sub"/>
          <p:cNvSpPr txBox="1"/>
          <p:nvPr/>
        </p:nvSpPr>
        <p:spPr>
          <a:xfrm>
            <a:off x="685800" y="2880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800" b="0" i="0" dirty="0">
                <a:solidFill>
                  <a:srgbClr val="D2DEEB"/>
                </a:solidFill>
                <a:latin typeface="Calibri"/>
                <a:cs typeface="Calibri"/>
              </a:rPr>
              <a:t>The operational model  &amp;  measurable acceptance criteria</a:t>
            </a:r>
          </a:p>
        </p:txBody>
      </p:sp>
      <p:sp>
        <p:nvSpPr>
          <p:cNvPr id="6" name="Deliverables"/>
          <p:cNvSpPr/>
          <p:nvPr/>
        </p:nvSpPr>
        <p:spPr>
          <a:xfrm>
            <a:off x="685800" y="3611880"/>
            <a:ext cx="10789920" cy="1417320"/>
          </a:xfrm>
          <a:prstGeom prst="roundRect">
            <a:avLst/>
          </a:prstGeom>
          <a:solidFill>
            <a:srgbClr val="223A5E"/>
          </a:solidFill>
          <a:ln w="9525">
            <a:solidFill>
              <a:srgbClr val="3A5B8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00" b="1" i="0" dirty="0">
                <a:solidFill>
                  <a:srgbClr val="9DB6D6"/>
                </a:solidFill>
                <a:latin typeface="Calibri"/>
                <a:cs typeface="Calibri"/>
              </a:rPr>
              <a:t>Two required deliverables today</a:t>
            </a:r>
          </a:p>
          <a:p>
            <a:pPr algn="l" marL="0" indent="0">
              <a:lnSpc>
                <a:spcPct val="102000"/>
              </a:lnSpc>
              <a:spcBef>
                <a:spcPts val="900"/>
              </a:spcBef>
            </a:pPr>
            <a:r>
              <a:rPr lang="en-GB" sz="1600" b="1" i="0" dirty="0">
                <a:solidFill>
                  <a:srgbClr val="FFFFFF"/>
                </a:solidFill>
                <a:latin typeface="Calibri"/>
                <a:cs typeface="Calibri"/>
              </a:rPr>
              <a:t>1.   The operational BPMN diagram — O1_Operational_Merged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600" b="1" i="0" dirty="0">
                <a:solidFill>
                  <a:srgbClr val="FFFFFF"/>
                </a:solidFill>
                <a:latin typeface="Calibri"/>
                <a:cs typeface="Calibri"/>
              </a:rPr>
              <a:t>2.   The measurable acceptance criteria for that model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400" b="0" i="0" dirty="0">
                <a:solidFill>
                  <a:srgbClr val="FFFFFF"/>
                </a:solidFill>
                <a:latin typeface="Calibri"/>
                <a:cs typeface="Calibri"/>
              </a:rPr>
              <a:t>Group: max  ·  finn  ·  henry  ·  peter        28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HOW THIS DECK IS ORGANISED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Two deliverables, four speakers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finn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9728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2E74B5"/>
                </a:solidFill>
                <a:latin typeface="Calibri"/>
                <a:cs typeface="Calibri"/>
              </a:rPr>
              <a:t>PART A  ·  The operational model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finn — slides 3-4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whole O1 diagram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how to read it: boundary, responsibility, communication</a:t>
            </a:r>
          </a:p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600" b="0" i="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henry — slides 5-6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12 decision gateways = the business rules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separation of duties + validation evidence</a:t>
            </a:r>
          </a:p>
        </p:txBody>
      </p:sp>
      <p:sp>
        <p:nvSpPr>
          <p:cNvPr id="7" name="Card"/>
          <p:cNvSpPr/>
          <p:nvPr/>
        </p:nvSpPr>
        <p:spPr>
          <a:xfrm>
            <a:off x="6191098" y="109728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PART B  ·  Measurable acceptance criteria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peter — slides 7-8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why the original 20 criteria were not measurable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revised 28, and four worked examples</a:t>
            </a:r>
          </a:p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600" b="0" i="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max — slides 9-10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execution evidence and the honest limits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conclusion and discussion points</a:t>
            </a:r>
          </a:p>
        </p:txBody>
      </p:sp>
      <p:sp>
        <p:nvSpPr>
          <p:cNvPr id="8" name="Note"/>
          <p:cNvSpPr/>
          <p:nvPr/>
        </p:nvSpPr>
        <p:spPr>
          <a:xfrm>
            <a:off x="502920" y="3566160"/>
            <a:ext cx="11185855" cy="56692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Ten slides, about ten minutes. Anything beyond the two required artefacts is kept to one evidence slide and two backup slides.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502920" y="4251960"/>
            <a:ext cx="1118585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200" b="0" i="0" dirty="0">
                <a:solidFill>
                  <a:srgbClr val="595959"/>
                </a:solidFill>
                <a:latin typeface="Calibri"/>
                <a:cs typeface="Calibri"/>
              </a:rPr>
              <a:t>Backup slides: A · the fifteen message flows (11)   B · how the executable part is put together (12)</a:t>
            </a:r>
          </a:p>
        </p:txBody>
      </p:sp>
      <p:sp>
        <p:nvSpPr>
          <p:cNvPr id="10" name="Note"/>
          <p:cNvSpPr/>
          <p:nvPr/>
        </p:nvSpPr>
        <p:spPr>
          <a:xfrm>
            <a:off x="502920" y="5010912"/>
            <a:ext cx="11185855" cy="50292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peter and max each take two slides, and the last two slides are deliberately short.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3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THE OPERATIONAL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A1  The operational model — O1_Operational_Merged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finn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50" b="0" i="0" dirty="0">
                <a:solidFill>
                  <a:srgbClr val="262626"/>
                </a:solidFill>
                <a:latin typeface="Calibri"/>
                <a:cs typeface="Calibri"/>
              </a:rPr>
              <a:t>From referral intake to a confirmed treatment schedule — one collaboration.</a:t>
            </a:r>
          </a:p>
        </p:txBody>
      </p:sp>
      <p:sp>
        <p:nvSpPr>
          <p:cNvPr id="7" name="Cap"/>
          <p:cNvSpPr txBox="1"/>
          <p:nvPr/>
        </p:nvSpPr>
        <p:spPr>
          <a:xfrm>
            <a:off x="502920" y="1353312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2E74B5"/>
                </a:solidFill>
                <a:latin typeface="Calibri"/>
                <a:cs typeface="Calibri"/>
              </a:rPr>
              <a:t>The complete operational model — 8 hospital swimlanes, 8 external black-box pools, 15 labelled message flows</a:t>
            </a:r>
          </a:p>
        </p:txBody>
      </p:sp>
      <p:pic>
        <p:nvPicPr>
          <p:cNvPr id="8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91056"/>
            <a:ext cx="11185855" cy="2657149"/>
          </a:xfrm>
          <a:prstGeom prst="rect">
            <a:avLst/>
          </a:prstGeom>
          <a:ln w="9525">
            <a:solidFill>
              <a:srgbClr val="D6E2F0"/>
            </a:solidFill>
          </a:ln>
        </p:spPr>
      </p:pic>
      <p:sp>
        <p:nvSpPr>
          <p:cNvPr id="9" name="Metric"/>
          <p:cNvSpPr/>
          <p:nvPr/>
        </p:nvSpPr>
        <p:spPr>
          <a:xfrm>
            <a:off x="502920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8 swimlanes (hospital teams)</a:t>
            </a:r>
          </a:p>
        </p:txBody>
      </p:sp>
      <p:sp>
        <p:nvSpPr>
          <p:cNvPr id="10" name="Metric"/>
          <p:cNvSpPr/>
          <p:nvPr/>
        </p:nvSpPr>
        <p:spPr>
          <a:xfrm>
            <a:off x="3337484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9 pools: 1 hospital + 8 external</a:t>
            </a:r>
          </a:p>
        </p:txBody>
      </p:sp>
      <p:sp>
        <p:nvSpPr>
          <p:cNvPr id="11" name="Metric"/>
          <p:cNvSpPr/>
          <p:nvPr/>
        </p:nvSpPr>
        <p:spPr>
          <a:xfrm>
            <a:off x="6172048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15 labelled message flows</a:t>
            </a:r>
          </a:p>
        </p:txBody>
      </p:sp>
      <p:sp>
        <p:nvSpPr>
          <p:cNvPr id="12" name="Metric"/>
          <p:cNvSpPr/>
          <p:nvPr/>
        </p:nvSpPr>
        <p:spPr>
          <a:xfrm>
            <a:off x="9006612" y="4828032"/>
            <a:ext cx="2682164" cy="7315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36 activities  ·  12 decision gateways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HOW TO READ THE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A2  Three ideas: boundary, responsibility, communication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finn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05840"/>
            <a:ext cx="3601618" cy="17556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2E74B5"/>
                </a:solidFill>
                <a:latin typeface="Calibri"/>
                <a:cs typeface="Calibri"/>
              </a:rPr>
              <a:t>1  Boundary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one white-box pool: the hospital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eight black-box pools: external parties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case study does not describe their internals, so we do not invent them</a:t>
            </a:r>
          </a:p>
        </p:txBody>
      </p:sp>
      <p:sp>
        <p:nvSpPr>
          <p:cNvPr id="7" name="Card"/>
          <p:cNvSpPr/>
          <p:nvPr/>
        </p:nvSpPr>
        <p:spPr>
          <a:xfrm>
            <a:off x="4295038" y="1005840"/>
            <a:ext cx="3601618" cy="17556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8064A2"/>
                </a:solidFill>
                <a:latin typeface="Calibri"/>
                <a:cs typeface="Calibri"/>
              </a:rPr>
              <a:t>2  Responsibility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eight lanes = the eight accountable teams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clinical judgement only in clinical lanes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money only in the Finance lane</a:t>
            </a:r>
          </a:p>
        </p:txBody>
      </p:sp>
      <p:sp>
        <p:nvSpPr>
          <p:cNvPr id="8" name="Card"/>
          <p:cNvSpPr/>
          <p:nvPr/>
        </p:nvSpPr>
        <p:spPr>
          <a:xfrm>
            <a:off x="8087156" y="1005840"/>
            <a:ext cx="3601618" cy="17556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3  Communication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15 named message flows, each with a source and a target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four request / response pairs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register is on backup slide A</a:t>
            </a:r>
          </a:p>
        </p:txBody>
      </p:sp>
      <p:sp>
        <p:nvSpPr>
          <p:cNvPr id="9" name="Cap"/>
          <p:cNvSpPr txBox="1"/>
          <p:nvPr/>
        </p:nvSpPr>
        <p:spPr>
          <a:xfrm>
            <a:off x="502920" y="283464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2E74B5"/>
                </a:solidFill>
                <a:latin typeface="Calibri"/>
                <a:cs typeface="Calibri"/>
              </a:rPr>
              <a:t>Intake and the clinical decision</a:t>
            </a:r>
          </a:p>
        </p:txBody>
      </p:sp>
      <p:sp>
        <p:nvSpPr>
          <p:cNvPr id="10" name="Sub"/>
          <p:cNvSpPr txBox="1"/>
          <p:nvPr/>
        </p:nvSpPr>
        <p:spPr>
          <a:xfrm>
            <a:off x="502920" y="3072384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50" b="0" i="0" dirty="0">
                <a:solidFill>
                  <a:srgbClr val="595959"/>
                </a:solidFill>
                <a:latin typeface="Calibri"/>
                <a:cs typeface="Calibri"/>
              </a:rPr>
              <a:t>Missing documentation returns to the completeness check; accepted, rejected and redirected each have their own end event and message flow.</a:t>
            </a:r>
          </a:p>
        </p:txBody>
      </p:sp>
      <p:pic>
        <p:nvPicPr>
          <p:cNvPr id="11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268" y="3456432"/>
            <a:ext cx="1905158" cy="489068"/>
          </a:xfrm>
          <a:prstGeom prst="rect">
            <a:avLst/>
          </a:prstGeom>
          <a:ln w="9525">
            <a:solidFill>
              <a:srgbClr val="D6E2F0"/>
            </a:solidFill>
          </a:ln>
        </p:spPr>
      </p:pic>
      <p:sp>
        <p:nvSpPr>
          <p:cNvPr id="12" name="Cap"/>
          <p:cNvSpPr txBox="1"/>
          <p:nvPr/>
        </p:nvSpPr>
        <p:spPr>
          <a:xfrm>
            <a:off x="502920" y="405550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2E74B5"/>
                </a:solidFill>
                <a:latin typeface="Calibri"/>
                <a:cs typeface="Calibri"/>
              </a:rPr>
              <a:t>Booking and the external scheduling service</a:t>
            </a:r>
          </a:p>
        </p:txBody>
      </p:sp>
      <p:sp>
        <p:nvSpPr>
          <p:cNvPr id="13" name="Sub"/>
          <p:cNvSpPr txBox="1"/>
          <p:nvPr/>
        </p:nvSpPr>
        <p:spPr>
          <a:xfrm>
            <a:off x="502920" y="4293244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50" b="0" i="0" dirty="0">
                <a:solidFill>
                  <a:srgbClr val="595959"/>
                </a:solidFill>
                <a:latin typeface="Calibri"/>
                <a:cs typeface="Calibri"/>
              </a:rPr>
              <a:t>No suitable slot → escalate to the Pathway Coordinator; an urgent referral is expedited before the slot query.</a:t>
            </a:r>
          </a:p>
        </p:txBody>
      </p:sp>
      <p:pic>
        <p:nvPicPr>
          <p:cNvPr id="14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14" y="4677292"/>
            <a:ext cx="4107266" cy="489068"/>
          </a:xfrm>
          <a:prstGeom prst="rect">
            <a:avLst/>
          </a:prstGeom>
          <a:ln w="9525">
            <a:solidFill>
              <a:srgbClr val="D6E2F0"/>
            </a:solidFill>
          </a:ln>
        </p:spPr>
      </p:pic>
      <p:sp>
        <p:nvSpPr>
          <p:cNvPr id="15" name="Note"/>
          <p:cNvSpPr/>
          <p:nvPr/>
        </p:nvSpPr>
        <p:spPr>
          <a:xfrm>
            <a:off x="502920" y="5230368"/>
            <a:ext cx="11185855" cy="32918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Every gateway has a condition and a default branch, so the process can never stall on a missing outgoing flow.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8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RULES INSIDE THE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A3  The twelve decision gateways are the business rules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henry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32688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982688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Documents complete?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982688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missing → request from the referrer, then loop back to the check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288482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1338482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Referral decision?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1338482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accepted / rejected / redirected / more information — four controlled outcomes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1644276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1694276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Urgent referral?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1694276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expedite the booking before the normal slot query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2000070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2050070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Slot available?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2050070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book, or escalate to the Patient Pathway Coordinator</a:t>
            </a:r>
          </a:p>
        </p:txBody>
      </p:sp>
      <p:sp>
        <p:nvSpPr>
          <p:cNvPr id="18" name="RowBG"/>
          <p:cNvSpPr/>
          <p:nvPr/>
        </p:nvSpPr>
        <p:spPr>
          <a:xfrm>
            <a:off x="502920" y="2355864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9" name="RL"/>
          <p:cNvSpPr txBox="1"/>
          <p:nvPr/>
        </p:nvSpPr>
        <p:spPr>
          <a:xfrm>
            <a:off x="592920" y="2405864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Within 14 days?</a:t>
            </a:r>
          </a:p>
        </p:txBody>
      </p:sp>
      <p:sp>
        <p:nvSpPr>
          <p:cNvPr id="20" name="RR"/>
          <p:cNvSpPr txBox="1"/>
          <p:nvPr/>
        </p:nvSpPr>
        <p:spPr>
          <a:xfrm>
            <a:off x="3471840" y="2405864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telephone the patient, or no call at all</a:t>
            </a:r>
          </a:p>
        </p:txBody>
      </p:sp>
      <p:sp>
        <p:nvSpPr>
          <p:cNvPr id="21" name="RowBG"/>
          <p:cNvSpPr/>
          <p:nvPr/>
        </p:nvSpPr>
        <p:spPr>
          <a:xfrm>
            <a:off x="502920" y="2711658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2" name="RL"/>
          <p:cNvSpPr txBox="1"/>
          <p:nvPr/>
        </p:nvSpPr>
        <p:spPr>
          <a:xfrm>
            <a:off x="592920" y="2761658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Contact confirmed?</a:t>
            </a:r>
          </a:p>
        </p:txBody>
      </p:sp>
      <p:sp>
        <p:nvSpPr>
          <p:cNvPr id="23" name="RR"/>
          <p:cNvSpPr txBox="1"/>
          <p:nvPr/>
        </p:nvSpPr>
        <p:spPr>
          <a:xfrm>
            <a:off x="3471840" y="2761658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booking stands, or the failed attempt is recorded</a:t>
            </a:r>
          </a:p>
        </p:txBody>
      </p:sp>
      <p:sp>
        <p:nvSpPr>
          <p:cNvPr id="24" name="RowBG"/>
          <p:cNvSpPr/>
          <p:nvPr/>
        </p:nvSpPr>
        <p:spPr>
          <a:xfrm>
            <a:off x="502920" y="3067452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5" name="RL"/>
          <p:cNvSpPr txBox="1"/>
          <p:nvPr/>
        </p:nvSpPr>
        <p:spPr>
          <a:xfrm>
            <a:off x="592920" y="3117452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Consent given?</a:t>
            </a:r>
          </a:p>
        </p:txBody>
      </p:sp>
      <p:sp>
        <p:nvSpPr>
          <p:cNvPr id="26" name="RR"/>
          <p:cNvSpPr txBox="1"/>
          <p:nvPr/>
        </p:nvSpPr>
        <p:spPr>
          <a:xfrm>
            <a:off x="3471840" y="3117452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record consent, or close the pathway as declined</a:t>
            </a:r>
          </a:p>
        </p:txBody>
      </p:sp>
      <p:sp>
        <p:nvSpPr>
          <p:cNvPr id="27" name="RowBG"/>
          <p:cNvSpPr/>
          <p:nvPr/>
        </p:nvSpPr>
        <p:spPr>
          <a:xfrm>
            <a:off x="502920" y="3423246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8" name="RL"/>
          <p:cNvSpPr txBox="1"/>
          <p:nvPr/>
        </p:nvSpPr>
        <p:spPr>
          <a:xfrm>
            <a:off x="592920" y="3473246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Request authorised?</a:t>
            </a:r>
          </a:p>
        </p:txBody>
      </p:sp>
      <p:sp>
        <p:nvSpPr>
          <p:cNvPr id="29" name="RR"/>
          <p:cNvSpPr txBox="1"/>
          <p:nvPr/>
        </p:nvSpPr>
        <p:spPr>
          <a:xfrm>
            <a:off x="3471840" y="3473246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book the treatment, or return it to the clinical team</a:t>
            </a:r>
          </a:p>
        </p:txBody>
      </p:sp>
      <p:sp>
        <p:nvSpPr>
          <p:cNvPr id="30" name="RowBG"/>
          <p:cNvSpPr/>
          <p:nvPr/>
        </p:nvSpPr>
        <p:spPr>
          <a:xfrm>
            <a:off x="502920" y="3779040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1" name="RL"/>
          <p:cNvSpPr txBox="1"/>
          <p:nvPr/>
        </p:nvSpPr>
        <p:spPr>
          <a:xfrm>
            <a:off x="592920" y="3829040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Capacity confirmed?</a:t>
            </a:r>
          </a:p>
        </p:txBody>
      </p:sp>
      <p:sp>
        <p:nvSpPr>
          <p:cNvPr id="32" name="RR"/>
          <p:cNvSpPr txBox="1"/>
          <p:nvPr/>
        </p:nvSpPr>
        <p:spPr>
          <a:xfrm>
            <a:off x="3471840" y="3829040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confirm the schedule, or keep pending and record the retry</a:t>
            </a:r>
          </a:p>
        </p:txBody>
      </p:sp>
      <p:sp>
        <p:nvSpPr>
          <p:cNvPr id="33" name="RowBG"/>
          <p:cNvSpPr/>
          <p:nvPr/>
        </p:nvSpPr>
        <p:spPr>
          <a:xfrm>
            <a:off x="502920" y="4134834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4" name="RL"/>
          <p:cNvSpPr txBox="1"/>
          <p:nvPr/>
        </p:nvSpPr>
        <p:spPr>
          <a:xfrm>
            <a:off x="592920" y="4184834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Funding approved?</a:t>
            </a:r>
          </a:p>
        </p:txBody>
      </p:sp>
      <p:sp>
        <p:nvSpPr>
          <p:cNvPr id="35" name="RR"/>
          <p:cNvSpPr txBox="1"/>
          <p:nvPr/>
        </p:nvSpPr>
        <p:spPr>
          <a:xfrm>
            <a:off x="3471840" y="4184834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continue, or resolve the funding before confirming</a:t>
            </a:r>
          </a:p>
        </p:txBody>
      </p:sp>
      <p:sp>
        <p:nvSpPr>
          <p:cNvPr id="36" name="RowBG"/>
          <p:cNvSpPr/>
          <p:nvPr/>
        </p:nvSpPr>
        <p:spPr>
          <a:xfrm>
            <a:off x="502920" y="4490628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7" name="RL"/>
          <p:cNvSpPr txBox="1"/>
          <p:nvPr/>
        </p:nvSpPr>
        <p:spPr>
          <a:xfrm>
            <a:off x="592920" y="4540628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Advance payment?</a:t>
            </a:r>
          </a:p>
        </p:txBody>
      </p:sp>
      <p:sp>
        <p:nvSpPr>
          <p:cNvPr id="38" name="RR"/>
          <p:cNvSpPr txBox="1"/>
          <p:nvPr/>
        </p:nvSpPr>
        <p:spPr>
          <a:xfrm>
            <a:off x="3471840" y="4540628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secure payment request, or confirm without a charge</a:t>
            </a:r>
          </a:p>
        </p:txBody>
      </p:sp>
      <p:sp>
        <p:nvSpPr>
          <p:cNvPr id="39" name="RowBG"/>
          <p:cNvSpPr/>
          <p:nvPr/>
        </p:nvSpPr>
        <p:spPr>
          <a:xfrm>
            <a:off x="502920" y="4846422"/>
            <a:ext cx="11185855" cy="31079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0" name="RL"/>
          <p:cNvSpPr txBox="1"/>
          <p:nvPr/>
        </p:nvSpPr>
        <p:spPr>
          <a:xfrm>
            <a:off x="592920" y="4896422"/>
            <a:ext cx="2788920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1F3864"/>
                </a:solidFill>
                <a:latin typeface="Calibri"/>
                <a:cs typeface="Calibri"/>
              </a:rPr>
              <a:t>Payment outcome?</a:t>
            </a:r>
          </a:p>
        </p:txBody>
      </p:sp>
      <p:sp>
        <p:nvSpPr>
          <p:cNvPr id="41" name="RR"/>
          <p:cNvSpPr txBox="1"/>
          <p:nvPr/>
        </p:nvSpPr>
        <p:spPr>
          <a:xfrm>
            <a:off x="3471840" y="4896422"/>
            <a:ext cx="8336935" cy="31079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0" i="0" dirty="0">
                <a:solidFill>
                  <a:srgbClr val="262626"/>
                </a:solidFill>
                <a:latin typeface="Calibri"/>
                <a:cs typeface="Calibri"/>
              </a:rPr>
              <a:t>confirmed / declined (one retry) / unconfirmed → investigate, never re-request</a:t>
            </a:r>
          </a:p>
        </p:txBody>
      </p:sp>
      <p:sp>
        <p:nvSpPr>
          <p:cNvPr id="42" name="Note"/>
          <p:cNvSpPr/>
          <p:nvPr/>
        </p:nvSpPr>
        <p:spPr>
          <a:xfrm>
            <a:off x="502920" y="5230368"/>
            <a:ext cx="11185855" cy="32918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Each gateway has a controlled value set and a default branch: the engine can always choose a path.</a:t>
            </a:r>
          </a:p>
        </p:txBody>
      </p:sp>
      <p:sp>
        <p:nvSpPr>
          <p:cNvPr id="4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4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A  ·  WHY IT IS MODELLED THIS WAY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A4  Separation of duties, and proof the model runs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henry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05840"/>
            <a:ext cx="3601618" cy="2103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2E74B5"/>
                </a:solidFill>
                <a:latin typeface="Calibri"/>
                <a:cs typeface="Calibri"/>
              </a:rPr>
              <a:t>Clinical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only a consultant accepts, rejects, redirects or judges suitability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consent is recorded before any treatment booking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no worker takes a clinical decision</a:t>
            </a:r>
          </a:p>
        </p:txBody>
      </p:sp>
      <p:sp>
        <p:nvSpPr>
          <p:cNvPr id="7" name="Card"/>
          <p:cNvSpPr/>
          <p:nvPr/>
        </p:nvSpPr>
        <p:spPr>
          <a:xfrm>
            <a:off x="4295038" y="1005840"/>
            <a:ext cx="3601618" cy="2103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8064A2"/>
                </a:solidFill>
                <a:latin typeface="Calibri"/>
                <a:cs typeface="Calibri"/>
              </a:rPr>
              <a:t>Administrative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register, check documents, request missing information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book, confirm, issue letters, record contact attempts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may not change clinical meaning</a:t>
            </a:r>
          </a:p>
        </p:txBody>
      </p:sp>
      <p:sp>
        <p:nvSpPr>
          <p:cNvPr id="8" name="Card"/>
          <p:cNvSpPr/>
          <p:nvPr/>
        </p:nvSpPr>
        <p:spPr>
          <a:xfrm>
            <a:off x="8087156" y="1005840"/>
            <a:ext cx="3601618" cy="2103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B26B00"/>
                </a:solidFill>
                <a:latin typeface="Calibri"/>
                <a:cs typeface="Calibri"/>
              </a:rPr>
              <a:t>Financial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funding route, secure payment, refunds, investigations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card data is never stored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a clinical decision is not a payment authority</a:t>
            </a:r>
          </a:p>
        </p:txBody>
      </p:sp>
      <p:sp>
        <p:nvSpPr>
          <p:cNvPr id="9" name="Metric"/>
          <p:cNvSpPr/>
          <p:nvPr/>
        </p:nvSpPr>
        <p:spPr>
          <a:xfrm>
            <a:off x="502920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0 moddle warnings</a:t>
            </a:r>
          </a:p>
        </p:txBody>
      </p:sp>
      <p:sp>
        <p:nvSpPr>
          <p:cNvPr id="10" name="Metric"/>
          <p:cNvSpPr/>
          <p:nvPr/>
        </p:nvSpPr>
        <p:spPr>
          <a:xfrm>
            <a:off x="3337484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0 Camunda 8 lint reports</a:t>
            </a:r>
          </a:p>
        </p:txBody>
      </p:sp>
      <p:sp>
        <p:nvSpPr>
          <p:cNvPr id="11" name="Metric"/>
          <p:cNvSpPr/>
          <p:nvPr/>
        </p:nvSpPr>
        <p:spPr>
          <a:xfrm>
            <a:off x="6172048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6 / 6 definitions deployed</a:t>
            </a:r>
          </a:p>
        </p:txBody>
      </p:sp>
      <p:sp>
        <p:nvSpPr>
          <p:cNvPr id="12" name="Metric"/>
          <p:cNvSpPr/>
          <p:nvPr/>
        </p:nvSpPr>
        <p:spPr>
          <a:xfrm>
            <a:off x="9006612" y="3246120"/>
            <a:ext cx="2682164" cy="9601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41 worker unit tests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502920" y="4343400"/>
            <a:ext cx="111858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•  Deploying to a real Camunda 8 cluster found four defects that no diagram review had found — three XSD sequence violations and one runtime form-binding defect. All four were fixed and re-verified.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595959"/>
                </a:solidFill>
                <a:latin typeface="Calibri"/>
                <a:cs typeface="Calibri"/>
              </a:rPr>
              <a:t>•  Honest caveat: candidate groups express intent, but the engine does not enforce group membership in this build — one of the unmet criteria on slide 9.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6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B  ·  MEASURABLE ACCEPTANCE CRITERIA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B1  Rewriting the criteria: 20 → 28 measurable ones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peter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05840"/>
            <a:ext cx="5497678" cy="226771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C00000"/>
                </a:solidFill>
                <a:latin typeface="Calibri"/>
                <a:cs typeface="Calibri"/>
              </a:rPr>
              <a:t>Five problems with the original twenty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1  they described activities, not outcomes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2  only two carried a threshold, so eighteen could not fail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3  nine exception requirements had no criterion at all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4  non-functional needs were one unmeasurable line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5  wording like "handled" or "properly" is not verifiable</a:t>
            </a:r>
          </a:p>
        </p:txBody>
      </p:sp>
      <p:sp>
        <p:nvSpPr>
          <p:cNvPr id="7" name="Card"/>
          <p:cNvSpPr/>
          <p:nvPr/>
        </p:nvSpPr>
        <p:spPr>
          <a:xfrm>
            <a:off x="6191098" y="1005840"/>
            <a:ext cx="5497678" cy="226771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What we changed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each criterion is a terminal state or a persisted record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thresholds added where the case study gives one (14 days, 7 days, amounts)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missing exception paths written in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every criterion names a variable, a model activity and a test case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twelve keep the original wording alongside the revision</a:t>
            </a:r>
          </a:p>
        </p:txBody>
      </p:sp>
      <p:sp>
        <p:nvSpPr>
          <p:cNvPr id="8" name="Metric"/>
          <p:cNvSpPr/>
          <p:nvPr/>
        </p:nvSpPr>
        <p:spPr>
          <a:xfrm>
            <a:off x="502920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11  normal path</a:t>
            </a:r>
          </a:p>
        </p:txBody>
      </p:sp>
      <p:sp>
        <p:nvSpPr>
          <p:cNvPr id="9" name="Metric"/>
          <p:cNvSpPr/>
          <p:nvPr/>
        </p:nvSpPr>
        <p:spPr>
          <a:xfrm>
            <a:off x="3337484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9  exception path</a:t>
            </a:r>
          </a:p>
        </p:txBody>
      </p:sp>
      <p:sp>
        <p:nvSpPr>
          <p:cNvPr id="10" name="Metric"/>
          <p:cNvSpPr/>
          <p:nvPr/>
        </p:nvSpPr>
        <p:spPr>
          <a:xfrm>
            <a:off x="6172048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5  business rule</a:t>
            </a:r>
          </a:p>
        </p:txBody>
      </p:sp>
      <p:sp>
        <p:nvSpPr>
          <p:cNvPr id="11" name="Metric"/>
          <p:cNvSpPr/>
          <p:nvPr/>
        </p:nvSpPr>
        <p:spPr>
          <a:xfrm>
            <a:off x="9006612" y="340156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3  non-functional</a:t>
            </a:r>
          </a:p>
        </p:txBody>
      </p:sp>
      <p:sp>
        <p:nvSpPr>
          <p:cNvPr id="12" name="Note"/>
          <p:cNvSpPr/>
          <p:nvPr/>
        </p:nvSpPr>
        <p:spPr>
          <a:xfrm>
            <a:off x="502920" y="4343400"/>
            <a:ext cx="11185855" cy="6400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Every criterion is written as Given … when … then …, or as a measurable statement, and traces to a requirement (REQ-nn), a business rule (BR-nn) and a model activity.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B  ·  WHAT "MEASURABLE" MEANS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B2  Four worked examples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peter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87552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1037552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AC-R-06  14-day rule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1037552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an appointment within 14 days, then a telephone task is created for the Call Handling Team; more than 14 days, then no call.        REQ-09 · BR-02 · TC-06, TC-07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986354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2036354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AC-R-11  declined payment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2036354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 declined payment, then the patient and the team are notified and one further attempt is allowed — with no second appointment and no second charge.        REQ-22 · BR-05 · TC-15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2985156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3035156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AC-R-12  unconfirmed payment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3035156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 payment taken but not confirmed, then the transaction is marked for investigation and no second payment request is raised.        REQ-23 · BR-06 · TC-16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3983958"/>
            <a:ext cx="11185855" cy="95380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4033958"/>
            <a:ext cx="2788920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1" i="0" dirty="0">
                <a:solidFill>
                  <a:srgbClr val="1F3864"/>
                </a:solidFill>
                <a:latin typeface="Calibri"/>
                <a:cs typeface="Calibri"/>
              </a:rPr>
              <a:t>AC-R-19  card data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4033958"/>
            <a:ext cx="8336935" cy="9538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00" b="0" i="0" dirty="0">
                <a:solidFill>
                  <a:srgbClr val="262626"/>
                </a:solidFill>
                <a:latin typeface="Calibri"/>
                <a:cs typeface="Calibri"/>
              </a:rPr>
              <a:t>Given any payment channel, then no complete card number or security code is stored.        REQ-21 · CN-01 · design inspection — no test case, and we say so.</a:t>
            </a:r>
          </a:p>
        </p:txBody>
      </p:sp>
      <p:sp>
        <p:nvSpPr>
          <p:cNvPr id="18" name="Note"/>
          <p:cNvSpPr/>
          <p:nvPr/>
        </p:nvSpPr>
        <p:spPr>
          <a:xfrm>
            <a:off x="502920" y="5047488"/>
            <a:ext cx="11185855" cy="47548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Each criterion has the three parts that make it measurable: a precondition, an action, and an observable result.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21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PART B  ·  EVIDENCE AND LIMITS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B3  What we verified, and what we do not claim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</a:p>
        </p:txBody>
      </p:sp>
      <p:sp>
        <p:nvSpPr>
          <p:cNvPr id="6" name="Metric"/>
          <p:cNvSpPr/>
          <p:nvPr/>
        </p:nvSpPr>
        <p:spPr>
          <a:xfrm>
            <a:off x="502920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18 / 18 cases passed</a:t>
            </a:r>
          </a:p>
        </p:txBody>
      </p:sp>
      <p:sp>
        <p:nvSpPr>
          <p:cNvPr id="7" name="Metric"/>
          <p:cNvSpPr/>
          <p:nvPr/>
        </p:nvSpPr>
        <p:spPr>
          <a:xfrm>
            <a:off x="3337484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0 incidents</a:t>
            </a:r>
          </a:p>
        </p:txBody>
      </p:sp>
      <p:sp>
        <p:nvSpPr>
          <p:cNvPr id="8" name="Metric"/>
          <p:cNvSpPr/>
          <p:nvPr/>
        </p:nvSpPr>
        <p:spPr>
          <a:xfrm>
            <a:off x="6172048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6 definitions deployed</a:t>
            </a:r>
          </a:p>
        </p:txBody>
      </p:sp>
      <p:sp>
        <p:nvSpPr>
          <p:cNvPr id="9" name="Metric"/>
          <p:cNvSpPr/>
          <p:nvPr/>
        </p:nvSpPr>
        <p:spPr>
          <a:xfrm>
            <a:off x="9006612" y="1024128"/>
            <a:ext cx="2682164" cy="822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250" b="1" i="0" dirty="0">
                <a:solidFill>
                  <a:srgbClr val="1F3864"/>
                </a:solidFill>
                <a:latin typeface="Calibri"/>
                <a:cs typeface="Calibri"/>
              </a:rPr>
              <a:t>build 1.0</a:t>
            </a:r>
          </a:p>
        </p:txBody>
      </p:sp>
      <p:sp>
        <p:nvSpPr>
          <p:cNvPr id="10" name="Card"/>
          <p:cNvSpPr/>
          <p:nvPr/>
        </p:nvSpPr>
        <p:spPr>
          <a:xfrm>
            <a:off x="502920" y="196596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Verified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18 in-scope cases executed against build 1.0 in one run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a case passes only if the expected elements were reached, nothing that should have been skipped was reached, the final state matched and no incident was raised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external services were exercised at the process boundary</a:t>
            </a:r>
          </a:p>
        </p:txBody>
      </p:sp>
      <p:sp>
        <p:nvSpPr>
          <p:cNvPr id="11" name="Card"/>
          <p:cNvSpPr/>
          <p:nvPr/>
        </p:nvSpPr>
        <p:spPr>
          <a:xfrm>
            <a:off x="6191098" y="1965960"/>
            <a:ext cx="5497678" cy="23317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C00000"/>
                </a:solidFill>
                <a:latin typeface="Calibri"/>
                <a:cs typeface="Calibri"/>
              </a:rPr>
              <a:t>Not met — reported as gaps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RBAC enforcement and immutable audit records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management reporting output (the monthly timer has not run)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live integration with any external provider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availability / downtime — no procedure to test</a:t>
            </a:r>
          </a:p>
        </p:txBody>
      </p:sp>
      <p:sp>
        <p:nvSpPr>
          <p:cNvPr id="12" name="Note"/>
          <p:cNvSpPr/>
          <p:nvPr/>
        </p:nvSpPr>
        <p:spPr>
          <a:xfrm>
            <a:off x="502920" y="4407408"/>
            <a:ext cx="11185855" cy="54864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C97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The execution run is evidence, not a requirement: the brief asks for the criteria, and the criteria are on the previous two slides.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What we claim, and what we do not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</a:p>
        </p:txBody>
      </p:sp>
      <p:sp>
        <p:nvSpPr>
          <p:cNvPr id="6" name="Card"/>
          <p:cNvSpPr/>
          <p:nvPr/>
        </p:nvSpPr>
        <p:spPr>
          <a:xfrm>
            <a:off x="502920" y="1051560"/>
            <a:ext cx="5497678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347E5F"/>
                </a:solidFill>
                <a:latin typeface="Calibri"/>
                <a:cs typeface="Calibri"/>
              </a:rPr>
              <a:t>We claim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operational model is complete, clean and executable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every external exchange is an explicit message flow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acceptance criteria are measurable and traceable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the referral-to-schedule path runs with no incidents</a:t>
            </a:r>
          </a:p>
        </p:txBody>
      </p:sp>
      <p:sp>
        <p:nvSpPr>
          <p:cNvPr id="7" name="Card"/>
          <p:cNvSpPr/>
          <p:nvPr/>
        </p:nvSpPr>
        <p:spPr>
          <a:xfrm>
            <a:off x="6191098" y="1051560"/>
            <a:ext cx="5497678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350" b="1" i="0" dirty="0">
                <a:solidFill>
                  <a:srgbClr val="C00000"/>
                </a:solidFill>
                <a:latin typeface="Calibri"/>
                <a:cs typeface="Calibri"/>
              </a:rPr>
              <a:t>We do not claim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enforced RBAC or an immutable audit store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live external integrations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management reporting output</a:t>
            </a:r>
          </a:p>
          <a:p>
            <a:pPr algn="l" marL="0" indent="0">
              <a:lnSpc>
                <a:spcPct val="102000"/>
              </a:lnSpc>
              <a:spcBef>
                <a:spcPts val="4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 •  outage behaviour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502920" y="3337560"/>
            <a:ext cx="11185855" cy="1645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400" b="1" i="0" dirty="0">
                <a:solidFill>
                  <a:srgbClr val="1F3864"/>
                </a:solidFill>
                <a:latin typeface="Calibri"/>
                <a:cs typeface="Calibri"/>
              </a:rPr>
              <a:t>Discussion points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1.   Should management reporting be in the first release?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2.   How far should external integration go in release 2?</a:t>
            </a:r>
          </a:p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300" b="0" i="0" dirty="0">
                <a:solidFill>
                  <a:srgbClr val="262626"/>
                </a:solidFill>
                <a:latin typeface="Calibri"/>
                <a:cs typeface="Calibri"/>
              </a:rPr>
              <a:t>3.   Is lane-based separation enough without enforced RBAC?</a:t>
            </a:r>
          </a:p>
        </p:txBody>
      </p:sp>
      <p:sp>
        <p:nvSpPr>
          <p:cNvPr id="9" name="Note"/>
          <p:cNvSpPr/>
          <p:nvPr/>
        </p:nvSpPr>
        <p:spPr>
          <a:xfrm>
            <a:off x="502920" y="5047488"/>
            <a:ext cx="11185855" cy="5029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Thank you — questions welcome.   Backup: A · the fifteen message flows (11)   B · the executable part (12).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12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BACKUP  ·  MESSAGE-FLOW REGISTER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A  The fifteen message flows, and who they connect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32688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982688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MF_01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982688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Referring organisation → hospital: Patient referral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243536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1293536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MF_02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1293536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referring organisation: Missing documentation request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1554384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1604384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MF_03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1604384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referring organisation: Referral outcome notification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1865232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1915232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MF_04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1915232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other specialist service: Referral redirect</a:t>
            </a:r>
          </a:p>
        </p:txBody>
      </p:sp>
      <p:sp>
        <p:nvSpPr>
          <p:cNvPr id="18" name="RowBG"/>
          <p:cNvSpPr/>
          <p:nvPr/>
        </p:nvSpPr>
        <p:spPr>
          <a:xfrm>
            <a:off x="502920" y="2176080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9" name="RL"/>
          <p:cNvSpPr txBox="1"/>
          <p:nvPr/>
        </p:nvSpPr>
        <p:spPr>
          <a:xfrm>
            <a:off x="592920" y="2226080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MF_05</a:t>
            </a:r>
          </a:p>
        </p:txBody>
      </p:sp>
      <p:sp>
        <p:nvSpPr>
          <p:cNvPr id="20" name="RR"/>
          <p:cNvSpPr txBox="1"/>
          <p:nvPr/>
        </p:nvSpPr>
        <p:spPr>
          <a:xfrm>
            <a:off x="3471840" y="2226080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external scheduling service: Appointment slot request</a:t>
            </a:r>
          </a:p>
        </p:txBody>
      </p:sp>
      <p:sp>
        <p:nvSpPr>
          <p:cNvPr id="21" name="RowBG"/>
          <p:cNvSpPr/>
          <p:nvPr/>
        </p:nvSpPr>
        <p:spPr>
          <a:xfrm>
            <a:off x="502920" y="2486928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2" name="RL"/>
          <p:cNvSpPr txBox="1"/>
          <p:nvPr/>
        </p:nvSpPr>
        <p:spPr>
          <a:xfrm>
            <a:off x="592920" y="2536928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MF_06</a:t>
            </a:r>
          </a:p>
        </p:txBody>
      </p:sp>
      <p:sp>
        <p:nvSpPr>
          <p:cNvPr id="23" name="RR"/>
          <p:cNvSpPr txBox="1"/>
          <p:nvPr/>
        </p:nvSpPr>
        <p:spPr>
          <a:xfrm>
            <a:off x="3471840" y="2536928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external scheduling service → hospital: Appointment slot response</a:t>
            </a:r>
          </a:p>
        </p:txBody>
      </p:sp>
      <p:sp>
        <p:nvSpPr>
          <p:cNvPr id="24" name="RowBG"/>
          <p:cNvSpPr/>
          <p:nvPr/>
        </p:nvSpPr>
        <p:spPr>
          <a:xfrm>
            <a:off x="502920" y="2797776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5" name="RL"/>
          <p:cNvSpPr txBox="1"/>
          <p:nvPr/>
        </p:nvSpPr>
        <p:spPr>
          <a:xfrm>
            <a:off x="592920" y="2847776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MF_07</a:t>
            </a:r>
          </a:p>
        </p:txBody>
      </p:sp>
      <p:sp>
        <p:nvSpPr>
          <p:cNvPr id="26" name="RR"/>
          <p:cNvSpPr txBox="1"/>
          <p:nvPr/>
        </p:nvSpPr>
        <p:spPr>
          <a:xfrm>
            <a:off x="3471840" y="2847776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external correspondence service: Appointment confirmation letter</a:t>
            </a:r>
          </a:p>
        </p:txBody>
      </p:sp>
      <p:sp>
        <p:nvSpPr>
          <p:cNvPr id="27" name="RowBG"/>
          <p:cNvSpPr/>
          <p:nvPr/>
        </p:nvSpPr>
        <p:spPr>
          <a:xfrm>
            <a:off x="502920" y="3108624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8" name="RL"/>
          <p:cNvSpPr txBox="1"/>
          <p:nvPr/>
        </p:nvSpPr>
        <p:spPr>
          <a:xfrm>
            <a:off x="592920" y="3158624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MF_08</a:t>
            </a:r>
          </a:p>
        </p:txBody>
      </p:sp>
      <p:sp>
        <p:nvSpPr>
          <p:cNvPr id="29" name="RR"/>
          <p:cNvSpPr txBox="1"/>
          <p:nvPr/>
        </p:nvSpPr>
        <p:spPr>
          <a:xfrm>
            <a:off x="3471840" y="3158624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patient: Telephone contact attempt</a:t>
            </a:r>
          </a:p>
        </p:txBody>
      </p:sp>
      <p:sp>
        <p:nvSpPr>
          <p:cNvPr id="30" name="RowBG"/>
          <p:cNvSpPr/>
          <p:nvPr/>
        </p:nvSpPr>
        <p:spPr>
          <a:xfrm>
            <a:off x="502920" y="3419472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1" name="RL"/>
          <p:cNvSpPr txBox="1"/>
          <p:nvPr/>
        </p:nvSpPr>
        <p:spPr>
          <a:xfrm>
            <a:off x="592920" y="3469472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MF_09</a:t>
            </a:r>
          </a:p>
        </p:txBody>
      </p:sp>
      <p:sp>
        <p:nvSpPr>
          <p:cNvPr id="32" name="RR"/>
          <p:cNvSpPr txBox="1"/>
          <p:nvPr/>
        </p:nvSpPr>
        <p:spPr>
          <a:xfrm>
            <a:off x="3471840" y="3469472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patient → hospital: Patient contact outcome</a:t>
            </a:r>
          </a:p>
        </p:txBody>
      </p:sp>
      <p:sp>
        <p:nvSpPr>
          <p:cNvPr id="33" name="RowBG"/>
          <p:cNvSpPr/>
          <p:nvPr/>
        </p:nvSpPr>
        <p:spPr>
          <a:xfrm>
            <a:off x="502920" y="3730320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4" name="RL"/>
          <p:cNvSpPr txBox="1"/>
          <p:nvPr/>
        </p:nvSpPr>
        <p:spPr>
          <a:xfrm>
            <a:off x="592920" y="3780320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MF_10</a:t>
            </a:r>
          </a:p>
        </p:txBody>
      </p:sp>
      <p:sp>
        <p:nvSpPr>
          <p:cNvPr id="35" name="RR"/>
          <p:cNvSpPr txBox="1"/>
          <p:nvPr/>
        </p:nvSpPr>
        <p:spPr>
          <a:xfrm>
            <a:off x="3471840" y="3780320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external clinical services: Treatment capacity request</a:t>
            </a:r>
          </a:p>
        </p:txBody>
      </p:sp>
      <p:sp>
        <p:nvSpPr>
          <p:cNvPr id="36" name="RowBG"/>
          <p:cNvSpPr/>
          <p:nvPr/>
        </p:nvSpPr>
        <p:spPr>
          <a:xfrm>
            <a:off x="502920" y="4041168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37" name="RL"/>
          <p:cNvSpPr txBox="1"/>
          <p:nvPr/>
        </p:nvSpPr>
        <p:spPr>
          <a:xfrm>
            <a:off x="592920" y="4091168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MF_11</a:t>
            </a:r>
          </a:p>
        </p:txBody>
      </p:sp>
      <p:sp>
        <p:nvSpPr>
          <p:cNvPr id="38" name="RR"/>
          <p:cNvSpPr txBox="1"/>
          <p:nvPr/>
        </p:nvSpPr>
        <p:spPr>
          <a:xfrm>
            <a:off x="3471840" y="4091168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external clinical services → hospital: Treatment capacity response</a:t>
            </a:r>
          </a:p>
        </p:txBody>
      </p:sp>
      <p:sp>
        <p:nvSpPr>
          <p:cNvPr id="39" name="RowBG"/>
          <p:cNvSpPr/>
          <p:nvPr/>
        </p:nvSpPr>
        <p:spPr>
          <a:xfrm>
            <a:off x="502920" y="4352016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0" name="RL"/>
          <p:cNvSpPr txBox="1"/>
          <p:nvPr/>
        </p:nvSpPr>
        <p:spPr>
          <a:xfrm>
            <a:off x="592920" y="4402016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MF_12</a:t>
            </a:r>
          </a:p>
        </p:txBody>
      </p:sp>
      <p:sp>
        <p:nvSpPr>
          <p:cNvPr id="41" name="RR"/>
          <p:cNvSpPr txBox="1"/>
          <p:nvPr/>
        </p:nvSpPr>
        <p:spPr>
          <a:xfrm>
            <a:off x="3471840" y="4402016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funding organisation: Funding approval request</a:t>
            </a:r>
          </a:p>
        </p:txBody>
      </p:sp>
      <p:sp>
        <p:nvSpPr>
          <p:cNvPr id="42" name="RowBG"/>
          <p:cNvSpPr/>
          <p:nvPr/>
        </p:nvSpPr>
        <p:spPr>
          <a:xfrm>
            <a:off x="502920" y="4662864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3" name="RL"/>
          <p:cNvSpPr txBox="1"/>
          <p:nvPr/>
        </p:nvSpPr>
        <p:spPr>
          <a:xfrm>
            <a:off x="592920" y="4712864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MF_13</a:t>
            </a:r>
          </a:p>
        </p:txBody>
      </p:sp>
      <p:sp>
        <p:nvSpPr>
          <p:cNvPr id="44" name="RR"/>
          <p:cNvSpPr txBox="1"/>
          <p:nvPr/>
        </p:nvSpPr>
        <p:spPr>
          <a:xfrm>
            <a:off x="3471840" y="4712864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funding organisation → hospital: Funding approval response</a:t>
            </a:r>
          </a:p>
        </p:txBody>
      </p:sp>
      <p:sp>
        <p:nvSpPr>
          <p:cNvPr id="45" name="RowBG"/>
          <p:cNvSpPr/>
          <p:nvPr/>
        </p:nvSpPr>
        <p:spPr>
          <a:xfrm>
            <a:off x="502920" y="4973712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6" name="RL"/>
          <p:cNvSpPr txBox="1"/>
          <p:nvPr/>
        </p:nvSpPr>
        <p:spPr>
          <a:xfrm>
            <a:off x="592920" y="5023712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MF_14</a:t>
            </a:r>
          </a:p>
        </p:txBody>
      </p:sp>
      <p:sp>
        <p:nvSpPr>
          <p:cNvPr id="47" name="RR"/>
          <p:cNvSpPr txBox="1"/>
          <p:nvPr/>
        </p:nvSpPr>
        <p:spPr>
          <a:xfrm>
            <a:off x="3471840" y="5023712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hospital → payment service provider: Secure payment request</a:t>
            </a:r>
          </a:p>
        </p:txBody>
      </p:sp>
      <p:sp>
        <p:nvSpPr>
          <p:cNvPr id="48" name="RowBG"/>
          <p:cNvSpPr/>
          <p:nvPr/>
        </p:nvSpPr>
        <p:spPr>
          <a:xfrm>
            <a:off x="502920" y="5284560"/>
            <a:ext cx="11185855" cy="26584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49" name="RL"/>
          <p:cNvSpPr txBox="1"/>
          <p:nvPr/>
        </p:nvSpPr>
        <p:spPr>
          <a:xfrm>
            <a:off x="592920" y="5334560"/>
            <a:ext cx="2788920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MF_15</a:t>
            </a:r>
          </a:p>
        </p:txBody>
      </p:sp>
      <p:sp>
        <p:nvSpPr>
          <p:cNvPr id="50" name="RR"/>
          <p:cNvSpPr txBox="1"/>
          <p:nvPr/>
        </p:nvSpPr>
        <p:spPr>
          <a:xfrm>
            <a:off x="3471840" y="5334560"/>
            <a:ext cx="8336935" cy="26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payment service provider → hospital: Payment status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53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01168"/>
            <a:ext cx="11185855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00" b="1" i="0" dirty="0">
                <a:solidFill>
                  <a:srgbClr val="2E74B5"/>
                </a:solidFill>
                <a:latin typeface="Calibri"/>
                <a:cs typeface="Calibri"/>
              </a:rPr>
              <a:t>BACKUP  ·  THE EXECUTABLE PART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402336"/>
            <a:ext cx="996696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2300" b="1" i="0" dirty="0">
                <a:solidFill>
                  <a:srgbClr val="1F3864"/>
                </a:solidFill>
                <a:latin typeface="Calibri"/>
                <a:cs typeface="Calibri"/>
              </a:rPr>
              <a:t>B  How the model is executed (for code questions)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914400"/>
            <a:ext cx="11185855" cy="12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5" name="Tag"/>
          <p:cNvSpPr/>
          <p:nvPr/>
        </p:nvSpPr>
        <p:spPr>
          <a:xfrm>
            <a:off x="9418320" y="219456"/>
            <a:ext cx="2331720" cy="292608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6" name="RowBG"/>
          <p:cNvSpPr/>
          <p:nvPr/>
        </p:nvSpPr>
        <p:spPr>
          <a:xfrm>
            <a:off x="502920" y="93268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7" name="RL"/>
          <p:cNvSpPr txBox="1"/>
          <p:nvPr/>
        </p:nvSpPr>
        <p:spPr>
          <a:xfrm>
            <a:off x="592920" y="98268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AbstractWorker.java</a:t>
            </a:r>
          </a:p>
        </p:txBody>
      </p:sp>
      <p:sp>
        <p:nvSpPr>
          <p:cNvPr id="8" name="RR"/>
          <p:cNvSpPr txBox="1"/>
          <p:nvPr/>
        </p:nvSpPr>
        <p:spPr>
          <a:xfrm>
            <a:off x="3471840" y="98268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the single place that decides how a failure reaches the engine</a:t>
            </a:r>
          </a:p>
        </p:txBody>
      </p:sp>
      <p:sp>
        <p:nvSpPr>
          <p:cNvPr id="9" name="RowBG"/>
          <p:cNvSpPr/>
          <p:nvPr/>
        </p:nvSpPr>
        <p:spPr>
          <a:xfrm>
            <a:off x="502920" y="145266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0" name="RL"/>
          <p:cNvSpPr txBox="1"/>
          <p:nvPr/>
        </p:nvSpPr>
        <p:spPr>
          <a:xfrm>
            <a:off x="592920" y="150266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JobContext.java</a:t>
            </a:r>
          </a:p>
        </p:txBody>
      </p:sp>
      <p:sp>
        <p:nvSpPr>
          <p:cNvPr id="11" name="RR"/>
          <p:cNvSpPr txBox="1"/>
          <p:nvPr/>
        </p:nvSpPr>
        <p:spPr>
          <a:xfrm>
            <a:off x="3471840" y="150266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reads and writes process variables; refuses blank or wrongly typed input</a:t>
            </a:r>
          </a:p>
        </p:txBody>
      </p:sp>
      <p:sp>
        <p:nvSpPr>
          <p:cNvPr id="12" name="RowBG"/>
          <p:cNvSpPr/>
          <p:nvPr/>
        </p:nvSpPr>
        <p:spPr>
          <a:xfrm>
            <a:off x="502920" y="197263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3" name="RL"/>
          <p:cNvSpPr txBox="1"/>
          <p:nvPr/>
        </p:nvSpPr>
        <p:spPr>
          <a:xfrm>
            <a:off x="592920" y="202263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WorkerConfig.java</a:t>
            </a:r>
          </a:p>
        </p:txBody>
      </p:sp>
      <p:sp>
        <p:nvSpPr>
          <p:cNvPr id="14" name="RR"/>
          <p:cNvSpPr txBox="1"/>
          <p:nvPr/>
        </p:nvSpPr>
        <p:spPr>
          <a:xfrm>
            <a:off x="3471840" y="202263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configuration precedence: environment → properties file → classpath → defaults</a:t>
            </a:r>
          </a:p>
        </p:txBody>
      </p:sp>
      <p:sp>
        <p:nvSpPr>
          <p:cNvPr id="15" name="RowBG"/>
          <p:cNvSpPr/>
          <p:nvPr/>
        </p:nvSpPr>
        <p:spPr>
          <a:xfrm>
            <a:off x="502920" y="249261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6" name="RL"/>
          <p:cNvSpPr txBox="1"/>
          <p:nvPr/>
        </p:nvSpPr>
        <p:spPr>
          <a:xfrm>
            <a:off x="592920" y="254261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WorkersApplication.java</a:t>
            </a:r>
          </a:p>
        </p:txBody>
      </p:sp>
      <p:sp>
        <p:nvSpPr>
          <p:cNvPr id="17" name="RR"/>
          <p:cNvSpPr txBox="1"/>
          <p:nvPr/>
        </p:nvSpPr>
        <p:spPr>
          <a:xfrm>
            <a:off x="3471840" y="254261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starts the fleet; refuses to start if a declared job type has no subscriber</a:t>
            </a:r>
          </a:p>
        </p:txBody>
      </p:sp>
      <p:sp>
        <p:nvSpPr>
          <p:cNvPr id="18" name="RowBG"/>
          <p:cNvSpPr/>
          <p:nvPr/>
        </p:nvSpPr>
        <p:spPr>
          <a:xfrm>
            <a:off x="502920" y="301258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19" name="RL"/>
          <p:cNvSpPr txBox="1"/>
          <p:nvPr/>
        </p:nvSpPr>
        <p:spPr>
          <a:xfrm>
            <a:off x="592920" y="306258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tasks/*Worker.java  (11 files)</a:t>
            </a:r>
          </a:p>
        </p:txBody>
      </p:sp>
      <p:sp>
        <p:nvSpPr>
          <p:cNvPr id="20" name="RR"/>
          <p:cNvSpPr txBox="1"/>
          <p:nvPr/>
        </p:nvSpPr>
        <p:spPr>
          <a:xfrm>
            <a:off x="3471840" y="306258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one worker per Zeebe job type declared in the BPMN service and send tasks</a:t>
            </a:r>
          </a:p>
        </p:txBody>
      </p:sp>
      <p:sp>
        <p:nvSpPr>
          <p:cNvPr id="21" name="RowBG"/>
          <p:cNvSpPr/>
          <p:nvPr/>
        </p:nvSpPr>
        <p:spPr>
          <a:xfrm>
            <a:off x="502920" y="353256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2" name="RL"/>
          <p:cNvSpPr txBox="1"/>
          <p:nvPr/>
        </p:nvSpPr>
        <p:spPr>
          <a:xfrm>
            <a:off x="592920" y="358256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support/ExternalServices.java</a:t>
            </a:r>
          </a:p>
        </p:txBody>
      </p:sp>
      <p:sp>
        <p:nvSpPr>
          <p:cNvPr id="23" name="RR"/>
          <p:cNvSpPr txBox="1"/>
          <p:nvPr/>
        </p:nvSpPr>
        <p:spPr>
          <a:xfrm>
            <a:off x="3471840" y="358256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the simulated providers: scheduling, correspondence, clinical, payment</a:t>
            </a:r>
          </a:p>
        </p:txBody>
      </p:sp>
      <p:sp>
        <p:nvSpPr>
          <p:cNvPr id="24" name="RowBG"/>
          <p:cNvSpPr/>
          <p:nvPr/>
        </p:nvSpPr>
        <p:spPr>
          <a:xfrm>
            <a:off x="502920" y="4052538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5" name="RL"/>
          <p:cNvSpPr txBox="1"/>
          <p:nvPr/>
        </p:nvSpPr>
        <p:spPr>
          <a:xfrm>
            <a:off x="592920" y="4102538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support/HospitalStore.java + OperationsLog.java</a:t>
            </a:r>
          </a:p>
        </p:txBody>
      </p:sp>
      <p:sp>
        <p:nvSpPr>
          <p:cNvPr id="26" name="RR"/>
          <p:cNvSpPr txBox="1"/>
          <p:nvPr/>
        </p:nvSpPr>
        <p:spPr>
          <a:xfrm>
            <a:off x="3471840" y="4102538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in-memory episode records and the audit entries the workers file</a:t>
            </a:r>
          </a:p>
        </p:txBody>
      </p:sp>
      <p:sp>
        <p:nvSpPr>
          <p:cNvPr id="27" name="RowBG"/>
          <p:cNvSpPr/>
          <p:nvPr/>
        </p:nvSpPr>
        <p:spPr>
          <a:xfrm>
            <a:off x="502920" y="4572513"/>
            <a:ext cx="11185855" cy="474975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/>
        </p:txBody>
      </p:sp>
      <p:sp>
        <p:nvSpPr>
          <p:cNvPr id="28" name="RL"/>
          <p:cNvSpPr txBox="1"/>
          <p:nvPr/>
        </p:nvSpPr>
        <p:spPr>
          <a:xfrm>
            <a:off x="592920" y="4622513"/>
            <a:ext cx="2788920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1" i="0" dirty="0">
                <a:solidFill>
                  <a:srgbClr val="1F3864"/>
                </a:solidFill>
                <a:latin typeface="Calibri"/>
                <a:cs typeface="Calibri"/>
              </a:rPr>
              <a:t>src/test  (4 files, 41 tests)</a:t>
            </a:r>
          </a:p>
        </p:txBody>
      </p:sp>
      <p:sp>
        <p:nvSpPr>
          <p:cNvPr id="29" name="RR"/>
          <p:cNvSpPr txBox="1"/>
          <p:nvPr/>
        </p:nvSpPr>
        <p:spPr>
          <a:xfrm>
            <a:off x="3471840" y="4622513"/>
            <a:ext cx="8336935" cy="474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worker contract tests — evidence that every job type is subscribed and its variables behave</a:t>
            </a:r>
          </a:p>
        </p:txBody>
      </p:sp>
      <p:sp>
        <p:nvSpPr>
          <p:cNvPr id="30" name="Bullets"/>
          <p:cNvSpPr txBox="1"/>
          <p:nvPr/>
        </p:nvSpPr>
        <p:spPr>
          <a:xfrm>
            <a:off x="502920" y="489204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600"/>
              </a:spcBef>
            </a:pPr>
            <a:r>
              <a:rPr lang="en-GB" sz="1100" b="0" i="0" dirty="0">
                <a:solidFill>
                  <a:srgbClr val="1C5B3E"/>
                </a:solidFill>
                <a:latin typeface="Calibri"/>
                <a:cs typeface="Calibri"/>
              </a:rPr>
              <a:t>Full element-by-element mapping for all four models (lane attribution, task identifiers, gateway conditions, form references and job types): 08_Repository_Documents/model-inventory.md</a:t>
            </a:r>
          </a:p>
        </p:txBody>
      </p:sp>
      <p:sp>
        <p:nvSpPr>
          <p:cNvPr id="31" name="Note"/>
          <p:cNvSpPr/>
          <p:nvPr/>
        </p:nvSpPr>
        <p:spPr>
          <a:xfrm>
            <a:off x="502920" y="5138928"/>
            <a:ext cx="11185855" cy="420624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6E2F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150" b="0" i="0" dirty="0">
                <a:solidFill>
                  <a:srgbClr val="262626"/>
                </a:solidFill>
                <a:latin typeface="Calibri"/>
                <a:cs typeface="Calibri"/>
              </a:rPr>
              <a:t>Deployment: 11 of 11 job types have a subscriber; 10 ran live and one is bound to a monthly timer-start process, verified structurally.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502920" y="635508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0" indent="0">
              <a:lnSpc>
                <a:spcPct val="102000"/>
              </a:lnSpc>
              <a:spcBef>
                <a:spcPts val="500"/>
              </a:spcBef>
            </a:pPr>
            <a:r>
              <a:rPr lang="en-GB" sz="950" b="0" i="0" dirty="0">
                <a:solidFill>
                  <a:srgbClr val="595959"/>
                </a:solidFill>
                <a:latin typeface="Calibri"/>
                <a:cs typeface="Calibri"/>
              </a:rPr>
              <a:t>UFCEP4-0-3  ·  Hospital Patient Referral, Treatment and Administration System</a:t>
            </a:r>
          </a:p>
        </p:txBody>
      </p:sp>
      <p:sp>
        <p:nvSpPr>
          <p:cNvPr id="34" name="PageNo"/>
          <p:cNvSpPr txBox="1"/>
          <p:nvPr/>
        </p:nvSpPr>
        <p:spPr>
          <a:xfrm>
            <a:off x="10378440" y="63550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 marL="0" indent="0">
              <a:lnSpc>
                <a:spcPct val="102000"/>
              </a:lnSpc>
              <a:spcBef>
                <a:spcPts val="500"/>
              </a:spcBef>
            </a:pPr>
            <a:r>
              <a:rPr lang="en-GB" sz="1000" b="1" i="0" dirty="0">
                <a:solidFill>
                  <a:srgbClr val="2E74B5"/>
                </a:solidFill>
                <a:latin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