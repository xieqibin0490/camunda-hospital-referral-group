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【谁讲】max（开场）；【时长】20 秒；【页码】1</a:t>
            </a:r>
          </a:p>
          <a:p/>
          <a:p>
            <a:r>
              <a:t>英文（可照念）：Good morning. In September we brought you a process we had modelled and executed. Today we bring you the same system as a service: one that is governed by role, stores its own records, and can prove it still works. Three questions, fifteen minutes.</a:t>
            </a:r>
          </a:p>
          <a:p/>
          <a:p>
            <a:r>
              <a:t>中文提示：三行就是全场的目录，念完直接翻页。不要说"我们做了很多功能"——要说"我们补了五个具体缺口，每个都有 before/after"。</a:t>
            </a:r>
          </a:p>
          <a:p/>
          <a:p>
            <a:r>
              <a:t>【脱稿必说】第二版不是功能更多，是同一套东西多了三样：权限、数据库、可复现的验收证据。</a:t>
            </a:r>
          </a:p>
          <a:p/>
          <a:p>
            <a:r>
              <a:t>【追问三连】</a:t>
            </a:r>
          </a:p>
          <a:p>
            <a:r>
              <a:t>Q: 和九月那份有什么本质区别？ A: 九月证明"能建模能跑"；十月证明"能控制、能存、能反复验"。</a:t>
            </a:r>
          </a:p>
          <a:p>
            <a:r>
              <a:t>Q: 为什么只有 5 个变化，不是更多？ A: 竞品不是数量。14 条反馈里 12 条落地，2 条有明确不做的理由（p5、p14）。</a:t>
            </a:r>
          </a:p>
          <a:p>
            <a:r>
              <a:t>Q: 谁是客户？ A: 导师扮演客户；我们按"客户评审"口径组织，每条改动都对应一条反馈。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【谁讲】max；【时长】35 秒</a:t>
            </a:r>
          </a:p>
          <a:p/>
          <a:p>
            <a:r>
              <a:t>英文：Four numbers to hold on to: four models, seven process definitions, sixty-nine forms, eighteen acceptance cases. On the left, three things that did not exist in September. On the right, three we still cannot claim — and we will come back to them on page 14.</a:t>
            </a:r>
          </a:p>
          <a:p/>
          <a:p>
            <a:r>
              <a:t>中文提示：左边三块是"我们补上的"，右边三块是"我们没补上的"。主动讲右边，是这份 deck 的评分策略。</a:t>
            </a:r>
          </a:p>
          <a:p/>
          <a:p>
            <a:r>
              <a:t>【脱稿必说】四个数字记牢：4 / 7 / 69 / 18。</a:t>
            </a:r>
          </a:p>
          <a:p/>
          <a:p>
            <a:r>
              <a:t>【追问三连】</a:t>
            </a:r>
          </a:p>
          <a:p>
            <a:r>
              <a:t>Q: 69 个表单是不是太多了？ A: 一个用户任务一张表单，84 个任务定义里 69 个需要人填；剩下的是服务任务和网关。</a:t>
            </a:r>
          </a:p>
          <a:p>
            <a:r>
              <a:t>Q: 为什么 4 个模型不是 1 个？ A: 战略层和操作层分开画，抽象层级不同；O1 是操作级合并视图，S1-S3 是战略级。</a:t>
            </a:r>
          </a:p>
          <a:p>
            <a:r>
              <a:t>Q: 右边三条为什么不做？ A: 不是不想做：一条要外部系统，一条要等一个月，一条要医院先给可用性流程。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【谁讲】max；【时长】45 秒</a:t>
            </a:r>
          </a:p>
          <a:p/>
          <a:p>
            <a:r>
              <a:t>英文：In September we were honest about five things we had not done. Enforced RBAC, immutable audit, reporting output, live integration, and any availability procedure. This release was scoped against that list. One is now closed with evidence, one is partly closed, three are still open — and they will still be open on page 14.</a:t>
            </a:r>
          </a:p>
          <a:p/>
          <a:p>
            <a:r>
              <a:t>中文提示：这一页的任务是"建立可信度"。九月我们自己列了 5 条缺口，老师手上应该有记录；现在逐条对账。</a:t>
            </a:r>
          </a:p>
          <a:p/>
          <a:p>
            <a:r>
              <a:t>【脱稿必说】这一版是冲着九月自己列的 5 条缺口做的，不是新想出来的需求。</a:t>
            </a:r>
          </a:p>
          <a:p/>
          <a:p>
            <a:r>
              <a:t>【追问三连】</a:t>
            </a:r>
          </a:p>
          <a:p>
            <a:r>
              <a:t>Q: 九月的 18/18 还算数吗？ A: 算数，但只在 26 号那个 build 上。最终 build 要重跑，p11 说清楚。</a:t>
            </a:r>
          </a:p>
          <a:p>
            <a:r>
              <a:t>Q: 缺口 2 为什么只是"部分"关闭？ A: 审计表是 append-only 且 API 没有改删方法，但没做数据库层权限。</a:t>
            </a:r>
          </a:p>
          <a:p>
            <a:r>
              <a:t>Q: 为什么先做 RBAC 不做集成？ A: 集成需要外部系统，RBAC 是案例里最硬的合规要求，且能被证据证明。</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【谁讲】henry；【时长】50 秒</a:t>
            </a:r>
          </a:p>
          <a:p/>
          <a:p>
            <a:r>
              <a:t>英文：Fourteen points came back across two sprint reviews. We grouped them into five themes. Theme E is the interesting one: two points we did not implement. We left them on the slide, and we justify them on page 14, because the rubric asks for unimplemented feedback to be justified, not hidden.</a:t>
            </a:r>
          </a:p>
          <a:p/>
          <a:p>
            <a:r>
              <a:t>中文提示：不要逐条念 FB 编号，只念 5 个大写字母和那一句"2 条没做"。E 那一行要停 1 秒。</a:t>
            </a:r>
          </a:p>
          <a:p/>
          <a:p>
            <a:r>
              <a:t>【脱稿必说】14 条里 12 条落地，2 条没做；没做的理由在 p14，我们主动放上来。</a:t>
            </a:r>
          </a:p>
          <a:p/>
          <a:p>
            <a:r>
              <a:t>【追问三连】</a:t>
            </a:r>
          </a:p>
          <a:p>
            <a:r>
              <a:t>Q: 哪 2 条没做？ A: P-10 紧急度规则（医院没给规则）；P-11 RBAC 自动化回归（Sprint 4 没容量）。</a:t>
            </a:r>
          </a:p>
          <a:p>
            <a:r>
              <a:t>Q: B 组 4 条为什么算一类？ A: 都是"证据不够硬"：不可测、没出处、没有 before/after、没有度量方法。</a:t>
            </a:r>
          </a:p>
          <a:p>
            <a:r>
              <a:t>Q: 反馈从哪来？ A: 两次 sprint review（SR2、SR3）和 SR4 上导师给的，记录在 feedback action log 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【谁讲】henry；【时长】60 秒</a:t>
            </a:r>
          </a:p>
          <a:p/>
          <a:p>
            <a:r>
              <a:t>英文：This is the trace, all fourteen rows. Read only the last column: twelve implemented, two not. P-10 and P-11 are red because they are not done, and page 14 gives the reason and the residual risk for each.</a:t>
            </a:r>
          </a:p>
          <a:p/>
          <a:p>
            <a:r>
              <a:t>中文提示：这一页不要念。用手指从最右列往下划一次，停在两个红字上，说"这两条没做，原因在下一页"。</a:t>
            </a:r>
          </a:p>
          <a:p/>
          <a:p>
            <a:r>
              <a:t>【脱稿必说】每条反馈都有 decision、action、evidence 三列可查；没做的两条标红。</a:t>
            </a:r>
          </a:p>
          <a:p/>
          <a:p>
            <a:r>
              <a:t>【追问三连】</a:t>
            </a:r>
          </a:p>
          <a:p>
            <a:r>
              <a:t>Q: P-11 为什么不做？ A: Sprint 4 的容量被部署缺陷和两份评估重排吃掉了；理由是容量，不是难度。</a:t>
            </a:r>
          </a:p>
          <a:p>
            <a:r>
              <a:t>Q: P-10 谁该给规则？ A: 模块组；他们确认在交稿前不会发布，所以 urgency 只能是 soft goal。</a:t>
            </a:r>
          </a:p>
          <a:p>
            <a:r>
              <a:t>Q: 有没有反馈是你们不同意的？ A: 没有不同意的；是两条做不了，不是两条不该做。</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【谁讲】max；【时长】60 秒</a:t>
            </a:r>
          </a:p>
          <a:p/>
          <a:p>
            <a:r>
              <a:t>英文：Look at the left panel. Two flows leave the task with no gateway. BPMN 2.0 says that is a parallel split, so both branches always run — the refund case refunded and retained the payment at the same time. Nobody spotted it by reading the diagram. The right panel is the fix: an explicit exclusive gateway with a condition on one branch and a default on the other. We found the same class of defect three times, which is why we rebuilt the model family rather than patching.</a:t>
            </a:r>
          </a:p>
          <a:p/>
          <a:p>
            <a:r>
              <a:t>中文提示：左图是"看不出来的错"，右图是"看得出来的对"。讲的时候手指从左图的分叉处划到右图的菱形。</a:t>
            </a:r>
          </a:p>
          <a:p/>
          <a:p>
            <a:r>
              <a:t>【脱稿必说】两条无条件出线在 BPMN 里等于并行，所以退款和保留同时发生。</a:t>
            </a:r>
          </a:p>
          <a:p/>
          <a:p>
            <a:r>
              <a:t>【追问三连】</a:t>
            </a:r>
          </a:p>
          <a:p>
            <a:r>
              <a:t>Q: 为什么九月没发现？ A: 图上看不出问题；只有按 BPMN 语义读，或者跑起来，才会暴露。</a:t>
            </a:r>
          </a:p>
          <a:p>
            <a:r>
              <a:t>Q: 谁发现的？ A: 第二轮审查按案例逐条比对时发现的，记在 defect-log 的 DEF-17 到 DEF-19。</a:t>
            </a:r>
          </a:p>
          <a:p>
            <a:r>
              <a:t>Q: default flow 为什么必须有？ A: 否则变量取值不在条件里时，引擎报 "no outgoing sequence flow could be selected"，实例直接 incident。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【谁讲】peter；【时长】55 秒</a:t>
            </a:r>
          </a:p>
          <a:p/>
          <a:p>
            <a:r>
              <a:t>英文：The models were right, the forms were wrong. Four gateways compared exact strings while the field was a free text box. Two numbers were tick boxes, so a seven-day rule could never be satisfied honestly. And three worker inputs had no form at all, so code chose the value. Sixty-eight forms rewritten, one new, ten control types corrected, forty-one controls added, a hundred and fifteen validations added.</a:t>
            </a:r>
          </a:p>
          <a:p/>
          <a:p>
            <a:r>
              <a:t>中文提示：三个卡片三件事：字符串被手打、数字被当勾选、有三个变量根本没人填。数字在中上方，念这四个。</a:t>
            </a:r>
          </a:p>
          <a:p/>
          <a:p>
            <a:r>
              <a:t>【脱稿必说】模型是对的，表单没跟上：网关比的是精确值，输入框却允许随便打字。</a:t>
            </a:r>
          </a:p>
          <a:p/>
          <a:p>
            <a:r>
              <a:t>【追问三连】</a:t>
            </a:r>
          </a:p>
          <a:p>
            <a:r>
              <a:t>Q: 115 条校验都是必须的吗？ A: 主要是 patientId 的格式校验（每张表单一条）加上业务字段的 required。</a:t>
            </a:r>
          </a:p>
          <a:p>
            <a:r>
              <a:t>Q: 69 个表单怎么保证不漂移？ A: 表单从模型生成，validate-forms.py 校验 0 invalid JSON、任务绑定齐全。</a:t>
            </a:r>
          </a:p>
          <a:p>
            <a:r>
              <a:t>Q: 无障碍（LO1）体现在哪？ A: 必填项有标签、下拉代替自由文本、可用格式/翻译由 clinic-letter 表单显式收集。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【谁讲】finn；【时长】55 秒</a:t>
            </a:r>
          </a:p>
          <a:p/>
          <a:p>
            <a:r>
              <a:t>英文：Two settings in the shipped configuration meant authorisation was never evaluated. Both are now flipped. Ten groups, ten users, ninety-nine candidate-group references, all read out of the deployed models so the identity data cannot drift. A user with no role sees zero tasks. A medical secretary sees seven hundred and eighty-five. Zero enforcement failures.</a:t>
            </a:r>
          </a:p>
          <a:p/>
          <a:p>
            <a:r>
              <a:t>中文提示：这页的核心不是"我们做了 RBAC"，是"我们证明了角色真的不一样"。0 和 785 就是证据。</a:t>
            </a:r>
          </a:p>
          <a:p/>
          <a:p>
            <a:r>
              <a:t>【注意】本页不放截图：证据是 task-visibility.json 的数字，加上 rbac-visibility-evidence.pdf（0 vs 785，15 Oct 复核）。现场若能用 secretary.demo / finance.demo 各登录一次，直接演示两个不同收件箱，比截图更有说服力。</a:t>
            </a:r>
          </a:p>
          <a:p/>
          <a:p>
            <a:r>
              <a:t>【脱稿必说】默认配置下授权根本没被评估；现在 0 对 785，failures 0。</a:t>
            </a:r>
          </a:p>
          <a:p/>
          <a:p>
            <a:r>
              <a:t>【追问三连】</a:t>
            </a:r>
          </a:p>
          <a:p>
            <a:r>
              <a:t>Q: 785 是不是太多了？ A: 是所有历史实例里属于这个组的任务总和；重要的是"无角色=0"。</a:t>
            </a:r>
          </a:p>
          <a:p>
            <a:r>
              <a:t>Q: 另外两个组为什么收件箱是空的？ A: patient-pathway-coordinators 和 administrative-management 的任务在当前模型里没有路由到具体任务定义——这是已知缺口。</a:t>
            </a:r>
          </a:p>
          <a:p>
            <a:r>
              <a:t>Q: 权限是怎么授予的？ A: setup-rbac.py 从模型里读出 candidateGroups，再建组、建用户、授 PROCESS_DEFINITION 和 USER_TASK。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【谁讲】finn；【时长】45 秒</a:t>
            </a:r>
          </a:p>
          <a:p/>
          <a:p>
            <a:r>
              <a:t>英文：Both stores used to be maps, and their own Javadoc said so — "deliberately not a database, nothing survives a restart". Now H2, four tables, same public API, so no worker had to be rewritten. The proof is two separate JVMs: process one writes and exits, process two reads back. Seven checks pass. Forty-one unit tests still pass, which is how we know behaviour did not change.</a:t>
            </a:r>
          </a:p>
          <a:p/>
          <a:p>
            <a:r>
              <a:t>中文提示：这一页要主动讲黄色那条限制。藏起来才会被扣分。</a:t>
            </a:r>
          </a:p>
          <a:p/>
          <a:p>
            <a:r>
              <a:t>【脱稿必说】写入进程退出，另一个 JVM 读回来 7/7——这才叫"存住了"。</a:t>
            </a:r>
          </a:p>
          <a:p/>
          <a:p>
            <a:r>
              <a:t>【追问三连】</a:t>
            </a:r>
          </a:p>
          <a:p>
            <a:r>
              <a:t>Q: 为什么用 H2 不用 PostgreSQL？ A: 单节点演示；代码是纯 JDBC，换成服务器数据库只改 URL 和驱动。</a:t>
            </a:r>
          </a:p>
          <a:p>
            <a:r>
              <a:t>Q: 跨进程写不了，算不算没做到？ A: 演示要求是"存下来再读回来"，这个成立；跨进程写受沙箱文件锁限制，已记录。</a:t>
            </a:r>
          </a:p>
          <a:p>
            <a:r>
              <a:t>Q: 为什么不重写 worker？ A: 公开接口不变，重写 26 个 worker 只增加风险不增加证据。</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【谁讲】peter 操作，finn 讲解；【时长】150 秒</a:t>
            </a:r>
          </a:p>
          <a:p/>
          <a:p>
            <a:r>
              <a:t>英文（每步一句，照着说）：</a:t>
            </a:r>
          </a:p>
          <a:p>
            <a:r>
              <a:t>1 — Seven process definitions and sixty-nine forms, one command.</a:t>
            </a:r>
          </a:p>
          <a:p>
            <a:r>
              <a:t>2 — A referral instance is now running in Operate.</a:t>
            </a:r>
          </a:p>
          <a:p>
            <a:r>
              <a:t>3 — This is the Tasklist for a medical secretary.</a:t>
            </a:r>
          </a:p>
          <a:p>
            <a:r>
              <a:t>4 — Same Tasklist, different inbox. The role is doing the filtering, not the UI.</a:t>
            </a:r>
          </a:p>
          <a:p>
            <a:r>
              <a:t>5 — Submit the form empty and it is refused: required and format validation.</a:t>
            </a:r>
          </a:p>
          <a:p>
            <a:r>
              <a:t>6 — Process one writes and exits; process two reads back. Seven of seven.</a:t>
            </a:r>
          </a:p>
          <a:p>
            <a:r>
              <a:t>7 — This is the acceptance run on the final build, with its date.</a:t>
            </a:r>
          </a:p>
          <a:p/>
          <a:p>
            <a:r>
              <a:t>中文提示：peter 只操作不说话，finn 说。第 4 步停 2 秒——这是整个 demo 的最高点。</a:t>
            </a:r>
          </a:p>
          <a:p/>
          <a:p>
            <a:r>
              <a:t>【降级】集群起不来就放录屏，不要现场赌。录屏提前录在桌面，文件名 demo-backup.mp4。</a:t>
            </a:r>
          </a:p>
          <a:p>
            <a:r>
              <a:t>【脱稿必说】第 4 步：同一个 Tasklist，换个人登录，收件箱不一样。</a:t>
            </a:r>
          </a:p>
          <a:p/>
          <a:p>
            <a:r>
              <a:t>【追问三连】</a:t>
            </a:r>
          </a:p>
          <a:p>
            <a:r>
              <a:t>Q: 能现场换个流程跑吗？ A: 能，但演示只跑转诊主链路；其他流程见 backup A3 的清单。</a:t>
            </a:r>
          </a:p>
          <a:p>
            <a:r>
              <a:t>Q: 数据库里的数据能现场查吗？ A: 能，PersistenceCheck dump 按 episode 打印。</a:t>
            </a:r>
          </a:p>
          <a:p>
            <a:r>
              <a:t>Q: 为什么演示里没有外部系统？ A: 四个外部服务都是模拟的，这是页 14 的已知限制。</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【谁讲】peter；【时长】55 秒</a:t>
            </a:r>
          </a:p>
          <a:p/>
          <a:p>
            <a:r>
              <a:t>英文：Three rows, three different strengths of claim. The first is the full eighteen-case run on the initial release, the twenty-sixth of September, six definitions, no incidents. The second is the fifteenth of October, where seven cases hit the same error on three tasks and the run died — we diagnosed it, the worker fleet was not subscribed when the run started, and fixed it. The third row is not a full re-run. It is four targeted checks, one per change. That is a narrower claim than a full run, and we would rather say so than imply we had one.</a:t>
            </a:r>
          </a:p>
          <a:p/>
          <a:p>
            <a:r>
              <a:t>中文提示：**不要念第三行那一长串**，只说"第三行不是完整重跑，是四个定向检查"。第三行是这一页的诚实点，也是 25% 那一项要的 proportionate validation。</a:t>
            </a:r>
          </a:p>
          <a:p/>
          <a:p>
            <a:r>
              <a:t>【脱稿必说】只有第一行是完整端到端跑；第三行是四个定向检查，比完整重跑弱，我们如实说。</a:t>
            </a:r>
          </a:p>
          <a:p/>
          <a:p>
            <a:r>
              <a:t>【追问三连】</a:t>
            </a:r>
          </a:p>
          <a:p>
            <a:r>
              <a:t>Q: 第二版到底跑过没有？ A: 没有跑完整 18 个用例。跑的是每个改动对应的定向检查：模型 validator、41 单测、7/7 持久化、RBAC 0 vs 785。</a:t>
            </a:r>
          </a:p>
          <a:p>
            <a:r>
              <a:t>Q: 为什么不重跑？ A: 重跑需要集群、worker、表单全部就位并重放 18 个实例；时间用在四个改动各自的证据上更划算。</a:t>
            </a:r>
          </a:p>
          <a:p>
            <a:r>
              <a:t>Q: 那 SR4 说"validated improvements"怎么成立？ A: 每个改动的受影响行为都被验证过；未做的是回归级的全量重跑，这一条写在 p14。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【谁讲】max；【时长】30 秒</a:t>
            </a:r>
          </a:p>
          <a:p/>
          <a:p>
            <a:r>
              <a:t>英文：Nine rows. Left is what the September review saw. Right is what is in the repository now. The last two rows are the acceptance status and the fact that we now keep a failed run instead of overwriting it.</a:t>
            </a:r>
          </a:p>
          <a:p/>
          <a:p>
            <a:r>
              <a:t>中文提示：这一页是给记分表看的，不要细讲。念左边三个数字、右边三个数字，然后翻页。</a:t>
            </a:r>
          </a:p>
          <a:p/>
          <a:p>
            <a:r>
              <a:t>【脱稿必说】左边是九月评审看到的，右边是现在仓库里能查到的。</a:t>
            </a:r>
          </a:p>
          <a:p/>
          <a:p>
            <a:r>
              <a:t>【追问三连】</a:t>
            </a:r>
          </a:p>
          <a:p>
            <a:r>
              <a:t>Q: 哪个变化最大？ A: RBAC：从"所有角色一个收件箱"到"0 对 785"。</a:t>
            </a:r>
          </a:p>
          <a:p>
            <a:r>
              <a:t>Q: 为什么多了一个流程定义？ A: PR_ReferringOrganisation，转诊方视角，九月之后补的。</a:t>
            </a:r>
          </a:p>
          <a:p>
            <a:r>
              <a:t>Q: 表单为什么只多一个？ A: 68 个是重写，新增的只有 form-register-referral-landscape。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【谁讲】henry；【时长】70 秒</a:t>
            </a:r>
          </a:p>
          <a:p/>
          <a:p>
            <a:r>
              <a:t>英文：We planned Sprint 3 at a hundred and sixteen hours against eighty nominal, and Sprint 4 at eighty against forty-eight. Both overran. Two causes. First, we spent the first half of Sprint 3 arguing about how many strategic models there should be, so the SR model, the narrative and the acceptance evidence all missed SR3. Second, three XSD violations and a form-binding defect were only visible at deployment; nobody had estimated them. The consequence is that P-11 was dropped for capacity and the final integration landed in the last two days.</a:t>
            </a:r>
          </a:p>
          <a:p/>
          <a:p>
            <a:r>
              <a:t>中文提示：这一页是 25%，讲慢一点。三个卡片各一句原因，最后一句"integration 落在最后两天"要是重点。</a:t>
            </a:r>
          </a:p>
          <a:p/>
          <a:p>
            <a:r>
              <a:t>【脱稿必说】两条超支原因：抽象层级定得晚；部署级缺陷没被估进计划。</a:t>
            </a:r>
          </a:p>
          <a:p/>
          <a:p>
            <a:r>
              <a:t>【追问三连】</a:t>
            </a:r>
          </a:p>
          <a:p>
            <a:r>
              <a:t>Q: 116 小时是不是估高了？ A: 估高了也没用——实际还是不够，因为缺陷是计划外的。</a:t>
            </a:r>
          </a:p>
          <a:p>
            <a:r>
              <a:t>Q: 为什么不砍范围？ A: 砍了：P-11 被砍，P-10 被挂起；没砍的是两份评估。</a:t>
            </a:r>
          </a:p>
          <a:p>
            <a:r>
              <a:t>Q: 80 小时对 48 小时，是不是本来就不可能？ A: 是。我们把 nominal 当上限在排，这是排期方法的问题。</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【谁讲】finn 讲左，henry 讲右；【时长】45 秒</a:t>
            </a:r>
          </a:p>
          <a:p/>
          <a:p>
            <a:r>
              <a:t>英文（finn）：Three lessons. Rehearse integration mid-sprint — both times the expensive defects were found in the last two days. Build the test harness before the exception paths are fixed, because every model change then costs a test change. And treat documentation as scheduled work — the trace and the evaluations were what slipped first.</a:t>
            </a:r>
          </a:p>
          <a:p>
            <a:r>
              <a:t>英文（henry）：On the right, six things we still do not claim. They are on the slide because a claim we cannot evidence is worth less than a gap we can name.</a:t>
            </a:r>
          </a:p>
          <a:p/>
          <a:p>
            <a:r>
              <a:t>中文提示：左边三条是"下次怎么做"，右边六条是"这次没做到"。右边每一行都要能一句话讲出来。</a:t>
            </a:r>
          </a:p>
          <a:p/>
          <a:p>
            <a:r>
              <a:t>【脱稿必说】右边六条里，只有一条是被外部条件挡住的（报告要等一个月），其余是我们自己的容量问题。</a:t>
            </a:r>
          </a:p>
          <a:p/>
          <a:p>
            <a:r>
              <a:t>【追问三连】</a:t>
            </a:r>
          </a:p>
          <a:p>
            <a:r>
              <a:t>Q: 哪一条最该先补？ A: RBAC 的自动化回归——它是唯一一条"已经做对但没法自动证明"的。</a:t>
            </a:r>
          </a:p>
          <a:p>
            <a:r>
              <a:t>Q: 审计不可变到底做到什么程度？ A: 表是 append-only，API 没有改删方法；但没有数据库层权限。</a:t>
            </a:r>
          </a:p>
          <a:p>
            <a:r>
              <a:t>Q: 两个流程为什么没跑？ A: 18 个用例压在转诊主链路上；enquiry 和 reporting 只验证了部署。</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【谁讲】max（收尾，全组接问题）；【时长】30 秒</a:t>
            </a:r>
          </a:p>
          <a:p/>
          <a:p>
            <a:r>
              <a:t>英文收尾：To close. Five changes, each traceable to feedback and to an artefact in the repository. Two capabilities that survive a restart and a role change. And six things we still do not claim. The three questions at the bottom are the ones we would most like to argue about. Thank you.</a:t>
            </a:r>
          </a:p>
          <a:p/>
          <a:p>
            <a:r>
              <a:t>中文提示：三个讨论点是引导师提问的方向，提前准备答案。念到"six things we still do not claim"时指一下右边。</a:t>
            </a:r>
          </a:p>
          <a:p/>
          <a:p>
            <a:r>
              <a:t>【脱稿必说】五个变化、两个新能力、六个不声称。</a:t>
            </a:r>
          </a:p>
          <a:p/>
          <a:p>
            <a:r>
              <a:t>【追问三连】</a:t>
            </a:r>
          </a:p>
          <a:p>
            <a:r>
              <a:t>Q: 如果再做两周，先做什么？ A: 三条按顺序：RBAC 回归、换一个真外部服务、数据库换服务器版。</a:t>
            </a:r>
          </a:p>
          <a:p>
            <a:r>
              <a:t>Q: 最不满意哪一点？ A: 集成落在最后两天——这是流程问题，不是技术问题。</a:t>
            </a:r>
          </a:p>
          <a:p>
            <a:r>
              <a:t>Q: 团队怎么分工？ A: max 集成与 BPMN、finn 外部 worker 与 i*、peter 表单与测试、henry 需求与文档。</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【用途】备用页。老师问「需求覆盖得怎么样」或「哪些没做到」时翻到这里。</a:t>
            </a:r>
          </a:p>
          <a:p>
            <a:r>
              <a:t>44 条：28 全支持 / 12 部分 / 2 不支持 / 2 范围外。</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【用途】备用页。老师问「28 条怎么来的」「哪些不可测」时用。</a:t>
            </a:r>
          </a:p>
          <a:p>
            <a:r>
              <a:t>AC-R-12 是全套里最值得背的一条：付款成功但确认丢失 → 标记调查，不再发起第二次付款。</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【用途】备用页。老师问「具体几个」时用。</a:t>
            </a:r>
          </a:p>
          <a:p>
            <a:r>
              <a:t>注意最后一行红字：两个流程只验证了部署，没有走完用例——主动说。</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【用途】备用页。集群起不来就翻到这里，按第二列执行，第三列是替代方案。</a:t>
            </a:r>
          </a:p>
          <a:p>
            <a:r>
              <a:t>录屏要提前录好放桌面：demo-backup.mp4。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B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85800" y="960120"/>
            <a:ext cx="10789920" cy="320040"/>
          </a:xfrm>
          <a:prstGeom prst="rect">
            <a:avLst/>
          </a:prstGeom>
          <a:noFill/>
        </p:spPr>
        <p:txBody>
          <a:bodyPr wrap="square" anchor="t" lIns="0" rIns="0" tIns="0" bIns="0">
            <a:spAutoFit/>
          </a:bodyPr>
          <a:lstStyle/>
          <a:p>
            <a:pPr algn="l">
              <a:spcBef>
                <a:spcPts val="0"/>
              </a:spcBef>
              <a:spcAft>
                <a:spcPts val="0"/>
              </a:spcAft>
            </a:pPr>
            <a:r>
              <a:rPr sz="1100" b="1" i="0">
                <a:solidFill>
                  <a:srgbClr val="9DB6D6"/>
                </a:solidFill>
                <a:latin typeface="Calibri"/>
              </a:rPr>
              <a:t>UFCEP6-0-3  ·  ADVANCED INFORMATION SYSTEMS DEVELOPMENT</a:t>
            </a:r>
          </a:p>
        </p:txBody>
      </p:sp>
      <p:sp>
        <p:nvSpPr>
          <p:cNvPr id="4" name="TextBox 3"/>
          <p:cNvSpPr txBox="1"/>
          <p:nvPr/>
        </p:nvSpPr>
        <p:spPr>
          <a:xfrm>
            <a:off x="685800" y="1325880"/>
            <a:ext cx="10789920" cy="1600200"/>
          </a:xfrm>
          <a:prstGeom prst="rect">
            <a:avLst/>
          </a:prstGeom>
          <a:noFill/>
        </p:spPr>
        <p:txBody>
          <a:bodyPr wrap="square" anchor="t" lIns="0" rIns="0" tIns="0" bIns="0">
            <a:spAutoFit/>
          </a:bodyPr>
          <a:lstStyle/>
          <a:p>
            <a:pPr algn="l">
              <a:lnSpc>
                <a:spcPct val="95000"/>
              </a:lnSpc>
              <a:spcBef>
                <a:spcPts val="0"/>
              </a:spcBef>
              <a:spcAft>
                <a:spcPts val="0"/>
              </a:spcAft>
            </a:pPr>
            <a:r>
              <a:rPr sz="3000" b="1" i="0">
                <a:solidFill>
                  <a:srgbClr val="FFFFFF"/>
                </a:solidFill>
                <a:latin typeface="Calibri"/>
              </a:rPr>
              <a:t>Hospital Patient Referral, Treatment &amp; Administration System</a:t>
            </a:r>
          </a:p>
        </p:txBody>
      </p:sp>
      <p:sp>
        <p:nvSpPr>
          <p:cNvPr id="5" name="TextBox 4"/>
          <p:cNvSpPr txBox="1"/>
          <p:nvPr/>
        </p:nvSpPr>
        <p:spPr>
          <a:xfrm>
            <a:off x="685800" y="2880360"/>
            <a:ext cx="10789920" cy="502920"/>
          </a:xfrm>
          <a:prstGeom prst="rect">
            <a:avLst/>
          </a:prstGeom>
          <a:noFill/>
        </p:spPr>
        <p:txBody>
          <a:bodyPr wrap="square" anchor="t" lIns="0" rIns="0" tIns="0" bIns="0">
            <a:spAutoFit/>
          </a:bodyPr>
          <a:lstStyle/>
          <a:p>
            <a:pPr algn="l">
              <a:spcBef>
                <a:spcPts val="0"/>
              </a:spcBef>
              <a:spcAft>
                <a:spcPts val="0"/>
              </a:spcAft>
            </a:pPr>
            <a:r>
              <a:rPr sz="1800" b="1" i="0">
                <a:solidFill>
                  <a:srgbClr val="D2DEEB"/>
                </a:solidFill>
                <a:latin typeface="Calibri"/>
              </a:rPr>
              <a:t>The second release: what we changed, why, and what it cost</a:t>
            </a:r>
          </a:p>
        </p:txBody>
      </p:sp>
      <p:sp>
        <p:nvSpPr>
          <p:cNvPr id="6" name="Rectangle 5"/>
          <p:cNvSpPr/>
          <p:nvPr/>
        </p:nvSpPr>
        <p:spPr>
          <a:xfrm>
            <a:off x="685800" y="3611880"/>
            <a:ext cx="10789920" cy="1270000"/>
          </a:xfrm>
          <a:prstGeom prst="rect">
            <a:avLst/>
          </a:prstGeom>
          <a:solidFill>
            <a:srgbClr val="223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777240" y="3718560"/>
            <a:ext cx="10424160" cy="1097280"/>
          </a:xfrm>
          <a:prstGeom prst="rect">
            <a:avLst/>
          </a:prstGeom>
          <a:noFill/>
        </p:spPr>
        <p:txBody>
          <a:bodyPr wrap="square" anchor="t" lIns="0" rIns="0" tIns="0" bIns="0">
            <a:spAutoFit/>
          </a:bodyPr>
          <a:lstStyle/>
          <a:p>
            <a:pPr algn="l">
              <a:spcBef>
                <a:spcPts val="0"/>
              </a:spcBef>
              <a:spcAft>
                <a:spcPts val="500"/>
              </a:spcAft>
            </a:pPr>
            <a:r>
              <a:rPr sz="1300" b="1" i="0">
                <a:solidFill>
                  <a:srgbClr val="9DB6D6"/>
                </a:solidFill>
                <a:latin typeface="Calibri"/>
              </a:rPr>
              <a:t>Three questions this deck answers</a:t>
            </a:r>
          </a:p>
          <a:p>
            <a:pPr algn="l">
              <a:lnSpc>
                <a:spcPct val="95000"/>
              </a:lnSpc>
              <a:spcBef>
                <a:spcPts val="0"/>
              </a:spcBef>
              <a:spcAft>
                <a:spcPts val="250"/>
              </a:spcAft>
            </a:pPr>
            <a:r>
              <a:rPr sz="1150" b="0" i="0">
                <a:solidFill>
                  <a:srgbClr val="FFFFFF"/>
                </a:solidFill>
                <a:latin typeface="Calibri"/>
              </a:rPr>
              <a:t>1.   What did the second release actually change?  —  five changes, each with before and after</a:t>
            </a:r>
          </a:p>
          <a:p>
            <a:pPr algn="l">
              <a:lnSpc>
                <a:spcPct val="95000"/>
              </a:lnSpc>
              <a:spcBef>
                <a:spcPts val="0"/>
              </a:spcBef>
              <a:spcAft>
                <a:spcPts val="250"/>
              </a:spcAft>
            </a:pPr>
            <a:r>
              <a:rPr sz="1150" b="0" i="0">
                <a:solidFill>
                  <a:srgbClr val="FFFFFF"/>
                </a:solidFill>
                <a:latin typeface="Calibri"/>
              </a:rPr>
              <a:t>2.   What did the feedback ask for, and what did we do with it?  —  fourteen items, twelve implemented</a:t>
            </a:r>
          </a:p>
          <a:p>
            <a:pPr algn="l">
              <a:lnSpc>
                <a:spcPct val="95000"/>
              </a:lnSpc>
              <a:spcBef>
                <a:spcPts val="0"/>
              </a:spcBef>
              <a:spcAft>
                <a:spcPts val="250"/>
              </a:spcAft>
            </a:pPr>
            <a:r>
              <a:rPr sz="1150" b="0" i="0">
                <a:solidFill>
                  <a:srgbClr val="FFFFFF"/>
                </a:solidFill>
                <a:latin typeface="Calibri"/>
              </a:rPr>
              <a:t>3.   How good was our plan, really?  —  planned against actual, and what we would do differently</a:t>
            </a:r>
          </a:p>
        </p:txBody>
      </p:sp>
      <p:sp>
        <p:nvSpPr>
          <p:cNvPr id="8" name="TextBox 7"/>
          <p:cNvSpPr txBox="1"/>
          <p:nvPr/>
        </p:nvSpPr>
        <p:spPr>
          <a:xfrm>
            <a:off x="685800" y="5349240"/>
            <a:ext cx="10789920" cy="365760"/>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Calibri"/>
              </a:rPr>
              <a:t>Group: max  ·  finn  ·  henry  ·  peter          Second release  ·  22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SECOND RELEASE  ·  22 OCTOBER 2026</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From a model that deploys, to a service that is governed, persisted and evidenced</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max</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The initial release proved the process could be drawn and executed. The second release proves it can be controlled, stored and tested.</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2</a:t>
            </a:r>
          </a:p>
        </p:txBody>
      </p:sp>
      <p:sp>
        <p:nvSpPr>
          <p:cNvPr id="9" name="Rectangle 8"/>
          <p:cNvSpPr/>
          <p:nvPr/>
        </p:nvSpPr>
        <p:spPr>
          <a:xfrm>
            <a:off x="502920" y="1501752"/>
            <a:ext cx="2617471" cy="103632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594360" y="1570332"/>
            <a:ext cx="2434591" cy="899160"/>
          </a:xfrm>
          <a:prstGeom prst="rect">
            <a:avLst/>
          </a:prstGeom>
          <a:noFill/>
        </p:spPr>
        <p:txBody>
          <a:bodyPr wrap="square" anchor="t" lIns="0" rIns="0" tIns="0" bIns="0">
            <a:spAutoFit/>
          </a:bodyPr>
          <a:lstStyle/>
          <a:p>
            <a:pPr algn="ctr">
              <a:lnSpc>
                <a:spcPct val="90000"/>
              </a:lnSpc>
              <a:spcBef>
                <a:spcPts val="0"/>
              </a:spcBef>
              <a:spcAft>
                <a:spcPts val="0"/>
              </a:spcAft>
            </a:pPr>
            <a:r>
              <a:rPr sz="2600" b="1" i="0">
                <a:solidFill>
                  <a:srgbClr val="2E74B5"/>
                </a:solidFill>
                <a:latin typeface="Calibri"/>
              </a:rPr>
              <a:t>4</a:t>
            </a:r>
          </a:p>
          <a:p>
            <a:pPr algn="ctr">
              <a:lnSpc>
                <a:spcPct val="95000"/>
              </a:lnSpc>
              <a:spcBef>
                <a:spcPts val="200"/>
              </a:spcBef>
              <a:spcAft>
                <a:spcPts val="0"/>
              </a:spcAft>
            </a:pPr>
            <a:r>
              <a:rPr sz="900" b="1" i="0">
                <a:solidFill>
                  <a:srgbClr val="1F3864"/>
                </a:solidFill>
                <a:latin typeface="Calibri"/>
              </a:rPr>
              <a:t>BPMN models
S1, S2, S3, O1</a:t>
            </a:r>
          </a:p>
        </p:txBody>
      </p:sp>
      <p:sp>
        <p:nvSpPr>
          <p:cNvPr id="11" name="Rectangle 10"/>
          <p:cNvSpPr/>
          <p:nvPr/>
        </p:nvSpPr>
        <p:spPr>
          <a:xfrm>
            <a:off x="3241423" y="1501752"/>
            <a:ext cx="2617471" cy="103632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332863" y="1570332"/>
            <a:ext cx="2434591" cy="899160"/>
          </a:xfrm>
          <a:prstGeom prst="rect">
            <a:avLst/>
          </a:prstGeom>
          <a:noFill/>
        </p:spPr>
        <p:txBody>
          <a:bodyPr wrap="square" anchor="t" lIns="0" rIns="0" tIns="0" bIns="0">
            <a:spAutoFit/>
          </a:bodyPr>
          <a:lstStyle/>
          <a:p>
            <a:pPr algn="ctr">
              <a:lnSpc>
                <a:spcPct val="90000"/>
              </a:lnSpc>
              <a:spcBef>
                <a:spcPts val="0"/>
              </a:spcBef>
              <a:spcAft>
                <a:spcPts val="0"/>
              </a:spcAft>
            </a:pPr>
            <a:r>
              <a:rPr sz="2600" b="1" i="0">
                <a:solidFill>
                  <a:srgbClr val="2E74B5"/>
                </a:solidFill>
                <a:latin typeface="Calibri"/>
              </a:rPr>
              <a:t>7</a:t>
            </a:r>
          </a:p>
          <a:p>
            <a:pPr algn="ctr">
              <a:lnSpc>
                <a:spcPct val="95000"/>
              </a:lnSpc>
              <a:spcBef>
                <a:spcPts val="200"/>
              </a:spcBef>
              <a:spcAft>
                <a:spcPts val="0"/>
              </a:spcAft>
            </a:pPr>
            <a:r>
              <a:rPr sz="900" b="1" i="0">
                <a:solidFill>
                  <a:srgbClr val="1F3864"/>
                </a:solidFill>
                <a:latin typeface="Calibri"/>
              </a:rPr>
              <a:t>process definitions
deployed as one set</a:t>
            </a:r>
          </a:p>
        </p:txBody>
      </p:sp>
      <p:sp>
        <p:nvSpPr>
          <p:cNvPr id="13" name="Rectangle 12"/>
          <p:cNvSpPr/>
          <p:nvPr/>
        </p:nvSpPr>
        <p:spPr>
          <a:xfrm>
            <a:off x="5979926" y="1501752"/>
            <a:ext cx="2617471" cy="103632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071366" y="1570332"/>
            <a:ext cx="2434591" cy="899160"/>
          </a:xfrm>
          <a:prstGeom prst="rect">
            <a:avLst/>
          </a:prstGeom>
          <a:noFill/>
        </p:spPr>
        <p:txBody>
          <a:bodyPr wrap="square" anchor="t" lIns="0" rIns="0" tIns="0" bIns="0">
            <a:spAutoFit/>
          </a:bodyPr>
          <a:lstStyle/>
          <a:p>
            <a:pPr algn="ctr">
              <a:lnSpc>
                <a:spcPct val="90000"/>
              </a:lnSpc>
              <a:spcBef>
                <a:spcPts val="0"/>
              </a:spcBef>
              <a:spcAft>
                <a:spcPts val="0"/>
              </a:spcAft>
            </a:pPr>
            <a:r>
              <a:rPr sz="2600" b="1" i="0">
                <a:solidFill>
                  <a:srgbClr val="2E74B5"/>
                </a:solidFill>
                <a:latin typeface="Calibri"/>
              </a:rPr>
              <a:t>69</a:t>
            </a:r>
          </a:p>
          <a:p>
            <a:pPr algn="ctr">
              <a:lnSpc>
                <a:spcPct val="95000"/>
              </a:lnSpc>
              <a:spcBef>
                <a:spcPts val="200"/>
              </a:spcBef>
              <a:spcAft>
                <a:spcPts val="0"/>
              </a:spcAft>
            </a:pPr>
            <a:r>
              <a:rPr sz="900" b="1" i="0">
                <a:solidFill>
                  <a:srgbClr val="1F3864"/>
                </a:solidFill>
                <a:latin typeface="Calibri"/>
              </a:rPr>
              <a:t>Camunda Forms
bound to user tasks</a:t>
            </a:r>
          </a:p>
        </p:txBody>
      </p:sp>
      <p:sp>
        <p:nvSpPr>
          <p:cNvPr id="15" name="Rectangle 14"/>
          <p:cNvSpPr/>
          <p:nvPr/>
        </p:nvSpPr>
        <p:spPr>
          <a:xfrm>
            <a:off x="8718429" y="1501752"/>
            <a:ext cx="2617471" cy="103632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809869" y="1570332"/>
            <a:ext cx="2434591" cy="899160"/>
          </a:xfrm>
          <a:prstGeom prst="rect">
            <a:avLst/>
          </a:prstGeom>
          <a:noFill/>
        </p:spPr>
        <p:txBody>
          <a:bodyPr wrap="square" anchor="t" lIns="0" rIns="0" tIns="0" bIns="0">
            <a:spAutoFit/>
          </a:bodyPr>
          <a:lstStyle/>
          <a:p>
            <a:pPr algn="ctr">
              <a:lnSpc>
                <a:spcPct val="90000"/>
              </a:lnSpc>
              <a:spcBef>
                <a:spcPts val="0"/>
              </a:spcBef>
              <a:spcAft>
                <a:spcPts val="0"/>
              </a:spcAft>
            </a:pPr>
            <a:r>
              <a:rPr sz="2600" b="1" i="0">
                <a:solidFill>
                  <a:srgbClr val="2E74B5"/>
                </a:solidFill>
                <a:latin typeface="Calibri"/>
              </a:rPr>
              <a:t>18</a:t>
            </a:r>
          </a:p>
          <a:p>
            <a:pPr algn="ctr">
              <a:lnSpc>
                <a:spcPct val="95000"/>
              </a:lnSpc>
              <a:spcBef>
                <a:spcPts val="200"/>
              </a:spcBef>
              <a:spcAft>
                <a:spcPts val="0"/>
              </a:spcAft>
            </a:pPr>
            <a:r>
              <a:rPr sz="900" b="1" i="0">
                <a:solidFill>
                  <a:srgbClr val="1F3864"/>
                </a:solidFill>
                <a:latin typeface="Calibri"/>
              </a:rPr>
              <a:t>acceptance cases
in the harness</a:t>
            </a:r>
          </a:p>
        </p:txBody>
      </p:sp>
      <p:sp>
        <p:nvSpPr>
          <p:cNvPr id="17" name="Rectangle 16"/>
          <p:cNvSpPr/>
          <p:nvPr/>
        </p:nvSpPr>
        <p:spPr>
          <a:xfrm>
            <a:off x="502920" y="2720952"/>
            <a:ext cx="5523000" cy="13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502920" y="2720952"/>
            <a:ext cx="38100" cy="130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792" y="2812392"/>
            <a:ext cx="5332805" cy="11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Three capabilities that did not exist in September</a:t>
            </a:r>
          </a:p>
          <a:p>
            <a:pPr algn="l">
              <a:lnSpc>
                <a:spcPct val="95000"/>
              </a:lnSpc>
              <a:spcBef>
                <a:spcPts val="0"/>
              </a:spcBef>
              <a:spcAft>
                <a:spcPts val="250"/>
              </a:spcAft>
            </a:pPr>
            <a:r>
              <a:rPr sz="1000" b="0" i="0">
                <a:solidFill>
                  <a:srgbClr val="262626"/>
                </a:solidFill>
                <a:latin typeface="Calibri"/>
              </a:rPr>
              <a:t>–  Role-based task routing — authorisation is on, and two roles see different inboxes</a:t>
            </a:r>
          </a:p>
          <a:p>
            <a:pPr algn="l">
              <a:lnSpc>
                <a:spcPct val="95000"/>
              </a:lnSpc>
              <a:spcBef>
                <a:spcPts val="0"/>
              </a:spcBef>
              <a:spcAft>
                <a:spcPts val="250"/>
              </a:spcAft>
            </a:pPr>
            <a:r>
              <a:rPr sz="1000" b="0" i="0">
                <a:solidFill>
                  <a:srgbClr val="262626"/>
                </a:solidFill>
                <a:latin typeface="Calibri"/>
              </a:rPr>
              <a:t>–  A database — business records and the audit trail survive a restart</a:t>
            </a:r>
          </a:p>
          <a:p>
            <a:pPr algn="l">
              <a:lnSpc>
                <a:spcPct val="95000"/>
              </a:lnSpc>
              <a:spcBef>
                <a:spcPts val="0"/>
              </a:spcBef>
              <a:spcAft>
                <a:spcPts val="250"/>
              </a:spcAft>
            </a:pPr>
            <a:r>
              <a:rPr sz="1000" b="0" i="0">
                <a:solidFill>
                  <a:srgbClr val="262626"/>
                </a:solidFill>
                <a:latin typeface="Calibri"/>
              </a:rPr>
              <a:t>–  A re-runnable acceptance harness — 18 cases in one command, evidence retained</a:t>
            </a:r>
          </a:p>
        </p:txBody>
      </p:sp>
      <p:sp>
        <p:nvSpPr>
          <p:cNvPr id="20" name="Rectangle 19"/>
          <p:cNvSpPr/>
          <p:nvPr/>
        </p:nvSpPr>
        <p:spPr>
          <a:xfrm>
            <a:off x="6178320" y="2720952"/>
            <a:ext cx="5523000" cy="13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6178320" y="2720952"/>
            <a:ext cx="38100" cy="130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297192" y="2812392"/>
            <a:ext cx="5332805" cy="11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And three we still cannot claim</a:t>
            </a:r>
          </a:p>
          <a:p>
            <a:pPr algn="l">
              <a:lnSpc>
                <a:spcPct val="95000"/>
              </a:lnSpc>
              <a:spcBef>
                <a:spcPts val="0"/>
              </a:spcBef>
              <a:spcAft>
                <a:spcPts val="250"/>
              </a:spcAft>
            </a:pPr>
            <a:r>
              <a:rPr sz="1000" b="0" i="0">
                <a:solidFill>
                  <a:srgbClr val="262626"/>
                </a:solidFill>
                <a:latin typeface="Calibri"/>
              </a:rPr>
              <a:t>–  Live integration with an external provider — all four are simulated</a:t>
            </a:r>
          </a:p>
          <a:p>
            <a:pPr algn="l">
              <a:lnSpc>
                <a:spcPct val="95000"/>
              </a:lnSpc>
              <a:spcBef>
                <a:spcPts val="0"/>
              </a:spcBef>
              <a:spcAft>
                <a:spcPts val="250"/>
              </a:spcAft>
            </a:pPr>
            <a:r>
              <a:rPr sz="1000" b="0" i="0">
                <a:solidFill>
                  <a:srgbClr val="262626"/>
                </a:solidFill>
                <a:latin typeface="Calibri"/>
              </a:rPr>
              <a:t>–  Management reporting output — the monthly timer has not elapsed</a:t>
            </a:r>
          </a:p>
          <a:p>
            <a:pPr algn="l">
              <a:lnSpc>
                <a:spcPct val="95000"/>
              </a:lnSpc>
              <a:spcBef>
                <a:spcPts val="0"/>
              </a:spcBef>
              <a:spcAft>
                <a:spcPts val="250"/>
              </a:spcAft>
            </a:pPr>
            <a:r>
              <a:rPr sz="1000" b="0" i="0">
                <a:solidFill>
                  <a:srgbClr val="262626"/>
                </a:solidFill>
                <a:latin typeface="Calibri"/>
              </a:rPr>
              <a:t>–  A tested availability or downtime procedure — no procedure exists to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BASELINE  ·  WHAT SEPTEMBER DELIVERED</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What the initial release delivered, and the five gaps we already knew about</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max</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The second release was scoped against these five, not against a wish list.</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3</a:t>
            </a:r>
          </a:p>
        </p:txBody>
      </p:sp>
      <p:sp>
        <p:nvSpPr>
          <p:cNvPr id="9" name="Rectangle 8"/>
          <p:cNvSpPr/>
          <p:nvPr/>
        </p:nvSpPr>
        <p:spPr>
          <a:xfrm>
            <a:off x="502920" y="1501752"/>
            <a:ext cx="5516727" cy="271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502920" y="1501752"/>
            <a:ext cx="38100" cy="27100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21792" y="1593192"/>
            <a:ext cx="5326532" cy="258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Delivered at the initial release (28 September)</a:t>
            </a:r>
          </a:p>
          <a:p>
            <a:pPr algn="l">
              <a:lnSpc>
                <a:spcPct val="95000"/>
              </a:lnSpc>
              <a:spcBef>
                <a:spcPts val="0"/>
              </a:spcBef>
              <a:spcAft>
                <a:spcPts val="250"/>
              </a:spcAft>
            </a:pPr>
            <a:r>
              <a:rPr sz="980" b="0" i="0">
                <a:solidFill>
                  <a:srgbClr val="262626"/>
                </a:solidFill>
                <a:latin typeface="Calibri"/>
              </a:rPr>
              <a:t>–  Operational model O1 deployed and executed on a real Camunda 8 cluster</a:t>
            </a:r>
          </a:p>
          <a:p>
            <a:pPr algn="l">
              <a:lnSpc>
                <a:spcPct val="95000"/>
              </a:lnSpc>
              <a:spcBef>
                <a:spcPts val="0"/>
              </a:spcBef>
              <a:spcAft>
                <a:spcPts val="250"/>
              </a:spcAft>
            </a:pPr>
            <a:r>
              <a:rPr sz="980" b="0" i="0">
                <a:solidFill>
                  <a:srgbClr val="262626"/>
                </a:solidFill>
                <a:latin typeface="Calibri"/>
              </a:rPr>
              <a:t>–  68 Camunda Forms generated from the models and bound to their user tasks</a:t>
            </a:r>
          </a:p>
          <a:p>
            <a:pPr algn="l">
              <a:lnSpc>
                <a:spcPct val="95000"/>
              </a:lnSpc>
              <a:spcBef>
                <a:spcPts val="0"/>
              </a:spcBef>
              <a:spcAft>
                <a:spcPts val="250"/>
              </a:spcAft>
            </a:pPr>
            <a:r>
              <a:rPr sz="980" b="0" i="0">
                <a:solidFill>
                  <a:srgbClr val="262626"/>
                </a:solidFill>
                <a:latin typeface="Calibri"/>
              </a:rPr>
              <a:t>–  18 acceptance cases executed against the deployed model — 18 passed, 0 incidents</a:t>
            </a:r>
          </a:p>
          <a:p>
            <a:pPr algn="l">
              <a:lnSpc>
                <a:spcPct val="95000"/>
              </a:lnSpc>
              <a:spcBef>
                <a:spcPts val="0"/>
              </a:spcBef>
              <a:spcAft>
                <a:spcPts val="250"/>
              </a:spcAft>
            </a:pPr>
            <a:r>
              <a:rPr sz="980" b="0" i="0">
                <a:solidFill>
                  <a:srgbClr val="262626"/>
                </a:solidFill>
                <a:latin typeface="Calibri"/>
              </a:rPr>
              <a:t>–  41 worker unit tests; 0 moddle warnings; 0 Camunda 8 lint reports</a:t>
            </a:r>
          </a:p>
          <a:p>
            <a:pPr algn="l">
              <a:lnSpc>
                <a:spcPct val="95000"/>
              </a:lnSpc>
              <a:spcBef>
                <a:spcPts val="0"/>
              </a:spcBef>
              <a:spcAft>
                <a:spcPts val="250"/>
              </a:spcAft>
            </a:pPr>
            <a:r>
              <a:rPr sz="980" b="0" i="0">
                <a:solidFill>
                  <a:srgbClr val="262626"/>
                </a:solidFill>
                <a:latin typeface="Calibri"/>
              </a:rPr>
              <a:t>–  Defect log: 16 categories in the Sprint 1/2 files, 4 found only at deployment</a:t>
            </a:r>
          </a:p>
        </p:txBody>
      </p:sp>
      <p:sp>
        <p:nvSpPr>
          <p:cNvPr id="12" name="Rectangle 11"/>
          <p:cNvSpPr/>
          <p:nvPr/>
        </p:nvSpPr>
        <p:spPr>
          <a:xfrm>
            <a:off x="6172047" y="1501752"/>
            <a:ext cx="5516727" cy="271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6172047" y="1501752"/>
            <a:ext cx="38100" cy="271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290919" y="1593192"/>
            <a:ext cx="5326532" cy="258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The five gaps, stated then and not hidden</a:t>
            </a:r>
          </a:p>
          <a:p>
            <a:pPr algn="l">
              <a:lnSpc>
                <a:spcPct val="95000"/>
              </a:lnSpc>
              <a:spcBef>
                <a:spcPts val="0"/>
              </a:spcBef>
              <a:spcAft>
                <a:spcPts val="250"/>
              </a:spcAft>
            </a:pPr>
            <a:r>
              <a:rPr sz="980" b="0" i="0">
                <a:solidFill>
                  <a:srgbClr val="262626"/>
                </a:solidFill>
                <a:latin typeface="Calibri"/>
              </a:rPr>
              <a:t>–  1   Enforced role-based access — candidate groups expressed intent, the engine ignored membership</a:t>
            </a:r>
          </a:p>
          <a:p>
            <a:pPr algn="l">
              <a:lnSpc>
                <a:spcPct val="95000"/>
              </a:lnSpc>
              <a:spcBef>
                <a:spcPts val="0"/>
              </a:spcBef>
              <a:spcAft>
                <a:spcPts val="250"/>
              </a:spcAft>
            </a:pPr>
            <a:r>
              <a:rPr sz="980" b="0" i="0">
                <a:solidFill>
                  <a:srgbClr val="262626"/>
                </a:solidFill>
                <a:latin typeface="Calibri"/>
              </a:rPr>
              <a:t>–  2   Immutable audit records — written to an in-memory map</a:t>
            </a:r>
          </a:p>
          <a:p>
            <a:pPr algn="l">
              <a:lnSpc>
                <a:spcPct val="95000"/>
              </a:lnSpc>
              <a:spcBef>
                <a:spcPts val="0"/>
              </a:spcBef>
              <a:spcAft>
                <a:spcPts val="250"/>
              </a:spcAft>
            </a:pPr>
            <a:r>
              <a:rPr sz="980" b="0" i="0">
                <a:solidFill>
                  <a:srgbClr val="262626"/>
                </a:solidFill>
                <a:latin typeface="Calibri"/>
              </a:rPr>
              <a:t>–  3   Management reporting output — the monthly timer had not elapsed</a:t>
            </a:r>
          </a:p>
          <a:p>
            <a:pPr algn="l">
              <a:lnSpc>
                <a:spcPct val="95000"/>
              </a:lnSpc>
              <a:spcBef>
                <a:spcPts val="0"/>
              </a:spcBef>
              <a:spcAft>
                <a:spcPts val="250"/>
              </a:spcAft>
            </a:pPr>
            <a:r>
              <a:rPr sz="980" b="0" i="0">
                <a:solidFill>
                  <a:srgbClr val="262626"/>
                </a:solidFill>
                <a:latin typeface="Calibri"/>
              </a:rPr>
              <a:t>–  4   Live external integration — scheduling, correspondence, clinical and payment were simulated</a:t>
            </a:r>
          </a:p>
          <a:p>
            <a:pPr algn="l">
              <a:lnSpc>
                <a:spcPct val="95000"/>
              </a:lnSpc>
              <a:spcBef>
                <a:spcPts val="0"/>
              </a:spcBef>
              <a:spcAft>
                <a:spcPts val="250"/>
              </a:spcAft>
            </a:pPr>
            <a:r>
              <a:rPr sz="980" b="0" i="0">
                <a:solidFill>
                  <a:srgbClr val="262626"/>
                </a:solidFill>
                <a:latin typeface="Calibri"/>
              </a:rPr>
              <a:t>–  5   Availability / downtime — no procedure existed to test</a:t>
            </a:r>
          </a:p>
        </p:txBody>
      </p:sp>
      <p:sp>
        <p:nvSpPr>
          <p:cNvPr id="15" name="Rectangle 14"/>
          <p:cNvSpPr/>
          <p:nvPr/>
        </p:nvSpPr>
        <p:spPr>
          <a:xfrm>
            <a:off x="502920" y="4348912"/>
            <a:ext cx="11185855" cy="42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40080" y="4412920"/>
            <a:ext cx="10911535" cy="292000"/>
          </a:xfrm>
          <a:prstGeom prst="rect">
            <a:avLst/>
          </a:prstGeom>
          <a:noFill/>
        </p:spPr>
        <p:txBody>
          <a:bodyPr wrap="square" anchor="t" lIns="0" rIns="0" tIns="0" bIns="0">
            <a:spAutoFit/>
          </a:bodyPr>
          <a:lstStyle/>
          <a:p>
            <a:pPr algn="l">
              <a:lnSpc>
                <a:spcPct val="95000"/>
              </a:lnSpc>
              <a:spcBef>
                <a:spcPts val="0"/>
              </a:spcBef>
              <a:spcAft>
                <a:spcPts val="0"/>
              </a:spcAft>
            </a:pPr>
            <a:r>
              <a:rPr sz="1100" b="1" i="0">
                <a:solidFill>
                  <a:srgbClr val="1F3864"/>
                </a:solidFill>
                <a:latin typeface="Calibri"/>
              </a:rPr>
              <a:t>October status: gap 1 closed with evidence.  Gap 2 partly closed.  Gaps 3, 4 and 5 remain open and are stated on page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RESPONSE TO FEEDBACK  ·  20%</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Fourteen points of feedback, five themes, and two we did not implement</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henry</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Every point is traced to a decision, an action and an artefact. The two we did not implement are on this deck on purpose.</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4</a:t>
            </a:r>
          </a:p>
        </p:txBody>
      </p:sp>
      <p:sp>
        <p:nvSpPr>
          <p:cNvPr id="9" name="Rectangle 8"/>
          <p:cNvSpPr/>
          <p:nvPr/>
        </p:nvSpPr>
        <p:spPr>
          <a:xfrm>
            <a:off x="502920" y="1501752"/>
            <a:ext cx="11185855" cy="4459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502920" y="1501752"/>
            <a:ext cx="38100" cy="4459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ounded Rectangle 10"/>
          <p:cNvSpPr/>
          <p:nvPr/>
        </p:nvSpPr>
        <p:spPr>
          <a:xfrm>
            <a:off x="621792" y="1602336"/>
            <a:ext cx="292608"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a:t>
            </a:r>
          </a:p>
        </p:txBody>
      </p:sp>
      <p:sp>
        <p:nvSpPr>
          <p:cNvPr id="12" name="TextBox 11"/>
          <p:cNvSpPr txBox="1"/>
          <p:nvPr/>
        </p:nvSpPr>
        <p:spPr>
          <a:xfrm>
            <a:off x="962920" y="1565760"/>
            <a:ext cx="2500000" cy="355984"/>
          </a:xfrm>
          <a:prstGeom prst="rect">
            <a:avLst/>
          </a:prstGeom>
          <a:noFill/>
        </p:spPr>
        <p:txBody>
          <a:bodyPr wrap="square" anchor="t" lIns="0" rIns="0" tIns="0" bIns="0">
            <a:spAutoFit/>
          </a:bodyPr>
          <a:lstStyle/>
          <a:p>
            <a:pPr algn="l">
              <a:lnSpc>
                <a:spcPct val="92000"/>
              </a:lnSpc>
              <a:spcBef>
                <a:spcPts val="0"/>
              </a:spcBef>
              <a:spcAft>
                <a:spcPts val="0"/>
              </a:spcAft>
            </a:pPr>
            <a:r>
              <a:rPr sz="1150" b="1" i="0">
                <a:solidFill>
                  <a:srgbClr val="1F3864"/>
                </a:solidFill>
                <a:latin typeface="Calibri"/>
              </a:rPr>
              <a:t>Execution gap in the model</a:t>
            </a:r>
          </a:p>
        </p:txBody>
      </p:sp>
      <p:sp>
        <p:nvSpPr>
          <p:cNvPr id="13" name="TextBox 12"/>
          <p:cNvSpPr txBox="1"/>
          <p:nvPr/>
        </p:nvSpPr>
        <p:spPr>
          <a:xfrm>
            <a:off x="3522920" y="1565760"/>
            <a:ext cx="5300000" cy="355984"/>
          </a:xfrm>
          <a:prstGeom prst="rect">
            <a:avLst/>
          </a:prstGeom>
          <a:noFill/>
        </p:spPr>
        <p:txBody>
          <a:bodyPr wrap="square" anchor="t" lIns="0" rIns="0" tIns="0" bIns="0">
            <a:spAutoFit/>
          </a:bodyPr>
          <a:lstStyle/>
          <a:p>
            <a:pPr algn="l">
              <a:lnSpc>
                <a:spcPct val="95000"/>
              </a:lnSpc>
              <a:spcBef>
                <a:spcPts val="0"/>
              </a:spcBef>
              <a:spcAft>
                <a:spcPts val="0"/>
              </a:spcAft>
            </a:pPr>
            <a:r>
              <a:rPr sz="960" b="0" i="0">
                <a:solidFill>
                  <a:srgbClr val="262626"/>
                </a:solidFill>
                <a:latin typeface="Calibri"/>
              </a:rPr>
              <a:t>The booking path did not show what happens when the external service is unavailable.</a:t>
            </a:r>
          </a:p>
        </p:txBody>
      </p:sp>
      <p:sp>
        <p:nvSpPr>
          <p:cNvPr id="14" name="Rounded Rectangle 13"/>
          <p:cNvSpPr/>
          <p:nvPr/>
        </p:nvSpPr>
        <p:spPr>
          <a:xfrm>
            <a:off x="8922920" y="1593192"/>
            <a:ext cx="590000" cy="265176"/>
          </a:xfrm>
          <a:prstGeom prst="roundRect">
            <a:avLst>
              <a:gd name="adj" fmla="val 25000"/>
            </a:avLst>
          </a:prstGeom>
          <a:solidFill>
            <a:srgbClr val="FFFFFF"/>
          </a:solidFill>
          <a:ln w="1270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00" b="1" i="0">
                <a:solidFill>
                  <a:srgbClr val="2E74B5"/>
                </a:solidFill>
                <a:latin typeface="Calibri"/>
              </a:rPr>
              <a:t>1  item</a:t>
            </a:r>
          </a:p>
        </p:txBody>
      </p:sp>
      <p:sp>
        <p:nvSpPr>
          <p:cNvPr id="15" name="TextBox 14"/>
          <p:cNvSpPr txBox="1"/>
          <p:nvPr/>
        </p:nvSpPr>
        <p:spPr>
          <a:xfrm>
            <a:off x="9582920" y="1593192"/>
            <a:ext cx="2040000" cy="265176"/>
          </a:xfrm>
          <a:prstGeom prst="rect">
            <a:avLst/>
          </a:prstGeom>
          <a:noFill/>
        </p:spPr>
        <p:txBody>
          <a:bodyPr wrap="square" anchor="t" lIns="0" rIns="0" tIns="0" bIns="0">
            <a:spAutoFit/>
          </a:bodyPr>
          <a:lstStyle/>
          <a:p>
            <a:pPr algn="l">
              <a:spcBef>
                <a:spcPts val="0"/>
              </a:spcBef>
              <a:spcAft>
                <a:spcPts val="0"/>
              </a:spcAft>
            </a:pPr>
            <a:r>
              <a:rPr sz="860" b="1" i="0">
                <a:solidFill>
                  <a:srgbClr val="595959"/>
                </a:solidFill>
                <a:latin typeface="Calibri"/>
              </a:rPr>
              <a:t>P-01</a:t>
            </a:r>
          </a:p>
        </p:txBody>
      </p:sp>
      <p:sp>
        <p:nvSpPr>
          <p:cNvPr id="16" name="Rectangle 15"/>
          <p:cNvSpPr/>
          <p:nvPr/>
        </p:nvSpPr>
        <p:spPr>
          <a:xfrm>
            <a:off x="502920" y="1985752"/>
            <a:ext cx="11185855" cy="4459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ectangle 16"/>
          <p:cNvSpPr/>
          <p:nvPr/>
        </p:nvSpPr>
        <p:spPr>
          <a:xfrm>
            <a:off x="502920" y="1985752"/>
            <a:ext cx="38100" cy="4459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621792" y="2086336"/>
            <a:ext cx="292608" cy="246888"/>
          </a:xfrm>
          <a:prstGeom prst="roundRect">
            <a:avLst>
              <a:gd name="adj" fmla="val 2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B</a:t>
            </a:r>
          </a:p>
        </p:txBody>
      </p:sp>
      <p:sp>
        <p:nvSpPr>
          <p:cNvPr id="19" name="TextBox 18"/>
          <p:cNvSpPr txBox="1"/>
          <p:nvPr/>
        </p:nvSpPr>
        <p:spPr>
          <a:xfrm>
            <a:off x="962920" y="2049760"/>
            <a:ext cx="2500000" cy="355984"/>
          </a:xfrm>
          <a:prstGeom prst="rect">
            <a:avLst/>
          </a:prstGeom>
          <a:noFill/>
        </p:spPr>
        <p:txBody>
          <a:bodyPr wrap="square" anchor="t" lIns="0" rIns="0" tIns="0" bIns="0">
            <a:spAutoFit/>
          </a:bodyPr>
          <a:lstStyle/>
          <a:p>
            <a:pPr algn="l">
              <a:lnSpc>
                <a:spcPct val="92000"/>
              </a:lnSpc>
              <a:spcBef>
                <a:spcPts val="0"/>
              </a:spcBef>
              <a:spcAft>
                <a:spcPts val="0"/>
              </a:spcAft>
            </a:pPr>
            <a:r>
              <a:rPr sz="1150" b="1" i="0">
                <a:solidFill>
                  <a:srgbClr val="1F3864"/>
                </a:solidFill>
                <a:latin typeface="Calibri"/>
              </a:rPr>
              <a:t>Evidence quality</a:t>
            </a:r>
          </a:p>
        </p:txBody>
      </p:sp>
      <p:sp>
        <p:nvSpPr>
          <p:cNvPr id="20" name="TextBox 19"/>
          <p:cNvSpPr txBox="1"/>
          <p:nvPr/>
        </p:nvSpPr>
        <p:spPr>
          <a:xfrm>
            <a:off x="3522920" y="2049760"/>
            <a:ext cx="5300000" cy="355984"/>
          </a:xfrm>
          <a:prstGeom prst="rect">
            <a:avLst/>
          </a:prstGeom>
          <a:noFill/>
        </p:spPr>
        <p:txBody>
          <a:bodyPr wrap="square" anchor="t" lIns="0" rIns="0" tIns="0" bIns="0">
            <a:spAutoFit/>
          </a:bodyPr>
          <a:lstStyle/>
          <a:p>
            <a:pPr algn="l">
              <a:lnSpc>
                <a:spcPct val="95000"/>
              </a:lnSpc>
              <a:spcBef>
                <a:spcPts val="0"/>
              </a:spcBef>
              <a:spcAft>
                <a:spcPts val="0"/>
              </a:spcAft>
            </a:pPr>
            <a:r>
              <a:rPr sz="960" b="0" i="0">
                <a:solidFill>
                  <a:srgbClr val="262626"/>
                </a:solidFill>
                <a:latin typeface="Calibri"/>
              </a:rPr>
              <a:t>Criteria were narrative, claims were unsourced, and there was no before/after.</a:t>
            </a:r>
          </a:p>
        </p:txBody>
      </p:sp>
      <p:sp>
        <p:nvSpPr>
          <p:cNvPr id="21" name="Rounded Rectangle 20"/>
          <p:cNvSpPr/>
          <p:nvPr/>
        </p:nvSpPr>
        <p:spPr>
          <a:xfrm>
            <a:off x="8922920" y="2077192"/>
            <a:ext cx="590000" cy="265176"/>
          </a:xfrm>
          <a:prstGeom prst="roundRect">
            <a:avLst>
              <a:gd name="adj" fmla="val 25000"/>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00" b="1" i="0">
                <a:solidFill>
                  <a:srgbClr val="2E7D32"/>
                </a:solidFill>
                <a:latin typeface="Calibri"/>
              </a:rPr>
              <a:t>4  items</a:t>
            </a:r>
          </a:p>
        </p:txBody>
      </p:sp>
      <p:sp>
        <p:nvSpPr>
          <p:cNvPr id="22" name="TextBox 21"/>
          <p:cNvSpPr txBox="1"/>
          <p:nvPr/>
        </p:nvSpPr>
        <p:spPr>
          <a:xfrm>
            <a:off x="9582920" y="2077192"/>
            <a:ext cx="2040000" cy="265176"/>
          </a:xfrm>
          <a:prstGeom prst="rect">
            <a:avLst/>
          </a:prstGeom>
          <a:noFill/>
        </p:spPr>
        <p:txBody>
          <a:bodyPr wrap="square" anchor="t" lIns="0" rIns="0" tIns="0" bIns="0">
            <a:spAutoFit/>
          </a:bodyPr>
          <a:lstStyle/>
          <a:p>
            <a:pPr algn="l">
              <a:spcBef>
                <a:spcPts val="0"/>
              </a:spcBef>
              <a:spcAft>
                <a:spcPts val="0"/>
              </a:spcAft>
            </a:pPr>
            <a:r>
              <a:rPr sz="860" b="1" i="0">
                <a:solidFill>
                  <a:srgbClr val="595959"/>
                </a:solidFill>
                <a:latin typeface="Calibri"/>
              </a:rPr>
              <a:t>P-02 04 06 08</a:t>
            </a:r>
          </a:p>
        </p:txBody>
      </p:sp>
      <p:sp>
        <p:nvSpPr>
          <p:cNvPr id="23" name="Rectangle 22"/>
          <p:cNvSpPr/>
          <p:nvPr/>
        </p:nvSpPr>
        <p:spPr>
          <a:xfrm>
            <a:off x="502920" y="2469752"/>
            <a:ext cx="11185855" cy="4459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502920" y="2469752"/>
            <a:ext cx="38100" cy="4459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ounded Rectangle 24"/>
          <p:cNvSpPr/>
          <p:nvPr/>
        </p:nvSpPr>
        <p:spPr>
          <a:xfrm>
            <a:off x="621792" y="2570336"/>
            <a:ext cx="292608"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C</a:t>
            </a:r>
          </a:p>
        </p:txBody>
      </p:sp>
      <p:sp>
        <p:nvSpPr>
          <p:cNvPr id="26" name="TextBox 25"/>
          <p:cNvSpPr txBox="1"/>
          <p:nvPr/>
        </p:nvSpPr>
        <p:spPr>
          <a:xfrm>
            <a:off x="962920" y="2533760"/>
            <a:ext cx="2500000" cy="355984"/>
          </a:xfrm>
          <a:prstGeom prst="rect">
            <a:avLst/>
          </a:prstGeom>
          <a:noFill/>
        </p:spPr>
        <p:txBody>
          <a:bodyPr wrap="square" anchor="t" lIns="0" rIns="0" tIns="0" bIns="0">
            <a:spAutoFit/>
          </a:bodyPr>
          <a:lstStyle/>
          <a:p>
            <a:pPr algn="l">
              <a:lnSpc>
                <a:spcPct val="92000"/>
              </a:lnSpc>
              <a:spcBef>
                <a:spcPts val="0"/>
              </a:spcBef>
              <a:spcAft>
                <a:spcPts val="0"/>
              </a:spcAft>
            </a:pPr>
            <a:r>
              <a:rPr sz="1150" b="1" i="0">
                <a:solidFill>
                  <a:srgbClr val="1F3864"/>
                </a:solidFill>
                <a:latin typeface="Calibri"/>
              </a:rPr>
              <a:t>Model integrity</a:t>
            </a:r>
          </a:p>
        </p:txBody>
      </p:sp>
      <p:sp>
        <p:nvSpPr>
          <p:cNvPr id="27" name="TextBox 26"/>
          <p:cNvSpPr txBox="1"/>
          <p:nvPr/>
        </p:nvSpPr>
        <p:spPr>
          <a:xfrm>
            <a:off x="3522920" y="2533760"/>
            <a:ext cx="5300000" cy="355984"/>
          </a:xfrm>
          <a:prstGeom prst="rect">
            <a:avLst/>
          </a:prstGeom>
          <a:noFill/>
        </p:spPr>
        <p:txBody>
          <a:bodyPr wrap="square" anchor="t" lIns="0" rIns="0" tIns="0" bIns="0">
            <a:spAutoFit/>
          </a:bodyPr>
          <a:lstStyle/>
          <a:p>
            <a:pPr algn="l">
              <a:lnSpc>
                <a:spcPct val="95000"/>
              </a:lnSpc>
              <a:spcBef>
                <a:spcPts val="0"/>
              </a:spcBef>
              <a:spcAft>
                <a:spcPts val="0"/>
              </a:spcAft>
            </a:pPr>
            <a:r>
              <a:rPr sz="960" b="0" i="0">
                <a:solidFill>
                  <a:srgbClr val="262626"/>
                </a:solidFill>
                <a:latin typeface="Calibri"/>
              </a:rPr>
              <a:t>Pool names did not match the process names inside them.</a:t>
            </a:r>
          </a:p>
        </p:txBody>
      </p:sp>
      <p:sp>
        <p:nvSpPr>
          <p:cNvPr id="28" name="Rounded Rectangle 27"/>
          <p:cNvSpPr/>
          <p:nvPr/>
        </p:nvSpPr>
        <p:spPr>
          <a:xfrm>
            <a:off x="8922920" y="2561192"/>
            <a:ext cx="590000" cy="265176"/>
          </a:xfrm>
          <a:prstGeom prst="roundRect">
            <a:avLst>
              <a:gd name="adj" fmla="val 25000"/>
            </a:avLst>
          </a:prstGeom>
          <a:solidFill>
            <a:srgbClr val="FFFFFF"/>
          </a:solidFill>
          <a:ln w="1270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00" b="1" i="0">
                <a:solidFill>
                  <a:srgbClr val="2E74B5"/>
                </a:solidFill>
                <a:latin typeface="Calibri"/>
              </a:rPr>
              <a:t>1  item</a:t>
            </a:r>
          </a:p>
        </p:txBody>
      </p:sp>
      <p:sp>
        <p:nvSpPr>
          <p:cNvPr id="29" name="TextBox 28"/>
          <p:cNvSpPr txBox="1"/>
          <p:nvPr/>
        </p:nvSpPr>
        <p:spPr>
          <a:xfrm>
            <a:off x="9582920" y="2561192"/>
            <a:ext cx="2040000" cy="265176"/>
          </a:xfrm>
          <a:prstGeom prst="rect">
            <a:avLst/>
          </a:prstGeom>
          <a:noFill/>
        </p:spPr>
        <p:txBody>
          <a:bodyPr wrap="square" anchor="t" lIns="0" rIns="0" tIns="0" bIns="0">
            <a:spAutoFit/>
          </a:bodyPr>
          <a:lstStyle/>
          <a:p>
            <a:pPr algn="l">
              <a:spcBef>
                <a:spcPts val="0"/>
              </a:spcBef>
              <a:spcAft>
                <a:spcPts val="0"/>
              </a:spcAft>
            </a:pPr>
            <a:r>
              <a:rPr sz="860" b="1" i="0">
                <a:solidFill>
                  <a:srgbClr val="595959"/>
                </a:solidFill>
                <a:latin typeface="Calibri"/>
              </a:rPr>
              <a:t>P-07</a:t>
            </a:r>
          </a:p>
        </p:txBody>
      </p:sp>
      <p:sp>
        <p:nvSpPr>
          <p:cNvPr id="30" name="Rectangle 29"/>
          <p:cNvSpPr/>
          <p:nvPr/>
        </p:nvSpPr>
        <p:spPr>
          <a:xfrm>
            <a:off x="502920" y="2953752"/>
            <a:ext cx="11185855" cy="4459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ectangle 30"/>
          <p:cNvSpPr/>
          <p:nvPr/>
        </p:nvSpPr>
        <p:spPr>
          <a:xfrm>
            <a:off x="502920" y="2953752"/>
            <a:ext cx="38100" cy="4459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ounded Rectangle 31"/>
          <p:cNvSpPr/>
          <p:nvPr/>
        </p:nvSpPr>
        <p:spPr>
          <a:xfrm>
            <a:off x="621792" y="3054336"/>
            <a:ext cx="292608"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D</a:t>
            </a:r>
          </a:p>
        </p:txBody>
      </p:sp>
      <p:sp>
        <p:nvSpPr>
          <p:cNvPr id="33" name="TextBox 32"/>
          <p:cNvSpPr txBox="1"/>
          <p:nvPr/>
        </p:nvSpPr>
        <p:spPr>
          <a:xfrm>
            <a:off x="962920" y="3017760"/>
            <a:ext cx="2500000" cy="355984"/>
          </a:xfrm>
          <a:prstGeom prst="rect">
            <a:avLst/>
          </a:prstGeom>
          <a:noFill/>
        </p:spPr>
        <p:txBody>
          <a:bodyPr wrap="square" anchor="t" lIns="0" rIns="0" tIns="0" bIns="0">
            <a:spAutoFit/>
          </a:bodyPr>
          <a:lstStyle/>
          <a:p>
            <a:pPr algn="l">
              <a:lnSpc>
                <a:spcPct val="92000"/>
              </a:lnSpc>
              <a:spcBef>
                <a:spcPts val="0"/>
              </a:spcBef>
              <a:spcAft>
                <a:spcPts val="0"/>
              </a:spcAft>
            </a:pPr>
            <a:r>
              <a:rPr sz="1150" b="1" i="0">
                <a:solidFill>
                  <a:srgbClr val="1F3864"/>
                </a:solidFill>
                <a:latin typeface="Calibri"/>
              </a:rPr>
              <a:t>Governance and traceability</a:t>
            </a:r>
          </a:p>
        </p:txBody>
      </p:sp>
      <p:sp>
        <p:nvSpPr>
          <p:cNvPr id="34" name="TextBox 33"/>
          <p:cNvSpPr txBox="1"/>
          <p:nvPr/>
        </p:nvSpPr>
        <p:spPr>
          <a:xfrm>
            <a:off x="3522920" y="3017760"/>
            <a:ext cx="5300000" cy="355984"/>
          </a:xfrm>
          <a:prstGeom prst="rect">
            <a:avLst/>
          </a:prstGeom>
          <a:noFill/>
        </p:spPr>
        <p:txBody>
          <a:bodyPr wrap="square" anchor="t" lIns="0" rIns="0" tIns="0" bIns="0">
            <a:spAutoFit/>
          </a:bodyPr>
          <a:lstStyle/>
          <a:p>
            <a:pPr algn="l">
              <a:lnSpc>
                <a:spcPct val="95000"/>
              </a:lnSpc>
              <a:spcBef>
                <a:spcPts val="0"/>
              </a:spcBef>
              <a:spcAft>
                <a:spcPts val="0"/>
              </a:spcAft>
            </a:pPr>
            <a:r>
              <a:rPr sz="960" b="0" i="0">
                <a:solidFill>
                  <a:srgbClr val="262626"/>
                </a:solidFill>
                <a:latin typeface="Calibri"/>
              </a:rPr>
              <a:t>No review rule, no i* timeline, no task id in the trace, no record of unimplemented actions.</a:t>
            </a:r>
          </a:p>
        </p:txBody>
      </p:sp>
      <p:sp>
        <p:nvSpPr>
          <p:cNvPr id="35" name="Rounded Rectangle 34"/>
          <p:cNvSpPr/>
          <p:nvPr/>
        </p:nvSpPr>
        <p:spPr>
          <a:xfrm>
            <a:off x="8922920" y="3045192"/>
            <a:ext cx="590000" cy="265176"/>
          </a:xfrm>
          <a:prstGeom prst="roundRect">
            <a:avLst>
              <a:gd name="adj" fmla="val 25000"/>
            </a:avLst>
          </a:prstGeom>
          <a:solidFill>
            <a:srgbClr val="FFFFFF"/>
          </a:solidFill>
          <a:ln w="12700">
            <a:solidFill>
              <a:srgbClr val="2E74B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00" b="1" i="0">
                <a:solidFill>
                  <a:srgbClr val="2E74B5"/>
                </a:solidFill>
                <a:latin typeface="Calibri"/>
              </a:rPr>
              <a:t>4  items</a:t>
            </a:r>
          </a:p>
        </p:txBody>
      </p:sp>
      <p:sp>
        <p:nvSpPr>
          <p:cNvPr id="36" name="TextBox 35"/>
          <p:cNvSpPr txBox="1"/>
          <p:nvPr/>
        </p:nvSpPr>
        <p:spPr>
          <a:xfrm>
            <a:off x="9582920" y="3045192"/>
            <a:ext cx="2040000" cy="265176"/>
          </a:xfrm>
          <a:prstGeom prst="rect">
            <a:avLst/>
          </a:prstGeom>
          <a:noFill/>
        </p:spPr>
        <p:txBody>
          <a:bodyPr wrap="square" anchor="t" lIns="0" rIns="0" tIns="0" bIns="0">
            <a:spAutoFit/>
          </a:bodyPr>
          <a:lstStyle/>
          <a:p>
            <a:pPr algn="l">
              <a:spcBef>
                <a:spcPts val="0"/>
              </a:spcBef>
              <a:spcAft>
                <a:spcPts val="0"/>
              </a:spcAft>
            </a:pPr>
            <a:r>
              <a:rPr sz="860" b="1" i="0">
                <a:solidFill>
                  <a:srgbClr val="595959"/>
                </a:solidFill>
                <a:latin typeface="Calibri"/>
              </a:rPr>
              <a:t>P-03 09 12 14</a:t>
            </a:r>
          </a:p>
        </p:txBody>
      </p:sp>
      <p:sp>
        <p:nvSpPr>
          <p:cNvPr id="37" name="Rectangle 36"/>
          <p:cNvSpPr/>
          <p:nvPr/>
        </p:nvSpPr>
        <p:spPr>
          <a:xfrm>
            <a:off x="502920" y="3437752"/>
            <a:ext cx="11185855" cy="445900"/>
          </a:xfrm>
          <a:prstGeom prst="rect">
            <a:avLst/>
          </a:prstGeom>
          <a:solidFill>
            <a:srgbClr val="FDF6E7"/>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ectangle 37"/>
          <p:cNvSpPr/>
          <p:nvPr/>
        </p:nvSpPr>
        <p:spPr>
          <a:xfrm>
            <a:off x="502920" y="3437752"/>
            <a:ext cx="38100" cy="4459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621792" y="3538336"/>
            <a:ext cx="292608" cy="246888"/>
          </a:xfrm>
          <a:prstGeom prst="roundRect">
            <a:avLst>
              <a:gd name="adj" fmla="val 25000"/>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E</a:t>
            </a:r>
          </a:p>
        </p:txBody>
      </p:sp>
      <p:sp>
        <p:nvSpPr>
          <p:cNvPr id="40" name="TextBox 39"/>
          <p:cNvSpPr txBox="1"/>
          <p:nvPr/>
        </p:nvSpPr>
        <p:spPr>
          <a:xfrm>
            <a:off x="962920" y="3501760"/>
            <a:ext cx="2500000" cy="355984"/>
          </a:xfrm>
          <a:prstGeom prst="rect">
            <a:avLst/>
          </a:prstGeom>
          <a:noFill/>
        </p:spPr>
        <p:txBody>
          <a:bodyPr wrap="square" anchor="t" lIns="0" rIns="0" tIns="0" bIns="0">
            <a:spAutoFit/>
          </a:bodyPr>
          <a:lstStyle/>
          <a:p>
            <a:pPr algn="l">
              <a:lnSpc>
                <a:spcPct val="92000"/>
              </a:lnSpc>
              <a:spcBef>
                <a:spcPts val="0"/>
              </a:spcBef>
              <a:spcAft>
                <a:spcPts val="0"/>
              </a:spcAft>
            </a:pPr>
            <a:r>
              <a:rPr sz="1150" b="1" i="0">
                <a:solidFill>
                  <a:srgbClr val="1F3864"/>
                </a:solidFill>
                <a:latin typeface="Calibri"/>
              </a:rPr>
              <a:t>Not deliverable this release</a:t>
            </a:r>
          </a:p>
        </p:txBody>
      </p:sp>
      <p:sp>
        <p:nvSpPr>
          <p:cNvPr id="41" name="TextBox 40"/>
          <p:cNvSpPr txBox="1"/>
          <p:nvPr/>
        </p:nvSpPr>
        <p:spPr>
          <a:xfrm>
            <a:off x="3522920" y="3501760"/>
            <a:ext cx="5300000" cy="355984"/>
          </a:xfrm>
          <a:prstGeom prst="rect">
            <a:avLst/>
          </a:prstGeom>
          <a:noFill/>
        </p:spPr>
        <p:txBody>
          <a:bodyPr wrap="square" anchor="t" lIns="0" rIns="0" tIns="0" bIns="0">
            <a:spAutoFit/>
          </a:bodyPr>
          <a:lstStyle/>
          <a:p>
            <a:pPr algn="l">
              <a:lnSpc>
                <a:spcPct val="95000"/>
              </a:lnSpc>
              <a:spcBef>
                <a:spcPts val="0"/>
              </a:spcBef>
              <a:spcAft>
                <a:spcPts val="0"/>
              </a:spcAft>
            </a:pPr>
            <a:r>
              <a:rPr sz="960" b="0" i="0">
                <a:solidFill>
                  <a:srgbClr val="262626"/>
                </a:solidFill>
                <a:latin typeface="Calibri"/>
              </a:rPr>
              <a:t>Urgency rules and an automated RBAC regression suite.</a:t>
            </a:r>
          </a:p>
        </p:txBody>
      </p:sp>
      <p:sp>
        <p:nvSpPr>
          <p:cNvPr id="42" name="Rounded Rectangle 41"/>
          <p:cNvSpPr/>
          <p:nvPr/>
        </p:nvSpPr>
        <p:spPr>
          <a:xfrm>
            <a:off x="8922920" y="3529192"/>
            <a:ext cx="590000" cy="265176"/>
          </a:xfrm>
          <a:prstGeom prst="roundRect">
            <a:avLst>
              <a:gd name="adj" fmla="val 25000"/>
            </a:avLst>
          </a:prstGeom>
          <a:solidFill>
            <a:srgbClr val="FFFFFF"/>
          </a:solidFill>
          <a:ln w="12700">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00" b="1" i="0">
                <a:solidFill>
                  <a:srgbClr val="B26B00"/>
                </a:solidFill>
                <a:latin typeface="Calibri"/>
              </a:rPr>
              <a:t>2  items</a:t>
            </a:r>
          </a:p>
        </p:txBody>
      </p:sp>
      <p:sp>
        <p:nvSpPr>
          <p:cNvPr id="43" name="TextBox 42"/>
          <p:cNvSpPr txBox="1"/>
          <p:nvPr/>
        </p:nvSpPr>
        <p:spPr>
          <a:xfrm>
            <a:off x="9582920" y="3529192"/>
            <a:ext cx="2040000" cy="265176"/>
          </a:xfrm>
          <a:prstGeom prst="rect">
            <a:avLst/>
          </a:prstGeom>
          <a:noFill/>
        </p:spPr>
        <p:txBody>
          <a:bodyPr wrap="square" anchor="t" lIns="0" rIns="0" tIns="0" bIns="0">
            <a:spAutoFit/>
          </a:bodyPr>
          <a:lstStyle/>
          <a:p>
            <a:pPr algn="l">
              <a:spcBef>
                <a:spcPts val="0"/>
              </a:spcBef>
              <a:spcAft>
                <a:spcPts val="0"/>
              </a:spcAft>
            </a:pPr>
            <a:r>
              <a:rPr sz="860" b="1" i="0">
                <a:solidFill>
                  <a:srgbClr val="595959"/>
                </a:solidFill>
                <a:latin typeface="Calibri"/>
              </a:rPr>
              <a:t>P-10 11</a:t>
            </a:r>
          </a:p>
        </p:txBody>
      </p:sp>
      <p:sp>
        <p:nvSpPr>
          <p:cNvPr id="44" name="Rectangle 43"/>
          <p:cNvSpPr/>
          <p:nvPr/>
        </p:nvSpPr>
        <p:spPr>
          <a:xfrm>
            <a:off x="502920" y="3967472"/>
            <a:ext cx="11185855" cy="3383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TextBox 44"/>
          <p:cNvSpPr txBox="1"/>
          <p:nvPr/>
        </p:nvSpPr>
        <p:spPr>
          <a:xfrm>
            <a:off x="640080" y="4022336"/>
            <a:ext cx="10911535" cy="228600"/>
          </a:xfrm>
          <a:prstGeom prst="rect">
            <a:avLst/>
          </a:prstGeom>
          <a:noFill/>
        </p:spPr>
        <p:txBody>
          <a:bodyPr wrap="square" anchor="t" lIns="0" rIns="0" tIns="0" bIns="0">
            <a:spAutoFit/>
          </a:bodyPr>
          <a:lstStyle/>
          <a:p>
            <a:pPr algn="l">
              <a:lnSpc>
                <a:spcPct val="95000"/>
              </a:lnSpc>
              <a:spcBef>
                <a:spcPts val="0"/>
              </a:spcBef>
              <a:spcAft>
                <a:spcPts val="0"/>
              </a:spcAft>
            </a:pPr>
            <a:r>
              <a:rPr sz="1050" b="1" i="0">
                <a:solidFill>
                  <a:srgbClr val="FFFFFF"/>
                </a:solidFill>
                <a:latin typeface="Calibri"/>
              </a:rPr>
              <a:t>12 of 14 implemented   ·   2 not implemented, with the reason and the residual risk recorded   ·   the two are named on the next page and justified on page 14</a:t>
            </a:r>
          </a:p>
        </p:txBody>
      </p:sp>
      <p:sp>
        <p:nvSpPr>
          <p:cNvPr id="46" name="Rectangle 45"/>
          <p:cNvSpPr/>
          <p:nvPr/>
        </p:nvSpPr>
        <p:spPr>
          <a:xfrm>
            <a:off x="502920" y="4455800"/>
            <a:ext cx="5516727" cy="1740000"/>
          </a:xfrm>
          <a:prstGeom prst="rect">
            <a:avLst/>
          </a:prstGeom>
          <a:solidFill>
            <a:srgbClr val="FDF6E7"/>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Rectangle 46"/>
          <p:cNvSpPr/>
          <p:nvPr/>
        </p:nvSpPr>
        <p:spPr>
          <a:xfrm>
            <a:off x="502920" y="4455800"/>
            <a:ext cx="38100" cy="174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621792" y="4547240"/>
            <a:ext cx="5326532" cy="161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P-10  ·  urgency classification rules — not implemented</a:t>
            </a:r>
          </a:p>
          <a:p>
            <a:pPr algn="l">
              <a:lnSpc>
                <a:spcPct val="95000"/>
              </a:lnSpc>
              <a:spcBef>
                <a:spcPts val="0"/>
              </a:spcBef>
              <a:spcAft>
                <a:spcPts val="250"/>
              </a:spcAft>
            </a:pPr>
            <a:r>
              <a:rPr sz="880" b="1" i="0">
                <a:solidFill>
                  <a:srgbClr val="1F3864"/>
                </a:solidFill>
                <a:latin typeface="Calibri"/>
              </a:rPr>
              <a:t>–  Why it stopped here</a:t>
            </a:r>
          </a:p>
          <a:p>
            <a:pPr algn="l">
              <a:lnSpc>
                <a:spcPct val="95000"/>
              </a:lnSpc>
              <a:spcBef>
                <a:spcPts val="0"/>
              </a:spcBef>
              <a:spcAft>
                <a:spcPts val="250"/>
              </a:spcAft>
            </a:pPr>
            <a:r>
              <a:rPr sz="880" b="0" i="0">
                <a:solidFill>
                  <a:srgbClr val="262626"/>
                </a:solidFill>
                <a:latin typeface="Calibri"/>
              </a:rPr>
              <a:t>–  The case study says the hospital has not agreed a complete set of urgency rules, and the module team confirmed none would be issued before hand-in.</a:t>
            </a:r>
          </a:p>
          <a:p>
            <a:pPr algn="l">
              <a:lnSpc>
                <a:spcPct val="95000"/>
              </a:lnSpc>
              <a:spcBef>
                <a:spcPts val="0"/>
              </a:spcBef>
              <a:spcAft>
                <a:spcPts val="250"/>
              </a:spcAft>
            </a:pPr>
            <a:r>
              <a:rPr sz="880" b="1" i="0">
                <a:solidFill>
                  <a:srgbClr val="1F3864"/>
                </a:solidFill>
                <a:latin typeface="Calibri"/>
              </a:rPr>
              <a:t>–  What we did instead</a:t>
            </a:r>
          </a:p>
          <a:p>
            <a:pPr algn="l">
              <a:lnSpc>
                <a:spcPct val="95000"/>
              </a:lnSpc>
              <a:spcBef>
                <a:spcPts val="0"/>
              </a:spcBef>
              <a:spcAft>
                <a:spcPts val="250"/>
              </a:spcAft>
            </a:pPr>
            <a:r>
              <a:rPr sz="880" b="0" i="0">
                <a:solidFill>
                  <a:srgbClr val="262626"/>
                </a:solidFill>
                <a:latin typeface="Calibri"/>
              </a:rPr>
              <a:t>–  Urgency is modelled as a soft goal, not as a rule; the urgent-enquiry path stays discretionary.</a:t>
            </a:r>
          </a:p>
          <a:p>
            <a:pPr algn="l">
              <a:lnSpc>
                <a:spcPct val="95000"/>
              </a:lnSpc>
              <a:spcBef>
                <a:spcPts val="0"/>
              </a:spcBef>
              <a:spcAft>
                <a:spcPts val="250"/>
              </a:spcAft>
            </a:pPr>
            <a:r>
              <a:rPr sz="880" b="1" i="0">
                <a:solidFill>
                  <a:srgbClr val="1F3864"/>
                </a:solidFill>
                <a:latin typeface="Calibri"/>
              </a:rPr>
              <a:t>–  Residual risk</a:t>
            </a:r>
          </a:p>
          <a:p>
            <a:pPr algn="l">
              <a:lnSpc>
                <a:spcPct val="95000"/>
              </a:lnSpc>
              <a:spcBef>
                <a:spcPts val="0"/>
              </a:spcBef>
              <a:spcAft>
                <a:spcPts val="250"/>
              </a:spcAft>
            </a:pPr>
            <a:r>
              <a:rPr sz="880" b="0" i="0">
                <a:solidFill>
                  <a:srgbClr val="262626"/>
                </a:solidFill>
                <a:latin typeface="Calibri"/>
              </a:rPr>
              <a:t>–  Two patients with the same presentation could be triaged differently. An urgency-rules decision is a second-release Must.</a:t>
            </a:r>
          </a:p>
        </p:txBody>
      </p:sp>
      <p:sp>
        <p:nvSpPr>
          <p:cNvPr id="49" name="Rectangle 48"/>
          <p:cNvSpPr/>
          <p:nvPr/>
        </p:nvSpPr>
        <p:spPr>
          <a:xfrm>
            <a:off x="6172047" y="4455800"/>
            <a:ext cx="5516727" cy="1740000"/>
          </a:xfrm>
          <a:prstGeom prst="rect">
            <a:avLst/>
          </a:prstGeom>
          <a:solidFill>
            <a:srgbClr val="FDF6E7"/>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Rectangle 49"/>
          <p:cNvSpPr/>
          <p:nvPr/>
        </p:nvSpPr>
        <p:spPr>
          <a:xfrm>
            <a:off x="6172047" y="4455800"/>
            <a:ext cx="38100" cy="174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TextBox 50"/>
          <p:cNvSpPr txBox="1"/>
          <p:nvPr/>
        </p:nvSpPr>
        <p:spPr>
          <a:xfrm>
            <a:off x="6290919" y="4547240"/>
            <a:ext cx="5326532" cy="161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P-11  ·  automated RBAC regression — not implemented</a:t>
            </a:r>
          </a:p>
          <a:p>
            <a:pPr algn="l">
              <a:lnSpc>
                <a:spcPct val="95000"/>
              </a:lnSpc>
              <a:spcBef>
                <a:spcPts val="0"/>
              </a:spcBef>
              <a:spcAft>
                <a:spcPts val="250"/>
              </a:spcAft>
            </a:pPr>
            <a:r>
              <a:rPr sz="880" b="1" i="0">
                <a:solidFill>
                  <a:srgbClr val="1F3864"/>
                </a:solidFill>
                <a:latin typeface="Calibri"/>
              </a:rPr>
              <a:t>–  Why it stopped here</a:t>
            </a:r>
          </a:p>
          <a:p>
            <a:pPr algn="l">
              <a:lnSpc>
                <a:spcPct val="95000"/>
              </a:lnSpc>
              <a:spcBef>
                <a:spcPts val="0"/>
              </a:spcBef>
              <a:spcAft>
                <a:spcPts val="250"/>
              </a:spcAft>
            </a:pPr>
            <a:r>
              <a:rPr sz="880" b="0" i="0">
                <a:solidFill>
                  <a:srgbClr val="262626"/>
                </a:solidFill>
                <a:latin typeface="Calibri"/>
              </a:rPr>
              <a:t>–  Sprint 4 had no capacity left once the deployment defects and both evaluations were re-scoped.</a:t>
            </a:r>
          </a:p>
          <a:p>
            <a:pPr algn="l">
              <a:lnSpc>
                <a:spcPct val="95000"/>
              </a:lnSpc>
              <a:spcBef>
                <a:spcPts val="0"/>
              </a:spcBef>
              <a:spcAft>
                <a:spcPts val="250"/>
              </a:spcAft>
            </a:pPr>
            <a:r>
              <a:rPr sz="880" b="1" i="0">
                <a:solidFill>
                  <a:srgbClr val="1F3864"/>
                </a:solidFill>
                <a:latin typeface="Calibri"/>
              </a:rPr>
              <a:t>–  What we did instead</a:t>
            </a:r>
          </a:p>
          <a:p>
            <a:pPr algn="l">
              <a:lnSpc>
                <a:spcPct val="95000"/>
              </a:lnSpc>
              <a:spcBef>
                <a:spcPts val="0"/>
              </a:spcBef>
              <a:spcAft>
                <a:spcPts val="250"/>
              </a:spcAft>
            </a:pPr>
            <a:r>
              <a:rPr sz="880" b="0" i="0">
                <a:solidFill>
                  <a:srgbClr val="262626"/>
                </a:solidFill>
                <a:latin typeface="Calibri"/>
              </a:rPr>
              <a:t>–  RBAC is evidenced by a live two-role check (0 against 785, 0 failures) and by design inspection.</a:t>
            </a:r>
          </a:p>
          <a:p>
            <a:pPr algn="l">
              <a:lnSpc>
                <a:spcPct val="95000"/>
              </a:lnSpc>
              <a:spcBef>
                <a:spcPts val="0"/>
              </a:spcBef>
              <a:spcAft>
                <a:spcPts val="250"/>
              </a:spcAft>
            </a:pPr>
            <a:r>
              <a:rPr sz="880" b="1" i="0">
                <a:solidFill>
                  <a:srgbClr val="1F3864"/>
                </a:solidFill>
                <a:latin typeface="Calibri"/>
              </a:rPr>
              <a:t>–  Residual risk</a:t>
            </a:r>
          </a:p>
          <a:p>
            <a:pPr algn="l">
              <a:lnSpc>
                <a:spcPct val="95000"/>
              </a:lnSpc>
              <a:spcBef>
                <a:spcPts val="0"/>
              </a:spcBef>
              <a:spcAft>
                <a:spcPts val="250"/>
              </a:spcAft>
            </a:pPr>
            <a:r>
              <a:rPr sz="880" b="0" i="0">
                <a:solidFill>
                  <a:srgbClr val="262626"/>
                </a:solidFill>
                <a:latin typeface="Calibri"/>
              </a:rPr>
              <a:t>–  A regression could silently reopen a role. It is the one gap we have fixed but cannot auto-prove; a regression suite is a second-release Should.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RESPONSE TO FEEDBACK  ·  TRACEABILITY</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Feedback to decision to action to evidence to outcome — all fourteen rows</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henry</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Two rows are not implemented. They are marked, not omitted.</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5</a:t>
            </a:r>
          </a:p>
        </p:txBody>
      </p:sp>
      <p:graphicFrame>
        <p:nvGraphicFramePr>
          <p:cNvPr id="9" name="Table 8"/>
          <p:cNvGraphicFramePr>
            <a:graphicFrameLocks noGrp="1"/>
          </p:cNvGraphicFramePr>
          <p:nvPr/>
        </p:nvGraphicFramePr>
        <p:xfrm>
          <a:off x="502920" y="1459752"/>
          <a:ext cx="11185853" cy="4440000"/>
        </p:xfrm>
        <a:graphic>
          <a:graphicData uri="http://schemas.openxmlformats.org/drawingml/2006/table">
            <a:tbl>
              <a:tblPr firstRow="1" bandRow="1">
                <a:tableStyleId>{2D5ABB26-0587-4C30-8999-92F81FD0307C}</a:tableStyleId>
              </a:tblPr>
              <a:tblGrid>
                <a:gridCol w="713501"/>
                <a:gridCol w="2934560"/>
                <a:gridCol w="3625045"/>
                <a:gridCol w="2704399"/>
                <a:gridCol w="1208348"/>
              </a:tblGrid>
              <a:tr h="296000">
                <a:tc>
                  <a:txBody>
                    <a:bodyPr wrap="square"/>
                    <a:lstStyle/>
                    <a:p>
                      <a:pPr algn="l">
                        <a:lnSpc>
                          <a:spcPct val="92000"/>
                        </a:lnSpc>
                      </a:pPr>
                      <a:r>
                        <a:rPr sz="880" b="1">
                          <a:solidFill>
                            <a:srgbClr val="FFFFFF"/>
                          </a:solidFill>
                          <a:latin typeface="Calibri"/>
                        </a:rPr>
                        <a:t>ID</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Feedback</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Decision</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Evidence</a:t>
                      </a:r>
                    </a:p>
                  </a:txBody>
                  <a:tcPr marL="64008" marR="54864" marT="22860" marB="22860" anchor="ctr">
                    <a:solidFill>
                      <a:srgbClr val="2E74B5"/>
                    </a:solidFill>
                  </a:tcPr>
                </a:tc>
                <a:tc>
                  <a:txBody>
                    <a:bodyPr wrap="square"/>
                    <a:lstStyle/>
                    <a:p>
                      <a:pPr algn="ctr">
                        <a:lnSpc>
                          <a:spcPct val="92000"/>
                        </a:lnSpc>
                      </a:pPr>
                      <a:r>
                        <a:rPr sz="880" b="1">
                          <a:solidFill>
                            <a:srgbClr val="FFFFFF"/>
                          </a:solidFill>
                          <a:latin typeface="Calibri"/>
                        </a:rPr>
                        <a:t>Outcome</a:t>
                      </a:r>
                    </a:p>
                  </a:txBody>
                  <a:tcPr marL="64008" marR="54864" marT="22860" marB="22860" anchor="ctr">
                    <a:solidFill>
                      <a:srgbClr val="2E74B5"/>
                    </a:solidFill>
                  </a:tcPr>
                </a:tc>
              </a:tr>
              <a:tr h="296000">
                <a:tc>
                  <a:txBody>
                    <a:bodyPr wrap="square"/>
                    <a:lstStyle/>
                    <a:p>
                      <a:pPr algn="l">
                        <a:lnSpc>
                          <a:spcPct val="92000"/>
                        </a:lnSpc>
                      </a:pPr>
                      <a:r>
                        <a:rPr sz="819" b="0">
                          <a:solidFill>
                            <a:srgbClr val="262626"/>
                          </a:solidFill>
                          <a:latin typeface="Calibri"/>
                        </a:rPr>
                        <a:t>P-01</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No path when the external service is unavailable</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Add a pending-booking path with a recorded retry</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T_KeepPending · TC-11</a:t>
                      </a:r>
                    </a:p>
                  </a:txBody>
                  <a:tcPr marL="64008" marR="54864" marT="22860" marB="22860" anchor="ctr">
                    <a:solidFill>
                      <a:srgbClr val="FFFFFF"/>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FFFFFF"/>
                    </a:solidFill>
                  </a:tcPr>
                </a:tc>
              </a:tr>
              <a:tr h="296000">
                <a:tc>
                  <a:txBody>
                    <a:bodyPr wrap="square"/>
                    <a:lstStyle/>
                    <a:p>
                      <a:pPr algn="l">
                        <a:lnSpc>
                          <a:spcPct val="92000"/>
                        </a:lnSpc>
                      </a:pPr>
                      <a:r>
                        <a:rPr sz="819" b="0">
                          <a:solidFill>
                            <a:srgbClr val="262626"/>
                          </a:solidFill>
                          <a:latin typeface="Calibri"/>
                        </a:rPr>
                        <a:t>P-02</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Criteria must be measurable</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Rewrite with a measurement method; keep the original wording</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28 revised criteria · Task 04</a:t>
                      </a:r>
                    </a:p>
                  </a:txBody>
                  <a:tcPr marL="64008" marR="54864" marT="22860" marB="22860" anchor="ctr">
                    <a:solidFill>
                      <a:srgbClr val="EEF2F7"/>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EEF2F7"/>
                    </a:solidFill>
                  </a:tcPr>
                </a:tc>
              </a:tr>
              <a:tr h="296000">
                <a:tc>
                  <a:txBody>
                    <a:bodyPr wrap="square"/>
                    <a:lstStyle/>
                    <a:p>
                      <a:pPr algn="l">
                        <a:lnSpc>
                          <a:spcPct val="92000"/>
                        </a:lnSpc>
                      </a:pPr>
                      <a:r>
                        <a:rPr sz="819" b="0">
                          <a:solidFill>
                            <a:srgbClr val="262626"/>
                          </a:solidFill>
                          <a:latin typeface="Calibri"/>
                        </a:rPr>
                        <a:t>P-03</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No review rule in the repository</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Protect main; record contribution evidence</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git log · contribution matrix</a:t>
                      </a:r>
                    </a:p>
                  </a:txBody>
                  <a:tcPr marL="64008" marR="54864" marT="22860" marB="22860" anchor="ctr">
                    <a:solidFill>
                      <a:srgbClr val="FFFFFF"/>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FFFFFF"/>
                    </a:solidFill>
                  </a:tcPr>
                </a:tc>
              </a:tr>
              <a:tr h="296000">
                <a:tc>
                  <a:txBody>
                    <a:bodyPr wrap="square"/>
                    <a:lstStyle/>
                    <a:p>
                      <a:pPr algn="l">
                        <a:lnSpc>
                          <a:spcPct val="92000"/>
                        </a:lnSpc>
                      </a:pPr>
                      <a:r>
                        <a:rPr sz="819" b="0">
                          <a:solidFill>
                            <a:srgbClr val="262626"/>
                          </a:solidFill>
                          <a:latin typeface="Calibri"/>
                        </a:rPr>
                        <a:t>P-04</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Claims unsupported by the case study</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Add a source column to assumptions and re-check requirements</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assumption-register.md</a:t>
                      </a:r>
                    </a:p>
                  </a:txBody>
                  <a:tcPr marL="64008" marR="54864" marT="22860" marB="22860" anchor="ctr">
                    <a:solidFill>
                      <a:srgbClr val="EEF2F7"/>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EEF2F7"/>
                    </a:solidFill>
                  </a:tcPr>
                </a:tc>
              </a:tr>
              <a:tr h="296000">
                <a:tc>
                  <a:txBody>
                    <a:bodyPr wrap="square"/>
                    <a:lstStyle/>
                    <a:p>
                      <a:pPr algn="l">
                        <a:lnSpc>
                          <a:spcPct val="92000"/>
                        </a:lnSpc>
                      </a:pPr>
                      <a:r>
                        <a:rPr sz="819" b="0">
                          <a:solidFill>
                            <a:srgbClr val="262626"/>
                          </a:solidFill>
                          <a:latin typeface="Calibri"/>
                        </a:rPr>
                        <a:t>P-05</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SR model must be defensible branch by branch</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Complete SR coverage; urgency as a soft goal</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SR v1.0 · 61 elements</a:t>
                      </a:r>
                    </a:p>
                  </a:txBody>
                  <a:tcPr marL="64008" marR="54864" marT="22860" marB="22860" anchor="ctr">
                    <a:solidFill>
                      <a:srgbClr val="FFFFFF"/>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FFFFFF"/>
                    </a:solidFill>
                  </a:tcPr>
                </a:tc>
              </a:tr>
              <a:tr h="296000">
                <a:tc>
                  <a:txBody>
                    <a:bodyPr wrap="square"/>
                    <a:lstStyle/>
                    <a:p>
                      <a:pPr algn="l">
                        <a:lnSpc>
                          <a:spcPct val="92000"/>
                        </a:lnSpc>
                      </a:pPr>
                      <a:r>
                        <a:rPr sz="819" b="0">
                          <a:solidFill>
                            <a:srgbClr val="262626"/>
                          </a:solidFill>
                          <a:latin typeface="Calibri"/>
                        </a:rPr>
                        <a:t>P-06</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Prove the criteria are measurable</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Measurement method plus a coverage map</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28 criteria · 18 cases</a:t>
                      </a:r>
                    </a:p>
                  </a:txBody>
                  <a:tcPr marL="64008" marR="54864" marT="22860" marB="22860" anchor="ctr">
                    <a:solidFill>
                      <a:srgbClr val="EEF2F7"/>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EEF2F7"/>
                    </a:solidFill>
                  </a:tcPr>
                </a:tc>
              </a:tr>
              <a:tr h="296000">
                <a:tc>
                  <a:txBody>
                    <a:bodyPr wrap="square"/>
                    <a:lstStyle/>
                    <a:p>
                      <a:pPr algn="l">
                        <a:lnSpc>
                          <a:spcPct val="92000"/>
                        </a:lnSpc>
                      </a:pPr>
                      <a:r>
                        <a:rPr sz="819" b="0">
                          <a:solidFill>
                            <a:srgbClr val="262626"/>
                          </a:solidFill>
                          <a:latin typeface="Calibri"/>
                        </a:rPr>
                        <a:t>P-07</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Pool names do not match process names</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Rebuild as one model family, single participant register</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4 models · validator clean</a:t>
                      </a:r>
                    </a:p>
                  </a:txBody>
                  <a:tcPr marL="64008" marR="54864" marT="22860" marB="22860" anchor="ctr">
                    <a:solidFill>
                      <a:srgbClr val="FFFFFF"/>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FFFFFF"/>
                    </a:solidFill>
                  </a:tcPr>
                </a:tc>
              </a:tr>
              <a:tr h="296000">
                <a:tc>
                  <a:txBody>
                    <a:bodyPr wrap="square"/>
                    <a:lstStyle/>
                    <a:p>
                      <a:pPr algn="l">
                        <a:lnSpc>
                          <a:spcPct val="92000"/>
                        </a:lnSpc>
                      </a:pPr>
                      <a:r>
                        <a:rPr sz="819" b="0">
                          <a:solidFill>
                            <a:srgbClr val="262626"/>
                          </a:solidFill>
                          <a:latin typeface="Calibri"/>
                        </a:rPr>
                        <a:t>P-08</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Show the original defects are gone</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Publish a before/after validation comparison</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Appendix B · validation logs</a:t>
                      </a:r>
                    </a:p>
                  </a:txBody>
                  <a:tcPr marL="64008" marR="54864" marT="22860" marB="22860" anchor="ctr">
                    <a:solidFill>
                      <a:srgbClr val="EEF2F7"/>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EEF2F7"/>
                    </a:solidFill>
                  </a:tcPr>
                </a:tc>
              </a:tr>
              <a:tr h="296000">
                <a:tc>
                  <a:txBody>
                    <a:bodyPr wrap="square"/>
                    <a:lstStyle/>
                    <a:p>
                      <a:pPr algn="l">
                        <a:lnSpc>
                          <a:spcPct val="92000"/>
                        </a:lnSpc>
                      </a:pPr>
                      <a:r>
                        <a:rPr sz="819" b="0">
                          <a:solidFill>
                            <a:srgbClr val="262626"/>
                          </a:solidFill>
                          <a:latin typeface="Calibri"/>
                        </a:rPr>
                        <a:t>P-09</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i* must not be claimed to have informed the design</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State the timeline wherever i* is used</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Task 02 / 03 wording</a:t>
                      </a:r>
                    </a:p>
                  </a:txBody>
                  <a:tcPr marL="64008" marR="54864" marT="22860" marB="22860" anchor="ctr">
                    <a:solidFill>
                      <a:srgbClr val="FFFFFF"/>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FFFFFF"/>
                    </a:solidFill>
                  </a:tcPr>
                </a:tc>
              </a:tr>
              <a:tr h="296000">
                <a:tc>
                  <a:txBody>
                    <a:bodyPr wrap="square"/>
                    <a:lstStyle/>
                    <a:p>
                      <a:pPr algn="l">
                        <a:lnSpc>
                          <a:spcPct val="92000"/>
                        </a:lnSpc>
                      </a:pPr>
                      <a:r>
                        <a:rPr sz="819" b="0">
                          <a:solidFill>
                            <a:srgbClr val="262626"/>
                          </a:solidFill>
                          <a:latin typeface="Calibri"/>
                        </a:rPr>
                        <a:t>P-10</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Agree the urgency classification rules</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Ask the module team for the rule</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none — no rule issued</a:t>
                      </a:r>
                    </a:p>
                  </a:txBody>
                  <a:tcPr marL="64008" marR="54864" marT="22860" marB="22860" anchor="ctr">
                    <a:solidFill>
                      <a:srgbClr val="EEF2F7"/>
                    </a:solidFill>
                  </a:tcPr>
                </a:tc>
                <a:tc>
                  <a:txBody>
                    <a:bodyPr wrap="square"/>
                    <a:lstStyle/>
                    <a:p>
                      <a:pPr algn="ctr">
                        <a:lnSpc>
                          <a:spcPct val="92000"/>
                        </a:lnSpc>
                      </a:pPr>
                      <a:r>
                        <a:rPr sz="819" b="1">
                          <a:solidFill>
                            <a:srgbClr val="B03A2E"/>
                          </a:solidFill>
                          <a:latin typeface="Calibri"/>
                        </a:rPr>
                        <a:t>Not implemented</a:t>
                      </a:r>
                    </a:p>
                  </a:txBody>
                  <a:tcPr marL="64008" marR="54864" marT="22860" marB="22860" anchor="ctr">
                    <a:noFill/>
                  </a:tcPr>
                </a:tc>
              </a:tr>
              <a:tr h="296000">
                <a:tc>
                  <a:txBody>
                    <a:bodyPr wrap="square"/>
                    <a:lstStyle/>
                    <a:p>
                      <a:pPr algn="l">
                        <a:lnSpc>
                          <a:spcPct val="92000"/>
                        </a:lnSpc>
                      </a:pPr>
                      <a:r>
                        <a:rPr sz="819" b="0">
                          <a:solidFill>
                            <a:srgbClr val="262626"/>
                          </a:solidFill>
                          <a:latin typeface="Calibri"/>
                        </a:rPr>
                        <a:t>P-11</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Add automated RBAC regression tests</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Automate role and audit checks</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none — design inspection only</a:t>
                      </a:r>
                    </a:p>
                  </a:txBody>
                  <a:tcPr marL="64008" marR="54864" marT="22860" marB="22860" anchor="ctr">
                    <a:solidFill>
                      <a:srgbClr val="FFFFFF"/>
                    </a:solidFill>
                  </a:tcPr>
                </a:tc>
                <a:tc>
                  <a:txBody>
                    <a:bodyPr wrap="square"/>
                    <a:lstStyle/>
                    <a:p>
                      <a:pPr algn="ctr">
                        <a:lnSpc>
                          <a:spcPct val="92000"/>
                        </a:lnSpc>
                      </a:pPr>
                      <a:r>
                        <a:rPr sz="819" b="1">
                          <a:solidFill>
                            <a:srgbClr val="B03A2E"/>
                          </a:solidFill>
                          <a:latin typeface="Calibri"/>
                        </a:rPr>
                        <a:t>Not implemented</a:t>
                      </a:r>
                    </a:p>
                  </a:txBody>
                  <a:tcPr marL="64008" marR="54864" marT="22860" marB="22860" anchor="ctr">
                    <a:noFill/>
                  </a:tcPr>
                </a:tc>
              </a:tr>
              <a:tr h="296000">
                <a:tc>
                  <a:txBody>
                    <a:bodyPr wrap="square"/>
                    <a:lstStyle/>
                    <a:p>
                      <a:pPr algn="l">
                        <a:lnSpc>
                          <a:spcPct val="92000"/>
                        </a:lnSpc>
                      </a:pPr>
                      <a:r>
                        <a:rPr sz="819" b="0">
                          <a:solidFill>
                            <a:srgbClr val="262626"/>
                          </a:solidFill>
                          <a:latin typeface="Calibri"/>
                        </a:rPr>
                        <a:t>P-12</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Put the operational task id in the trace row</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Combine the strategic and operational columns</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Task 03 v2</a:t>
                      </a:r>
                    </a:p>
                  </a:txBody>
                  <a:tcPr marL="64008" marR="54864" marT="22860" marB="22860" anchor="ctr">
                    <a:solidFill>
                      <a:srgbClr val="EEF2F7"/>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EEF2F7"/>
                    </a:solidFill>
                  </a:tcPr>
                </a:tc>
              </a:tr>
              <a:tr h="296000">
                <a:tc>
                  <a:txBody>
                    <a:bodyPr wrap="square"/>
                    <a:lstStyle/>
                    <a:p>
                      <a:pPr algn="l">
                        <a:lnSpc>
                          <a:spcPct val="92000"/>
                        </a:lnSpc>
                      </a:pPr>
                      <a:r>
                        <a:rPr sz="819" b="0">
                          <a:solidFill>
                            <a:srgbClr val="262626"/>
                          </a:solidFill>
                          <a:latin typeface="Calibri"/>
                        </a:rPr>
                        <a:t>P-13</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Give a recommendation against each failure</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Add a recommendation per failure</a:t>
                      </a:r>
                    </a:p>
                  </a:txBody>
                  <a:tcPr marL="64008" marR="54864" marT="22860" marB="22860" anchor="ctr">
                    <a:solidFill>
                      <a:srgbClr val="FFFFFF"/>
                    </a:solidFill>
                  </a:tcPr>
                </a:tc>
                <a:tc>
                  <a:txBody>
                    <a:bodyPr wrap="square"/>
                    <a:lstStyle/>
                    <a:p>
                      <a:pPr algn="l">
                        <a:lnSpc>
                          <a:spcPct val="92000"/>
                        </a:lnSpc>
                      </a:pPr>
                      <a:r>
                        <a:rPr sz="819" b="0">
                          <a:solidFill>
                            <a:srgbClr val="262626"/>
                          </a:solidFill>
                          <a:latin typeface="Calibri"/>
                        </a:rPr>
                        <a:t>Task 04 §6</a:t>
                      </a:r>
                    </a:p>
                  </a:txBody>
                  <a:tcPr marL="64008" marR="54864" marT="22860" marB="22860" anchor="ctr">
                    <a:solidFill>
                      <a:srgbClr val="FFFFFF"/>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FFFFFF"/>
                    </a:solidFill>
                  </a:tcPr>
                </a:tc>
              </a:tr>
              <a:tr h="296000">
                <a:tc>
                  <a:txBody>
                    <a:bodyPr wrap="square"/>
                    <a:lstStyle/>
                    <a:p>
                      <a:pPr algn="l">
                        <a:lnSpc>
                          <a:spcPct val="92000"/>
                        </a:lnSpc>
                      </a:pPr>
                      <a:r>
                        <a:rPr sz="819" b="0">
                          <a:solidFill>
                            <a:srgbClr val="262626"/>
                          </a:solidFill>
                          <a:latin typeface="Calibri"/>
                        </a:rPr>
                        <a:t>P-14</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Record unimplemented actions with a reason</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Record reason and outstanding implication</a:t>
                      </a:r>
                    </a:p>
                  </a:txBody>
                  <a:tcPr marL="64008" marR="54864" marT="22860" marB="22860" anchor="ctr">
                    <a:solidFill>
                      <a:srgbClr val="EEF2F7"/>
                    </a:solidFill>
                  </a:tcPr>
                </a:tc>
                <a:tc>
                  <a:txBody>
                    <a:bodyPr wrap="square"/>
                    <a:lstStyle/>
                    <a:p>
                      <a:pPr algn="l">
                        <a:lnSpc>
                          <a:spcPct val="92000"/>
                        </a:lnSpc>
                      </a:pPr>
                      <a:r>
                        <a:rPr sz="819" b="0">
                          <a:solidFill>
                            <a:srgbClr val="262626"/>
                          </a:solidFill>
                          <a:latin typeface="Calibri"/>
                        </a:rPr>
                        <a:t>P-10, P-11</a:t>
                      </a:r>
                    </a:p>
                  </a:txBody>
                  <a:tcPr marL="64008" marR="54864" marT="22860" marB="22860" anchor="ctr">
                    <a:solidFill>
                      <a:srgbClr val="EEF2F7"/>
                    </a:solidFill>
                  </a:tcPr>
                </a:tc>
                <a:tc>
                  <a:txBody>
                    <a:bodyPr wrap="square"/>
                    <a:lstStyle/>
                    <a:p>
                      <a:pPr algn="ctr">
                        <a:lnSpc>
                          <a:spcPct val="92000"/>
                        </a:lnSpc>
                      </a:pPr>
                      <a:r>
                        <a:rPr sz="819" b="0">
                          <a:solidFill>
                            <a:srgbClr val="262626"/>
                          </a:solidFill>
                          <a:latin typeface="Calibri"/>
                        </a:rPr>
                        <a:t>Implemented</a:t>
                      </a:r>
                    </a:p>
                  </a:txBody>
                  <a:tcPr marL="64008" marR="54864" marT="22860" marB="22860" anchor="ctr">
                    <a:solidFill>
                      <a:srgbClr val="EEF2F7"/>
                    </a:solidFill>
                  </a:tcPr>
                </a:tc>
              </a:tr>
            </a:tbl>
          </a:graphicData>
        </a:graphic>
      </p:graphicFrame>
      <p:sp>
        <p:nvSpPr>
          <p:cNvPr id="10" name="TextBox 9"/>
          <p:cNvSpPr txBox="1"/>
          <p:nvPr/>
        </p:nvSpPr>
        <p:spPr>
          <a:xfrm>
            <a:off x="502920" y="5989752"/>
            <a:ext cx="11185855" cy="260000"/>
          </a:xfrm>
          <a:prstGeom prst="rect">
            <a:avLst/>
          </a:prstGeom>
          <a:noFill/>
        </p:spPr>
        <p:txBody>
          <a:bodyPr wrap="square" anchor="t" lIns="0" rIns="0" tIns="0" bIns="0">
            <a:spAutoFit/>
          </a:bodyPr>
          <a:lstStyle/>
          <a:p>
            <a:pPr algn="l">
              <a:lnSpc>
                <a:spcPct val="95000"/>
              </a:lnSpc>
              <a:spcBef>
                <a:spcPts val="0"/>
              </a:spcBef>
              <a:spcAft>
                <a:spcPts val="0"/>
              </a:spcAft>
            </a:pPr>
            <a:r>
              <a:rPr sz="860" b="0" i="0">
                <a:solidFill>
                  <a:srgbClr val="595959"/>
                </a:solidFill>
                <a:latin typeface="Calibri"/>
              </a:rPr>
              <a:t>P-01 to P-14 are this deck's own running numbers. The portfolio's feedback record numbers the same points in its own scheme; the substance, not the identifier, is what matches.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FURTHER DEVELOPMENT  ·  CHANGE 1 OF 5</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2300" b="1" i="0">
                <a:solidFill>
                  <a:srgbClr val="1F3864"/>
                </a:solidFill>
                <a:latin typeface="Calibri"/>
              </a:rPr>
              <a:t>Change 1 — two tasks were secretly parallel splits</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max</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BPMN reads two unconditional outgoing flows as a parallel split. So every refund case both refunded the payment and retained it.</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6</a:t>
            </a:r>
          </a:p>
        </p:txBody>
      </p:sp>
      <p:sp>
        <p:nvSpPr>
          <p:cNvPr id="9" name="Rectangle 8"/>
          <p:cNvSpPr/>
          <p:nvPr/>
        </p:nvSpPr>
        <p:spPr>
          <a:xfrm>
            <a:off x="502920" y="1501752"/>
            <a:ext cx="5523000" cy="1620000"/>
          </a:xfrm>
          <a:prstGeom prst="rect">
            <a:avLst/>
          </a:prstGeom>
          <a:solidFill>
            <a:srgbClr val="FDF1EF"/>
          </a:solidFill>
          <a:ln w="9525">
            <a:solidFill>
              <a:srgbClr val="E8C3B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621792" y="1570332"/>
            <a:ext cx="5285256" cy="228600"/>
          </a:xfrm>
          <a:prstGeom prst="rect">
            <a:avLst/>
          </a:prstGeom>
          <a:noFill/>
        </p:spPr>
        <p:txBody>
          <a:bodyPr wrap="square" anchor="t" lIns="0" rIns="0" tIns="0" bIns="0">
            <a:spAutoFit/>
          </a:bodyPr>
          <a:lstStyle/>
          <a:p>
            <a:pPr algn="l">
              <a:spcBef>
                <a:spcPts val="0"/>
              </a:spcBef>
              <a:spcAft>
                <a:spcPts val="0"/>
              </a:spcAft>
            </a:pPr>
            <a:r>
              <a:rPr sz="1050" b="1" i="0">
                <a:solidFill>
                  <a:srgbClr val="B03A2E"/>
                </a:solidFill>
                <a:latin typeface="Calibri"/>
              </a:rPr>
              <a:t>BEFORE  ·  initial release</a:t>
            </a:r>
          </a:p>
        </p:txBody>
      </p:sp>
      <p:sp>
        <p:nvSpPr>
          <p:cNvPr id="11" name="Rounded Rectangle 10"/>
          <p:cNvSpPr/>
          <p:nvPr/>
        </p:nvSpPr>
        <p:spPr>
          <a:xfrm>
            <a:off x="712920" y="1901752"/>
            <a:ext cx="1420000" cy="3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90000"/>
              </a:lnSpc>
              <a:spcBef>
                <a:spcPts val="0"/>
              </a:spcBef>
              <a:spcAft>
                <a:spcPts val="0"/>
              </a:spcAft>
            </a:pPr>
            <a:r>
              <a:rPr sz="819" b="1" i="0">
                <a:solidFill>
                  <a:srgbClr val="B03A2E"/>
                </a:solidFill>
                <a:latin typeface="Calibri"/>
              </a:rPr>
              <a:t>T_RefundDecision</a:t>
            </a:r>
          </a:p>
        </p:txBody>
      </p:sp>
      <p:sp>
        <p:nvSpPr>
          <p:cNvPr id="12" name="Rectangle 11"/>
          <p:cNvSpPr/>
          <p:nvPr/>
        </p:nvSpPr>
        <p:spPr>
          <a:xfrm>
            <a:off x="2132920" y="2061752"/>
            <a:ext cx="300000" cy="127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2422920" y="1991752"/>
            <a:ext cx="12700" cy="1550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2422920" y="1991752"/>
            <a:ext cx="1300000" cy="127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ectangle 14"/>
          <p:cNvSpPr/>
          <p:nvPr/>
        </p:nvSpPr>
        <p:spPr>
          <a:xfrm>
            <a:off x="2422920" y="2146752"/>
            <a:ext cx="1300000" cy="127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3722920" y="1801752"/>
            <a:ext cx="1700000" cy="29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90000"/>
              </a:lnSpc>
              <a:spcBef>
                <a:spcPts val="0"/>
              </a:spcBef>
              <a:spcAft>
                <a:spcPts val="0"/>
              </a:spcAft>
            </a:pPr>
            <a:r>
              <a:rPr sz="819" b="1" i="0">
                <a:solidFill>
                  <a:srgbClr val="B03A2E"/>
                </a:solidFill>
                <a:latin typeface="Calibri"/>
              </a:rPr>
              <a:t>refund the payment</a:t>
            </a:r>
          </a:p>
        </p:txBody>
      </p:sp>
      <p:sp>
        <p:nvSpPr>
          <p:cNvPr id="17" name="Rounded Rectangle 16"/>
          <p:cNvSpPr/>
          <p:nvPr/>
        </p:nvSpPr>
        <p:spPr>
          <a:xfrm>
            <a:off x="3722920" y="2096752"/>
            <a:ext cx="1700000" cy="29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90000"/>
              </a:lnSpc>
              <a:spcBef>
                <a:spcPts val="0"/>
              </a:spcBef>
              <a:spcAft>
                <a:spcPts val="0"/>
              </a:spcAft>
            </a:pPr>
            <a:r>
              <a:rPr sz="819" b="1" i="0">
                <a:solidFill>
                  <a:srgbClr val="B03A2E"/>
                </a:solidFill>
                <a:latin typeface="Calibri"/>
              </a:rPr>
              <a:t>retain the payment</a:t>
            </a:r>
          </a:p>
        </p:txBody>
      </p:sp>
      <p:sp>
        <p:nvSpPr>
          <p:cNvPr id="18" name="TextBox 17"/>
          <p:cNvSpPr txBox="1"/>
          <p:nvPr/>
        </p:nvSpPr>
        <p:spPr>
          <a:xfrm>
            <a:off x="2422920" y="2446752"/>
            <a:ext cx="3000000" cy="228600"/>
          </a:xfrm>
          <a:prstGeom prst="rect">
            <a:avLst/>
          </a:prstGeom>
          <a:noFill/>
        </p:spPr>
        <p:txBody>
          <a:bodyPr wrap="square" anchor="t" lIns="0" rIns="0" tIns="0" bIns="0">
            <a:spAutoFit/>
          </a:bodyPr>
          <a:lstStyle/>
          <a:p>
            <a:pPr algn="l">
              <a:spcBef>
                <a:spcPts val="0"/>
              </a:spcBef>
              <a:spcAft>
                <a:spcPts val="0"/>
              </a:spcAft>
            </a:pPr>
            <a:r>
              <a:rPr sz="880" b="1" i="0">
                <a:solidFill>
                  <a:srgbClr val="B03A2E"/>
                </a:solidFill>
                <a:latin typeface="Calibri"/>
              </a:rPr>
              <a:t>no gateway → both branches always run</a:t>
            </a:r>
          </a:p>
        </p:txBody>
      </p:sp>
      <p:sp>
        <p:nvSpPr>
          <p:cNvPr id="19" name="Rectangle 18"/>
          <p:cNvSpPr/>
          <p:nvPr/>
        </p:nvSpPr>
        <p:spPr>
          <a:xfrm>
            <a:off x="6178320" y="1501752"/>
            <a:ext cx="5523000" cy="1620000"/>
          </a:xfrm>
          <a:prstGeom prst="rect">
            <a:avLst/>
          </a:prstGeom>
          <a:solidFill>
            <a:srgbClr val="EFF6EF"/>
          </a:solidFill>
          <a:ln w="9525">
            <a:solidFill>
              <a:srgbClr val="BFD8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6297192" y="1570332"/>
            <a:ext cx="5285256" cy="228600"/>
          </a:xfrm>
          <a:prstGeom prst="rect">
            <a:avLst/>
          </a:prstGeom>
          <a:noFill/>
        </p:spPr>
        <p:txBody>
          <a:bodyPr wrap="square" anchor="t" lIns="0" rIns="0" tIns="0" bIns="0">
            <a:spAutoFit/>
          </a:bodyPr>
          <a:lstStyle/>
          <a:p>
            <a:pPr algn="l">
              <a:spcBef>
                <a:spcPts val="0"/>
              </a:spcBef>
              <a:spcAft>
                <a:spcPts val="0"/>
              </a:spcAft>
            </a:pPr>
            <a:r>
              <a:rPr sz="1050" b="1" i="0">
                <a:solidFill>
                  <a:srgbClr val="2E7D32"/>
                </a:solidFill>
                <a:latin typeface="Calibri"/>
              </a:rPr>
              <a:t>AFTER  ·  second release</a:t>
            </a:r>
          </a:p>
        </p:txBody>
      </p:sp>
      <p:sp>
        <p:nvSpPr>
          <p:cNvPr id="21" name="Rounded Rectangle 20"/>
          <p:cNvSpPr/>
          <p:nvPr/>
        </p:nvSpPr>
        <p:spPr>
          <a:xfrm>
            <a:off x="6378320" y="1901752"/>
            <a:ext cx="1420000" cy="32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90000"/>
              </a:lnSpc>
              <a:spcBef>
                <a:spcPts val="0"/>
              </a:spcBef>
              <a:spcAft>
                <a:spcPts val="0"/>
              </a:spcAft>
            </a:pPr>
            <a:r>
              <a:rPr sz="819" b="1" i="0">
                <a:solidFill>
                  <a:srgbClr val="2E7D32"/>
                </a:solidFill>
                <a:latin typeface="Calibri"/>
              </a:rPr>
              <a:t>T_RefundDecision</a:t>
            </a:r>
          </a:p>
        </p:txBody>
      </p:sp>
      <p:sp>
        <p:nvSpPr>
          <p:cNvPr id="22" name="Rectangle 21"/>
          <p:cNvSpPr/>
          <p:nvPr/>
        </p:nvSpPr>
        <p:spPr>
          <a:xfrm>
            <a:off x="7798320" y="2061752"/>
            <a:ext cx="230000" cy="127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Diamond 22"/>
          <p:cNvSpPr/>
          <p:nvPr/>
        </p:nvSpPr>
        <p:spPr>
          <a:xfrm>
            <a:off x="8028320" y="1896752"/>
            <a:ext cx="330000" cy="330000"/>
          </a:xfrm>
          <a:prstGeom prst="diamond">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8358320" y="2061752"/>
            <a:ext cx="220000" cy="127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ectangle 24"/>
          <p:cNvSpPr/>
          <p:nvPr/>
        </p:nvSpPr>
        <p:spPr>
          <a:xfrm>
            <a:off x="8568320" y="1976752"/>
            <a:ext cx="12700" cy="17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8568320" y="1976752"/>
            <a:ext cx="1450000" cy="127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Rectangle 26"/>
          <p:cNvSpPr/>
          <p:nvPr/>
        </p:nvSpPr>
        <p:spPr>
          <a:xfrm>
            <a:off x="8568320" y="2146752"/>
            <a:ext cx="1450000" cy="127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ounded Rectangle 27"/>
          <p:cNvSpPr/>
          <p:nvPr/>
        </p:nvSpPr>
        <p:spPr>
          <a:xfrm>
            <a:off x="10018320" y="1786752"/>
            <a:ext cx="1700000" cy="29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90000"/>
              </a:lnSpc>
              <a:spcBef>
                <a:spcPts val="0"/>
              </a:spcBef>
              <a:spcAft>
                <a:spcPts val="0"/>
              </a:spcAft>
            </a:pPr>
            <a:r>
              <a:rPr sz="800" b="1" i="0">
                <a:solidFill>
                  <a:srgbClr val="2E7D32"/>
                </a:solidFill>
                <a:latin typeface="Calibri"/>
              </a:rPr>
              <a:t>refund  = "refunded"</a:t>
            </a:r>
          </a:p>
        </p:txBody>
      </p:sp>
      <p:sp>
        <p:nvSpPr>
          <p:cNvPr id="29" name="Rounded Rectangle 28"/>
          <p:cNvSpPr/>
          <p:nvPr/>
        </p:nvSpPr>
        <p:spPr>
          <a:xfrm>
            <a:off x="10018320" y="2091752"/>
            <a:ext cx="1700000" cy="29000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90000"/>
              </a:lnSpc>
              <a:spcBef>
                <a:spcPts val="0"/>
              </a:spcBef>
              <a:spcAft>
                <a:spcPts val="0"/>
              </a:spcAft>
            </a:pPr>
            <a:r>
              <a:rPr sz="800" b="1" i="0">
                <a:solidFill>
                  <a:srgbClr val="2E7D32"/>
                </a:solidFill>
                <a:latin typeface="Calibri"/>
              </a:rPr>
              <a:t>retain  (default)</a:t>
            </a:r>
          </a:p>
        </p:txBody>
      </p:sp>
      <p:sp>
        <p:nvSpPr>
          <p:cNvPr id="30" name="TextBox 29"/>
          <p:cNvSpPr txBox="1"/>
          <p:nvPr/>
        </p:nvSpPr>
        <p:spPr>
          <a:xfrm>
            <a:off x="8568320" y="2446752"/>
            <a:ext cx="3000000" cy="228600"/>
          </a:xfrm>
          <a:prstGeom prst="rect">
            <a:avLst/>
          </a:prstGeom>
          <a:noFill/>
        </p:spPr>
        <p:txBody>
          <a:bodyPr wrap="square" anchor="t" lIns="0" rIns="0" tIns="0" bIns="0">
            <a:spAutoFit/>
          </a:bodyPr>
          <a:lstStyle/>
          <a:p>
            <a:pPr algn="l">
              <a:spcBef>
                <a:spcPts val="0"/>
              </a:spcBef>
              <a:spcAft>
                <a:spcPts val="0"/>
              </a:spcAft>
            </a:pPr>
            <a:r>
              <a:rPr sz="880" b="1" i="0">
                <a:solidFill>
                  <a:srgbClr val="2E7D32"/>
                </a:solidFill>
                <a:latin typeface="Calibri"/>
              </a:rPr>
              <a:t>explicit gateway → exactly one branch</a:t>
            </a:r>
          </a:p>
        </p:txBody>
      </p:sp>
      <p:sp>
        <p:nvSpPr>
          <p:cNvPr id="31" name="Rectangle 30"/>
          <p:cNvSpPr/>
          <p:nvPr/>
        </p:nvSpPr>
        <p:spPr>
          <a:xfrm>
            <a:off x="502920" y="3286344"/>
            <a:ext cx="2617471" cy="85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594360" y="3354924"/>
            <a:ext cx="2434591" cy="7128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3</a:t>
            </a:r>
          </a:p>
          <a:p>
            <a:pPr algn="ctr">
              <a:lnSpc>
                <a:spcPct val="95000"/>
              </a:lnSpc>
              <a:spcBef>
                <a:spcPts val="200"/>
              </a:spcBef>
              <a:spcAft>
                <a:spcPts val="0"/>
              </a:spcAft>
            </a:pPr>
            <a:r>
              <a:rPr sz="880" b="1" i="0">
                <a:solidFill>
                  <a:srgbClr val="1F3864"/>
                </a:solidFill>
                <a:latin typeface="Calibri"/>
              </a:rPr>
              <a:t>instances of the same defect
found in the model family</a:t>
            </a:r>
          </a:p>
        </p:txBody>
      </p:sp>
      <p:sp>
        <p:nvSpPr>
          <p:cNvPr id="33" name="Rectangle 32"/>
          <p:cNvSpPr/>
          <p:nvPr/>
        </p:nvSpPr>
        <p:spPr>
          <a:xfrm>
            <a:off x="3241423" y="3286344"/>
            <a:ext cx="2617471" cy="85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3332863" y="3354924"/>
            <a:ext cx="2434591" cy="7128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2</a:t>
            </a:r>
          </a:p>
          <a:p>
            <a:pPr algn="ctr">
              <a:lnSpc>
                <a:spcPct val="95000"/>
              </a:lnSpc>
              <a:spcBef>
                <a:spcPts val="200"/>
              </a:spcBef>
              <a:spcAft>
                <a:spcPts val="0"/>
              </a:spcAft>
            </a:pPr>
            <a:r>
              <a:rPr sz="880" b="1" i="0">
                <a:solidFill>
                  <a:srgbClr val="1F3864"/>
                </a:solidFill>
                <a:latin typeface="Calibri"/>
              </a:rPr>
              <a:t>implicit AND-splits
replaced by explicit gateways</a:t>
            </a:r>
          </a:p>
        </p:txBody>
      </p:sp>
      <p:sp>
        <p:nvSpPr>
          <p:cNvPr id="35" name="Rectangle 34"/>
          <p:cNvSpPr/>
          <p:nvPr/>
        </p:nvSpPr>
        <p:spPr>
          <a:xfrm>
            <a:off x="5979926" y="3286344"/>
            <a:ext cx="2617471" cy="85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71366" y="3354924"/>
            <a:ext cx="2434591" cy="7128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0</a:t>
            </a:r>
          </a:p>
          <a:p>
            <a:pPr algn="ctr">
              <a:lnSpc>
                <a:spcPct val="95000"/>
              </a:lnSpc>
              <a:spcBef>
                <a:spcPts val="200"/>
              </a:spcBef>
              <a:spcAft>
                <a:spcPts val="0"/>
              </a:spcAft>
            </a:pPr>
            <a:r>
              <a:rPr sz="880" b="1" i="0">
                <a:solidFill>
                  <a:srgbClr val="1F3864"/>
                </a:solidFill>
                <a:latin typeface="Calibri"/>
              </a:rPr>
              <a:t>structural findings
across all four models</a:t>
            </a:r>
          </a:p>
        </p:txBody>
      </p:sp>
      <p:sp>
        <p:nvSpPr>
          <p:cNvPr id="37" name="Rectangle 36"/>
          <p:cNvSpPr/>
          <p:nvPr/>
        </p:nvSpPr>
        <p:spPr>
          <a:xfrm>
            <a:off x="8718429" y="3286344"/>
            <a:ext cx="2617471" cy="85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7"/>
          <p:cNvSpPr txBox="1"/>
          <p:nvPr/>
        </p:nvSpPr>
        <p:spPr>
          <a:xfrm>
            <a:off x="8809869" y="3354924"/>
            <a:ext cx="2434591" cy="7128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4</a:t>
            </a:r>
          </a:p>
          <a:p>
            <a:pPr algn="ctr">
              <a:lnSpc>
                <a:spcPct val="95000"/>
              </a:lnSpc>
              <a:spcBef>
                <a:spcPts val="200"/>
              </a:spcBef>
              <a:spcAft>
                <a:spcPts val="0"/>
              </a:spcAft>
            </a:pPr>
            <a:r>
              <a:rPr sz="880" b="1" i="0">
                <a:solidFill>
                  <a:srgbClr val="1F3864"/>
                </a:solidFill>
                <a:latin typeface="Calibri"/>
              </a:rPr>
              <a:t>models rebuilt on one
participant register</a:t>
            </a:r>
          </a:p>
        </p:txBody>
      </p:sp>
      <p:graphicFrame>
        <p:nvGraphicFramePr>
          <p:cNvPr id="39" name="Table 38"/>
          <p:cNvGraphicFramePr>
            <a:graphicFrameLocks noGrp="1"/>
          </p:cNvGraphicFramePr>
          <p:nvPr/>
        </p:nvGraphicFramePr>
        <p:xfrm>
          <a:off x="502920" y="4273504"/>
          <a:ext cx="11185852" cy="1560000"/>
        </p:xfrm>
        <a:graphic>
          <a:graphicData uri="http://schemas.openxmlformats.org/drawingml/2006/table">
            <a:tbl>
              <a:tblPr firstRow="1" bandRow="1">
                <a:tableStyleId>{2D5ABB26-0587-4C30-8999-92F81FD0307C}</a:tableStyleId>
              </a:tblPr>
              <a:tblGrid>
                <a:gridCol w="823201"/>
                <a:gridCol w="2275909"/>
                <a:gridCol w="4164430"/>
                <a:gridCol w="3922312"/>
              </a:tblGrid>
              <a:tr h="390000">
                <a:tc>
                  <a:txBody>
                    <a:bodyPr wrap="square"/>
                    <a:lstStyle/>
                    <a:p>
                      <a:pPr algn="l">
                        <a:lnSpc>
                          <a:spcPct val="92000"/>
                        </a:lnSpc>
                      </a:pPr>
                      <a:r>
                        <a:rPr sz="880" b="1">
                          <a:solidFill>
                            <a:srgbClr val="FFFFFF"/>
                          </a:solidFill>
                          <a:latin typeface="Calibri"/>
                        </a:rPr>
                        <a:t>Defect</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Model and element</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Before</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After</a:t>
                      </a:r>
                    </a:p>
                  </a:txBody>
                  <a:tcPr marL="64008" marR="54864" marT="22860" marB="22860" anchor="ctr">
                    <a:solidFill>
                      <a:srgbClr val="2E74B5"/>
                    </a:solidFill>
                  </a:tcPr>
                </a:tc>
              </a:tr>
              <a:tr h="390000">
                <a:tc>
                  <a:txBody>
                    <a:bodyPr wrap="square"/>
                    <a:lstStyle/>
                    <a:p>
                      <a:pPr algn="l">
                        <a:lnSpc>
                          <a:spcPct val="92000"/>
                        </a:lnSpc>
                      </a:pPr>
                      <a:r>
                        <a:rPr sz="860" b="0">
                          <a:solidFill>
                            <a:srgbClr val="262626"/>
                          </a:solidFill>
                          <a:latin typeface="Calibri"/>
                        </a:rPr>
                        <a:t>DEF-17</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S3  T_RefundDecision</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two unconditional outgoing flows → refunded and retained at once</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G_RefundDecision, refund branch conditional, retain is the default</a:t>
                      </a:r>
                    </a:p>
                  </a:txBody>
                  <a:tcPr marL="64008" marR="54864" marT="22860" marB="22860" anchor="ctr">
                    <a:solidFill>
                      <a:srgbClr val="FFFFFF"/>
                    </a:solidFill>
                  </a:tcPr>
                </a:tc>
              </a:tr>
              <a:tr h="390000">
                <a:tc>
                  <a:txBody>
                    <a:bodyPr wrap="square"/>
                    <a:lstStyle/>
                    <a:p>
                      <a:pPr algn="l">
                        <a:lnSpc>
                          <a:spcPct val="92000"/>
                        </a:lnSpc>
                      </a:pPr>
                      <a:r>
                        <a:rPr sz="860" b="0">
                          <a:solidFill>
                            <a:srgbClr val="262626"/>
                          </a:solidFill>
                          <a:latin typeface="Calibri"/>
                        </a:rPr>
                        <a:t>DEF-18</a:t>
                      </a:r>
                    </a:p>
                  </a:txBody>
                  <a:tcPr marL="64008" marR="54864" marT="22860" marB="22860" anchor="ctr">
                    <a:solidFill>
                      <a:srgbClr val="EEF2F7"/>
                    </a:solidFill>
                  </a:tcPr>
                </a:tc>
                <a:tc>
                  <a:txBody>
                    <a:bodyPr wrap="square"/>
                    <a:lstStyle/>
                    <a:p>
                      <a:pPr algn="l">
                        <a:lnSpc>
                          <a:spcPct val="92000"/>
                        </a:lnSpc>
                      </a:pPr>
                      <a:r>
                        <a:rPr sz="860" b="0">
                          <a:solidFill>
                            <a:srgbClr val="262626"/>
                          </a:solidFill>
                          <a:latin typeface="Calibri"/>
                        </a:rPr>
                        <a:t>O1 / S3  T_AuthoriseUrgentTreatment</a:t>
                      </a:r>
                    </a:p>
                  </a:txBody>
                  <a:tcPr marL="64008" marR="54864" marT="22860" marB="22860" anchor="ctr">
                    <a:solidFill>
                      <a:srgbClr val="EEF2F7"/>
                    </a:solidFill>
                  </a:tcPr>
                </a:tc>
                <a:tc>
                  <a:txBody>
                    <a:bodyPr wrap="square"/>
                    <a:lstStyle/>
                    <a:p>
                      <a:pPr algn="l">
                        <a:lnSpc>
                          <a:spcPct val="92000"/>
                        </a:lnSpc>
                      </a:pPr>
                      <a:r>
                        <a:rPr sz="860" b="0">
                          <a:solidFill>
                            <a:srgbClr val="262626"/>
                          </a:solidFill>
                          <a:latin typeface="Calibri"/>
                        </a:rPr>
                        <a:t>two unconditional flows → implicit AND-split</a:t>
                      </a:r>
                    </a:p>
                  </a:txBody>
                  <a:tcPr marL="64008" marR="54864" marT="22860" marB="22860" anchor="ctr">
                    <a:solidFill>
                      <a:srgbClr val="EEF2F7"/>
                    </a:solidFill>
                  </a:tcPr>
                </a:tc>
                <a:tc>
                  <a:txBody>
                    <a:bodyPr wrap="square"/>
                    <a:lstStyle/>
                    <a:p>
                      <a:pPr algn="l">
                        <a:lnSpc>
                          <a:spcPct val="92000"/>
                        </a:lnSpc>
                      </a:pPr>
                      <a:r>
                        <a:rPr sz="860" b="0">
                          <a:solidFill>
                            <a:srgbClr val="262626"/>
                          </a:solidFill>
                          <a:latin typeface="Calibri"/>
                        </a:rPr>
                        <a:t>G_UrgentTreatmentAuthorised, an explicit parallel gateway</a:t>
                      </a:r>
                    </a:p>
                  </a:txBody>
                  <a:tcPr marL="64008" marR="54864" marT="22860" marB="22860" anchor="ctr">
                    <a:solidFill>
                      <a:srgbClr val="EEF2F7"/>
                    </a:solidFill>
                  </a:tcPr>
                </a:tc>
              </a:tr>
              <a:tr h="390000">
                <a:tc>
                  <a:txBody>
                    <a:bodyPr wrap="square"/>
                    <a:lstStyle/>
                    <a:p>
                      <a:pPr algn="l">
                        <a:lnSpc>
                          <a:spcPct val="92000"/>
                        </a:lnSpc>
                      </a:pPr>
                      <a:r>
                        <a:rPr sz="860" b="0">
                          <a:solidFill>
                            <a:srgbClr val="262626"/>
                          </a:solidFill>
                          <a:latin typeface="Calibri"/>
                        </a:rPr>
                        <a:t>DEF-19</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S1  G_Accepted</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branched on an accepted boolean no form collected → never left the default</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branches on the controlled referralDecision, collected by a select</a:t>
                      </a:r>
                    </a:p>
                  </a:txBody>
                  <a:tcPr marL="64008" marR="54864" marT="22860" marB="2286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FURTHER DEVELOPMENT  ·  CHANGE 2 OF 5</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Change 2 — the forms collected less than the process already needed</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peter</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The models were correct. The forms in front of them were not: gateways compared values that no field could produce.</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7</a:t>
            </a:r>
          </a:p>
        </p:txBody>
      </p:sp>
      <p:sp>
        <p:nvSpPr>
          <p:cNvPr id="9" name="Rectangle 8"/>
          <p:cNvSpPr/>
          <p:nvPr/>
        </p:nvSpPr>
        <p:spPr>
          <a:xfrm>
            <a:off x="502920"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594360"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400" b="1" i="0">
                <a:solidFill>
                  <a:srgbClr val="2E74B5"/>
                </a:solidFill>
                <a:latin typeface="Calibri"/>
              </a:rPr>
              <a:t>69</a:t>
            </a:r>
          </a:p>
          <a:p>
            <a:pPr algn="ctr">
              <a:lnSpc>
                <a:spcPct val="95000"/>
              </a:lnSpc>
              <a:spcBef>
                <a:spcPts val="200"/>
              </a:spcBef>
              <a:spcAft>
                <a:spcPts val="0"/>
              </a:spcAft>
            </a:pPr>
            <a:r>
              <a:rPr sz="880" b="1" i="0">
                <a:solidFill>
                  <a:srgbClr val="1F3864"/>
                </a:solidFill>
                <a:latin typeface="Calibri"/>
              </a:rPr>
              <a:t>Camunda Forms
68 rewritten, 1 new</a:t>
            </a:r>
          </a:p>
        </p:txBody>
      </p:sp>
      <p:sp>
        <p:nvSpPr>
          <p:cNvPr id="11" name="Rectangle 10"/>
          <p:cNvSpPr/>
          <p:nvPr/>
        </p:nvSpPr>
        <p:spPr>
          <a:xfrm>
            <a:off x="3241423"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332863"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400" b="1" i="0">
                <a:solidFill>
                  <a:srgbClr val="2E74B5"/>
                </a:solidFill>
                <a:latin typeface="Calibri"/>
              </a:rPr>
              <a:t>10</a:t>
            </a:r>
          </a:p>
          <a:p>
            <a:pPr algn="ctr">
              <a:lnSpc>
                <a:spcPct val="95000"/>
              </a:lnSpc>
              <a:spcBef>
                <a:spcPts val="200"/>
              </a:spcBef>
              <a:spcAft>
                <a:spcPts val="0"/>
              </a:spcAft>
            </a:pPr>
            <a:r>
              <a:rPr sz="880" b="1" i="0">
                <a:solidFill>
                  <a:srgbClr val="1F3864"/>
                </a:solidFill>
                <a:latin typeface="Calibri"/>
              </a:rPr>
              <a:t>control types
corrected</a:t>
            </a:r>
          </a:p>
        </p:txBody>
      </p:sp>
      <p:sp>
        <p:nvSpPr>
          <p:cNvPr id="13" name="Rectangle 12"/>
          <p:cNvSpPr/>
          <p:nvPr/>
        </p:nvSpPr>
        <p:spPr>
          <a:xfrm>
            <a:off x="5979926"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071366"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400" b="1" i="0">
                <a:solidFill>
                  <a:srgbClr val="2E74B5"/>
                </a:solidFill>
                <a:latin typeface="Calibri"/>
              </a:rPr>
              <a:t>41</a:t>
            </a:r>
          </a:p>
          <a:p>
            <a:pPr algn="ctr">
              <a:lnSpc>
                <a:spcPct val="95000"/>
              </a:lnSpc>
              <a:spcBef>
                <a:spcPts val="200"/>
              </a:spcBef>
              <a:spcAft>
                <a:spcPts val="0"/>
              </a:spcAft>
            </a:pPr>
            <a:r>
              <a:rPr sz="880" b="1" i="0">
                <a:solidFill>
                  <a:srgbClr val="1F3864"/>
                </a:solidFill>
                <a:latin typeface="Calibri"/>
              </a:rPr>
              <a:t>controls added for data
the process needed</a:t>
            </a:r>
          </a:p>
        </p:txBody>
      </p:sp>
      <p:sp>
        <p:nvSpPr>
          <p:cNvPr id="15" name="Rectangle 14"/>
          <p:cNvSpPr/>
          <p:nvPr/>
        </p:nvSpPr>
        <p:spPr>
          <a:xfrm>
            <a:off x="8718429"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809869"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400" b="1" i="0">
                <a:solidFill>
                  <a:srgbClr val="2E74B5"/>
                </a:solidFill>
                <a:latin typeface="Calibri"/>
              </a:rPr>
              <a:t>115</a:t>
            </a:r>
          </a:p>
          <a:p>
            <a:pPr algn="ctr">
              <a:lnSpc>
                <a:spcPct val="95000"/>
              </a:lnSpc>
              <a:spcBef>
                <a:spcPts val="200"/>
              </a:spcBef>
              <a:spcAft>
                <a:spcPts val="0"/>
              </a:spcAft>
            </a:pPr>
            <a:r>
              <a:rPr sz="880" b="1" i="0">
                <a:solidFill>
                  <a:srgbClr val="1F3864"/>
                </a:solidFill>
                <a:latin typeface="Calibri"/>
              </a:rPr>
              <a:t>validations added to
existing fields</a:t>
            </a:r>
          </a:p>
        </p:txBody>
      </p:sp>
      <p:sp>
        <p:nvSpPr>
          <p:cNvPr id="17" name="Rectangle 16"/>
          <p:cNvSpPr/>
          <p:nvPr/>
        </p:nvSpPr>
        <p:spPr>
          <a:xfrm>
            <a:off x="502920" y="2672184"/>
            <a:ext cx="3600000" cy="19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502920" y="2672184"/>
            <a:ext cx="38100" cy="19000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792" y="2763624"/>
            <a:ext cx="3409805" cy="17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A value was typed, not chosen</a:t>
            </a:r>
          </a:p>
          <a:p>
            <a:pPr algn="l">
              <a:lnSpc>
                <a:spcPct val="95000"/>
              </a:lnSpc>
              <a:spcBef>
                <a:spcPts val="0"/>
              </a:spcBef>
              <a:spcAft>
                <a:spcPts val="250"/>
              </a:spcAft>
            </a:pPr>
            <a:r>
              <a:rPr sz="919" b="0" i="0">
                <a:solidFill>
                  <a:srgbClr val="262626"/>
                </a:solidFill>
                <a:latin typeface="Calibri"/>
              </a:rPr>
              <a:t>–  Four gateways compared exact strings, but the field was a free text box.</a:t>
            </a:r>
          </a:p>
          <a:p>
            <a:pPr algn="l">
              <a:lnSpc>
                <a:spcPct val="95000"/>
              </a:lnSpc>
              <a:spcBef>
                <a:spcPts val="0"/>
              </a:spcBef>
              <a:spcAft>
                <a:spcPts val="250"/>
              </a:spcAft>
            </a:pPr>
            <a:r>
              <a:rPr sz="919" b="0" i="0">
                <a:solidFill>
                  <a:srgbClr val="262626"/>
                </a:solidFill>
                <a:latin typeface="Calibri"/>
              </a:rPr>
              <a:t>–  referralDecision — accepted / rejected / information required / redirected</a:t>
            </a:r>
          </a:p>
          <a:p>
            <a:pPr algn="l">
              <a:lnSpc>
                <a:spcPct val="95000"/>
              </a:lnSpc>
              <a:spcBef>
                <a:spcPts val="0"/>
              </a:spcBef>
              <a:spcAft>
                <a:spcPts val="250"/>
              </a:spcAft>
            </a:pPr>
            <a:r>
              <a:rPr sz="919" b="0" i="0">
                <a:solidFill>
                  <a:srgbClr val="262626"/>
                </a:solidFill>
                <a:latin typeface="Calibri"/>
              </a:rPr>
              <a:t>–  referralUrgency — urgent / routine</a:t>
            </a:r>
          </a:p>
          <a:p>
            <a:pPr algn="l">
              <a:lnSpc>
                <a:spcPct val="95000"/>
              </a:lnSpc>
              <a:spcBef>
                <a:spcPts val="0"/>
              </a:spcBef>
              <a:spcAft>
                <a:spcPts val="250"/>
              </a:spcAft>
            </a:pPr>
            <a:r>
              <a:rPr sz="919" b="0" i="0">
                <a:solidFill>
                  <a:srgbClr val="262626"/>
                </a:solidFill>
                <a:latin typeface="Calibri"/>
              </a:rPr>
              <a:t>–  enquiryType — administrative / financial / clinical</a:t>
            </a:r>
          </a:p>
          <a:p>
            <a:pPr algn="l">
              <a:lnSpc>
                <a:spcPct val="95000"/>
              </a:lnSpc>
              <a:spcBef>
                <a:spcPts val="0"/>
              </a:spcBef>
              <a:spcAft>
                <a:spcPts val="250"/>
              </a:spcAft>
            </a:pPr>
            <a:r>
              <a:rPr sz="919" b="0" i="0">
                <a:solidFill>
                  <a:srgbClr val="262626"/>
                </a:solidFill>
                <a:latin typeface="Calibri"/>
              </a:rPr>
              <a:t>–  paymentStatus — four controlled values</a:t>
            </a:r>
          </a:p>
          <a:p>
            <a:pPr algn="l">
              <a:lnSpc>
                <a:spcPct val="95000"/>
              </a:lnSpc>
              <a:spcBef>
                <a:spcPts val="0"/>
              </a:spcBef>
              <a:spcAft>
                <a:spcPts val="250"/>
              </a:spcAft>
            </a:pPr>
            <a:r>
              <a:rPr sz="919" b="0" i="0">
                <a:solidFill>
                  <a:srgbClr val="262626"/>
                </a:solidFill>
                <a:latin typeface="Calibri"/>
              </a:rPr>
              <a:t>–  All four are select controls now, and all four are required.</a:t>
            </a:r>
          </a:p>
        </p:txBody>
      </p:sp>
      <p:sp>
        <p:nvSpPr>
          <p:cNvPr id="20" name="Rectangle 19"/>
          <p:cNvSpPr/>
          <p:nvPr/>
        </p:nvSpPr>
        <p:spPr>
          <a:xfrm>
            <a:off x="4240080" y="2672184"/>
            <a:ext cx="3600000" cy="19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4240080" y="2672184"/>
            <a:ext cx="38100" cy="19000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4358952" y="2763624"/>
            <a:ext cx="3409805" cy="17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A number was a tick box</a:t>
            </a:r>
          </a:p>
          <a:p>
            <a:pPr algn="l">
              <a:lnSpc>
                <a:spcPct val="95000"/>
              </a:lnSpc>
              <a:spcBef>
                <a:spcPts val="0"/>
              </a:spcBef>
              <a:spcAft>
                <a:spcPts val="250"/>
              </a:spcAft>
            </a:pPr>
            <a:r>
              <a:rPr sz="919" b="0" i="0">
                <a:solidFill>
                  <a:srgbClr val="262626"/>
                </a:solidFill>
                <a:latin typeface="Calibri"/>
              </a:rPr>
              <a:t>–  The 7-day letter rule and the 1-month and 3-month escalations compare numbers.</a:t>
            </a:r>
          </a:p>
          <a:p>
            <a:pPr algn="l">
              <a:lnSpc>
                <a:spcPct val="95000"/>
              </a:lnSpc>
              <a:spcBef>
                <a:spcPts val="0"/>
              </a:spcBef>
              <a:spcAft>
                <a:spcPts val="250"/>
              </a:spcAft>
            </a:pPr>
            <a:r>
              <a:rPr sz="919" b="0" i="0">
                <a:solidFill>
                  <a:srgbClr val="262626"/>
                </a:solidFill>
                <a:latin typeface="Calibri"/>
              </a:rPr>
              <a:t>–  letterDelayDays — was checkbox, now number, 0 to 365</a:t>
            </a:r>
          </a:p>
          <a:p>
            <a:pPr algn="l">
              <a:lnSpc>
                <a:spcPct val="95000"/>
              </a:lnSpc>
              <a:spcBef>
                <a:spcPts val="0"/>
              </a:spcBef>
              <a:spcAft>
                <a:spcPts val="250"/>
              </a:spcAft>
            </a:pPr>
            <a:r>
              <a:rPr sz="919" b="0" i="0">
                <a:solidFill>
                  <a:srgbClr val="262626"/>
                </a:solidFill>
                <a:latin typeface="Calibri"/>
              </a:rPr>
              <a:t>–  letterAgeMonths — was checkbox, now number, 0 to 120</a:t>
            </a:r>
          </a:p>
          <a:p>
            <a:pPr algn="l">
              <a:lnSpc>
                <a:spcPct val="95000"/>
              </a:lnSpc>
              <a:spcBef>
                <a:spcPts val="0"/>
              </a:spcBef>
              <a:spcAft>
                <a:spcPts val="250"/>
              </a:spcAft>
            </a:pPr>
            <a:r>
              <a:rPr sz="919" b="0" i="0">
                <a:solidFill>
                  <a:srgbClr val="262626"/>
                </a:solidFill>
                <a:latin typeface="Calibri"/>
              </a:rPr>
              <a:t>–  A tick box can only ever be true or false, so the comparison could never be satisfied honestly.</a:t>
            </a:r>
          </a:p>
        </p:txBody>
      </p:sp>
      <p:sp>
        <p:nvSpPr>
          <p:cNvPr id="23" name="Rectangle 22"/>
          <p:cNvSpPr/>
          <p:nvPr/>
        </p:nvSpPr>
        <p:spPr>
          <a:xfrm>
            <a:off x="7977240" y="2672184"/>
            <a:ext cx="3600000" cy="19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7977240" y="2672184"/>
            <a:ext cx="38100" cy="19000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8096112" y="2763624"/>
            <a:ext cx="3409805" cy="17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Three inputs no form collected</a:t>
            </a:r>
          </a:p>
          <a:p>
            <a:pPr algn="l">
              <a:lnSpc>
                <a:spcPct val="95000"/>
              </a:lnSpc>
              <a:spcBef>
                <a:spcPts val="0"/>
              </a:spcBef>
              <a:spcAft>
                <a:spcPts val="250"/>
              </a:spcAft>
            </a:pPr>
            <a:r>
              <a:rPr sz="919" b="0" i="0">
                <a:solidFill>
                  <a:srgbClr val="262626"/>
                </a:solidFill>
                <a:latin typeface="Calibri"/>
              </a:rPr>
              <a:t>–  Each fell back to a default chosen by code, not by a person.</a:t>
            </a:r>
          </a:p>
          <a:p>
            <a:pPr algn="l">
              <a:lnSpc>
                <a:spcPct val="95000"/>
              </a:lnSpc>
              <a:spcBef>
                <a:spcPts val="0"/>
              </a:spcBef>
              <a:spcAft>
                <a:spcPts val="250"/>
              </a:spcAft>
            </a:pPr>
            <a:r>
              <a:rPr sz="919" b="0" i="0">
                <a:solidFill>
                  <a:srgbClr val="262626"/>
                </a:solidFill>
                <a:latin typeface="Calibri"/>
              </a:rPr>
              <a:t>–  documentationCheckResult — now in form-check-referral-documents</a:t>
            </a:r>
          </a:p>
          <a:p>
            <a:pPr algn="l">
              <a:lnSpc>
                <a:spcPct val="95000"/>
              </a:lnSpc>
              <a:spcBef>
                <a:spcPts val="0"/>
              </a:spcBef>
              <a:spcAft>
                <a:spcPts val="250"/>
              </a:spcAft>
            </a:pPr>
            <a:r>
              <a:rPr sz="919" b="0" i="0">
                <a:solidFill>
                  <a:srgbClr val="262626"/>
                </a:solidFill>
                <a:latin typeface="Calibri"/>
              </a:rPr>
              <a:t>–  letterRecipients — now in form-clinic-letter-admin-check</a:t>
            </a:r>
          </a:p>
          <a:p>
            <a:pPr algn="l">
              <a:lnSpc>
                <a:spcPct val="95000"/>
              </a:lnSpc>
              <a:spcBef>
                <a:spcPts val="0"/>
              </a:spcBef>
              <a:spcAft>
                <a:spcPts val="250"/>
              </a:spcAft>
            </a:pPr>
            <a:r>
              <a:rPr sz="919" b="0" i="0">
                <a:solidFill>
                  <a:srgbClr val="262626"/>
                </a:solidFill>
                <a:latin typeface="Calibri"/>
              </a:rPr>
              <a:t>–  refundAuthorised — now in form-refund-decision</a:t>
            </a:r>
          </a:p>
          <a:p>
            <a:pPr algn="l">
              <a:lnSpc>
                <a:spcPct val="95000"/>
              </a:lnSpc>
              <a:spcBef>
                <a:spcPts val="0"/>
              </a:spcBef>
              <a:spcAft>
                <a:spcPts val="250"/>
              </a:spcAft>
            </a:pPr>
            <a:r>
              <a:rPr sz="919" b="0" i="0">
                <a:solidFill>
                  <a:srgbClr val="262626"/>
                </a:solidFill>
                <a:latin typeface="Calibri"/>
              </a:rPr>
              <a:t>–  0 worker inputs remain with no form 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FURTHER DEVELOPMENT  ·  CHANGE 3 OF 5</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Change 3 — every role used to see every task; now they do not</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finn</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Two settings in the shipped engine configuration meant authorisation was never evaluated at all.</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8</a:t>
            </a:r>
          </a:p>
        </p:txBody>
      </p:sp>
      <p:sp>
        <p:nvSpPr>
          <p:cNvPr id="9" name="Rectangle 8"/>
          <p:cNvSpPr/>
          <p:nvPr/>
        </p:nvSpPr>
        <p:spPr>
          <a:xfrm>
            <a:off x="502920" y="1501752"/>
            <a:ext cx="5516727" cy="1060000"/>
          </a:xfrm>
          <a:prstGeom prst="rect">
            <a:avLst/>
          </a:prstGeom>
          <a:solidFill>
            <a:srgbClr val="FDF1EF"/>
          </a:solidFill>
          <a:ln w="9525">
            <a:solidFill>
              <a:srgbClr val="E8C3B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621792" y="1570332"/>
            <a:ext cx="5278983" cy="1005840"/>
          </a:xfrm>
          <a:prstGeom prst="rect">
            <a:avLst/>
          </a:prstGeom>
          <a:noFill/>
        </p:spPr>
        <p:txBody>
          <a:bodyPr wrap="square" anchor="t" lIns="0" rIns="0" tIns="0" bIns="0">
            <a:spAutoFit/>
          </a:bodyPr>
          <a:lstStyle/>
          <a:p>
            <a:pPr algn="l">
              <a:spcBef>
                <a:spcPts val="0"/>
              </a:spcBef>
              <a:spcAft>
                <a:spcPts val="400"/>
              </a:spcAft>
            </a:pPr>
            <a:r>
              <a:rPr sz="1050" b="1" i="0">
                <a:solidFill>
                  <a:srgbClr val="B03A2E"/>
                </a:solidFill>
                <a:latin typeface="Calibri"/>
              </a:rPr>
              <a:t>BEFORE  ·  initial release</a:t>
            </a:r>
          </a:p>
          <a:p>
            <a:pPr algn="l">
              <a:spcBef>
                <a:spcPts val="0"/>
              </a:spcBef>
              <a:spcAft>
                <a:spcPts val="200"/>
              </a:spcAft>
            </a:pPr>
            <a:r>
              <a:rPr sz="960" b="0" i="0">
                <a:solidFill>
                  <a:srgbClr val="262626"/>
                </a:solidFill>
                <a:latin typeface="Calibri"/>
              </a:rPr>
              <a:t>authorizations.enabled = false</a:t>
            </a:r>
          </a:p>
          <a:p>
            <a:pPr algn="l">
              <a:spcBef>
                <a:spcPts val="0"/>
              </a:spcBef>
              <a:spcAft>
                <a:spcPts val="200"/>
              </a:spcAft>
            </a:pPr>
            <a:r>
              <a:rPr sz="960" b="0" i="0">
                <a:solidFill>
                  <a:srgbClr val="262626"/>
                </a:solidFill>
                <a:latin typeface="Calibri"/>
              </a:rPr>
              <a:t>unprotected-api = true</a:t>
            </a:r>
          </a:p>
          <a:p>
            <a:pPr algn="l">
              <a:spcBef>
                <a:spcPts val="0"/>
              </a:spcBef>
              <a:spcAft>
                <a:spcPts val="0"/>
              </a:spcAft>
            </a:pPr>
            <a:r>
              <a:rPr sz="960" b="1" i="0">
                <a:solidFill>
                  <a:srgbClr val="262626"/>
                </a:solidFill>
                <a:latin typeface="Calibri"/>
              </a:rPr>
              <a:t>Every authenticated user saw every task. All ten roles had an identical inbox.</a:t>
            </a:r>
          </a:p>
        </p:txBody>
      </p:sp>
      <p:sp>
        <p:nvSpPr>
          <p:cNvPr id="11" name="Rectangle 10"/>
          <p:cNvSpPr/>
          <p:nvPr/>
        </p:nvSpPr>
        <p:spPr>
          <a:xfrm>
            <a:off x="6172047" y="1501752"/>
            <a:ext cx="5516727" cy="1060000"/>
          </a:xfrm>
          <a:prstGeom prst="rect">
            <a:avLst/>
          </a:prstGeom>
          <a:solidFill>
            <a:srgbClr val="EFF6EF"/>
          </a:solidFill>
          <a:ln w="9525">
            <a:solidFill>
              <a:srgbClr val="BFD8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290919" y="1570332"/>
            <a:ext cx="5278983" cy="1005840"/>
          </a:xfrm>
          <a:prstGeom prst="rect">
            <a:avLst/>
          </a:prstGeom>
          <a:noFill/>
        </p:spPr>
        <p:txBody>
          <a:bodyPr wrap="square" anchor="t" lIns="0" rIns="0" tIns="0" bIns="0">
            <a:spAutoFit/>
          </a:bodyPr>
          <a:lstStyle/>
          <a:p>
            <a:pPr algn="l">
              <a:spcBef>
                <a:spcPts val="0"/>
              </a:spcBef>
              <a:spcAft>
                <a:spcPts val="400"/>
              </a:spcAft>
            </a:pPr>
            <a:r>
              <a:rPr sz="1050" b="1" i="0">
                <a:solidFill>
                  <a:srgbClr val="2E7D32"/>
                </a:solidFill>
                <a:latin typeface="Calibri"/>
              </a:rPr>
              <a:t>AFTER  ·  second release</a:t>
            </a:r>
          </a:p>
          <a:p>
            <a:pPr algn="l">
              <a:spcBef>
                <a:spcPts val="0"/>
              </a:spcBef>
              <a:spcAft>
                <a:spcPts val="200"/>
              </a:spcAft>
            </a:pPr>
            <a:r>
              <a:rPr sz="960" b="0" i="0">
                <a:solidFill>
                  <a:srgbClr val="262626"/>
                </a:solidFill>
                <a:latin typeface="Calibri"/>
              </a:rPr>
              <a:t>authorizations.enabled = true</a:t>
            </a:r>
          </a:p>
          <a:p>
            <a:pPr algn="l">
              <a:spcBef>
                <a:spcPts val="0"/>
              </a:spcBef>
              <a:spcAft>
                <a:spcPts val="200"/>
              </a:spcAft>
            </a:pPr>
            <a:r>
              <a:rPr sz="960" b="0" i="0">
                <a:solidFill>
                  <a:srgbClr val="262626"/>
                </a:solidFill>
                <a:latin typeface="Calibri"/>
              </a:rPr>
              <a:t>unprotected-api = false</a:t>
            </a:r>
          </a:p>
          <a:p>
            <a:pPr algn="l">
              <a:spcBef>
                <a:spcPts val="0"/>
              </a:spcBef>
              <a:spcAft>
                <a:spcPts val="0"/>
              </a:spcAft>
            </a:pPr>
            <a:r>
              <a:rPr sz="960" b="1" i="0">
                <a:solidFill>
                  <a:srgbClr val="262626"/>
                </a:solidFill>
                <a:latin typeface="Calibri"/>
              </a:rPr>
              <a:t>10 groups, 10 users, 99 candidate-group references read out of the models themselves.</a:t>
            </a:r>
          </a:p>
        </p:txBody>
      </p:sp>
      <p:sp>
        <p:nvSpPr>
          <p:cNvPr id="13" name="Rectangle 12"/>
          <p:cNvSpPr/>
          <p:nvPr/>
        </p:nvSpPr>
        <p:spPr>
          <a:xfrm>
            <a:off x="502920" y="2731752"/>
            <a:ext cx="3600000"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594360" y="2795760"/>
            <a:ext cx="3417120" cy="875000"/>
          </a:xfrm>
          <a:prstGeom prst="rect">
            <a:avLst/>
          </a:prstGeom>
          <a:noFill/>
        </p:spPr>
        <p:txBody>
          <a:bodyPr wrap="square" anchor="t" lIns="0" rIns="0" tIns="0" bIns="0">
            <a:spAutoFit/>
          </a:bodyPr>
          <a:lstStyle/>
          <a:p>
            <a:pPr algn="ctr">
              <a:lnSpc>
                <a:spcPct val="90000"/>
              </a:lnSpc>
              <a:spcBef>
                <a:spcPts val="0"/>
              </a:spcBef>
              <a:spcAft>
                <a:spcPts val="0"/>
              </a:spcAft>
            </a:pPr>
            <a:r>
              <a:rPr sz="3000" b="1" i="0">
                <a:solidFill>
                  <a:srgbClr val="B03A2E"/>
                </a:solidFill>
                <a:latin typeface="Calibri"/>
              </a:rPr>
              <a:t>0</a:t>
            </a:r>
          </a:p>
          <a:p>
            <a:pPr algn="ctr">
              <a:lnSpc>
                <a:spcPct val="95000"/>
              </a:lnSpc>
              <a:spcBef>
                <a:spcPts val="100"/>
              </a:spcBef>
              <a:spcAft>
                <a:spcPts val="0"/>
              </a:spcAft>
            </a:pPr>
            <a:r>
              <a:rPr sz="880" b="1" i="0">
                <a:solidFill>
                  <a:srgbClr val="1F3864"/>
                </a:solidFill>
                <a:latin typeface="Calibri"/>
              </a:rPr>
              <a:t>tasks visible to a user
with no role</a:t>
            </a:r>
          </a:p>
          <a:p>
            <a:pPr algn="ctr">
              <a:spcBef>
                <a:spcPts val="100"/>
              </a:spcBef>
              <a:spcAft>
                <a:spcPts val="0"/>
              </a:spcAft>
            </a:pPr>
            <a:r>
              <a:rPr sz="800" b="0" i="0">
                <a:solidFill>
                  <a:srgbClr val="595959"/>
                </a:solidFill>
                <a:latin typeface="Calibri"/>
              </a:rPr>
              <a:t>norole.demo · HTTP 200</a:t>
            </a:r>
          </a:p>
        </p:txBody>
      </p:sp>
      <p:sp>
        <p:nvSpPr>
          <p:cNvPr id="15" name="Rectangle 14"/>
          <p:cNvSpPr/>
          <p:nvPr/>
        </p:nvSpPr>
        <p:spPr>
          <a:xfrm>
            <a:off x="4240080" y="2731752"/>
            <a:ext cx="3600000"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4331520" y="2795760"/>
            <a:ext cx="3417120" cy="875000"/>
          </a:xfrm>
          <a:prstGeom prst="rect">
            <a:avLst/>
          </a:prstGeom>
          <a:noFill/>
        </p:spPr>
        <p:txBody>
          <a:bodyPr wrap="square" anchor="t" lIns="0" rIns="0" tIns="0" bIns="0">
            <a:spAutoFit/>
          </a:bodyPr>
          <a:lstStyle/>
          <a:p>
            <a:pPr algn="ctr">
              <a:lnSpc>
                <a:spcPct val="90000"/>
              </a:lnSpc>
              <a:spcBef>
                <a:spcPts val="0"/>
              </a:spcBef>
              <a:spcAft>
                <a:spcPts val="0"/>
              </a:spcAft>
            </a:pPr>
            <a:r>
              <a:rPr sz="3000" b="1" i="0">
                <a:solidFill>
                  <a:srgbClr val="2E7D32"/>
                </a:solidFill>
                <a:latin typeface="Calibri"/>
              </a:rPr>
              <a:t>785</a:t>
            </a:r>
          </a:p>
          <a:p>
            <a:pPr algn="ctr">
              <a:lnSpc>
                <a:spcPct val="95000"/>
              </a:lnSpc>
              <a:spcBef>
                <a:spcPts val="100"/>
              </a:spcBef>
              <a:spcAft>
                <a:spcPts val="0"/>
              </a:spcAft>
            </a:pPr>
            <a:r>
              <a:rPr sz="880" b="1" i="0">
                <a:solidFill>
                  <a:srgbClr val="1F3864"/>
                </a:solidFill>
                <a:latin typeface="Calibri"/>
              </a:rPr>
              <a:t>tasks visible to
medical-secretaries</a:t>
            </a:r>
          </a:p>
          <a:p>
            <a:pPr algn="ctr">
              <a:spcBef>
                <a:spcPts val="100"/>
              </a:spcBef>
              <a:spcAft>
                <a:spcPts val="0"/>
              </a:spcAft>
            </a:pPr>
            <a:r>
              <a:rPr sz="800" b="0" i="0">
                <a:solidFill>
                  <a:srgbClr val="595959"/>
                </a:solidFill>
                <a:latin typeface="Calibri"/>
              </a:rPr>
              <a:t>secretary.demo · HTTP 200</a:t>
            </a:r>
          </a:p>
        </p:txBody>
      </p:sp>
      <p:sp>
        <p:nvSpPr>
          <p:cNvPr id="17" name="Rectangle 16"/>
          <p:cNvSpPr/>
          <p:nvPr/>
        </p:nvSpPr>
        <p:spPr>
          <a:xfrm>
            <a:off x="7977240" y="2731752"/>
            <a:ext cx="3600000"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8068680" y="2795760"/>
            <a:ext cx="3417120" cy="875000"/>
          </a:xfrm>
          <a:prstGeom prst="rect">
            <a:avLst/>
          </a:prstGeom>
          <a:noFill/>
        </p:spPr>
        <p:txBody>
          <a:bodyPr wrap="square" anchor="t" lIns="0" rIns="0" tIns="0" bIns="0">
            <a:spAutoFit/>
          </a:bodyPr>
          <a:lstStyle/>
          <a:p>
            <a:pPr algn="ctr">
              <a:lnSpc>
                <a:spcPct val="90000"/>
              </a:lnSpc>
              <a:spcBef>
                <a:spcPts val="0"/>
              </a:spcBef>
              <a:spcAft>
                <a:spcPts val="0"/>
              </a:spcAft>
            </a:pPr>
            <a:r>
              <a:rPr sz="3000" b="1" i="0">
                <a:solidFill>
                  <a:srgbClr val="1F3864"/>
                </a:solidFill>
                <a:latin typeface="Calibri"/>
              </a:rPr>
              <a:t>0</a:t>
            </a:r>
          </a:p>
          <a:p>
            <a:pPr algn="ctr">
              <a:lnSpc>
                <a:spcPct val="95000"/>
              </a:lnSpc>
              <a:spcBef>
                <a:spcPts val="100"/>
              </a:spcBef>
              <a:spcAft>
                <a:spcPts val="0"/>
              </a:spcAft>
            </a:pPr>
            <a:r>
              <a:rPr sz="880" b="1" i="0">
                <a:solidFill>
                  <a:srgbClr val="1F3864"/>
                </a:solidFill>
                <a:latin typeface="Calibri"/>
              </a:rPr>
              <a:t>enforcement failures
recorded</a:t>
            </a:r>
          </a:p>
          <a:p>
            <a:pPr algn="ctr">
              <a:spcBef>
                <a:spcPts val="100"/>
              </a:spcBef>
              <a:spcAft>
                <a:spcPts val="0"/>
              </a:spcAft>
            </a:pPr>
            <a:r>
              <a:rPr sz="800" b="0" i="0">
                <a:solidFill>
                  <a:srgbClr val="595959"/>
                </a:solidFill>
                <a:latin typeface="Calibri"/>
              </a:rPr>
              <a:t>re-checked 15 October 2026</a:t>
            </a:r>
          </a:p>
        </p:txBody>
      </p:sp>
      <p:sp>
        <p:nvSpPr>
          <p:cNvPr id="19" name="Rectangle 18"/>
          <p:cNvSpPr/>
          <p:nvPr/>
        </p:nvSpPr>
        <p:spPr>
          <a:xfrm>
            <a:off x="502920" y="3874752"/>
            <a:ext cx="11185855" cy="56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ectangle 19"/>
          <p:cNvSpPr/>
          <p:nvPr/>
        </p:nvSpPr>
        <p:spPr>
          <a:xfrm>
            <a:off x="502920" y="3874752"/>
            <a:ext cx="38100" cy="56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21792" y="3966192"/>
            <a:ext cx="10995660" cy="431984"/>
          </a:xfrm>
          <a:prstGeom prst="rect">
            <a:avLst/>
          </a:prstGeom>
          <a:noFill/>
        </p:spPr>
        <p:txBody>
          <a:bodyPr wrap="square" anchor="t" lIns="0" rIns="0" tIns="0" bIns="0">
            <a:spAutoFit/>
          </a:bodyPr>
          <a:lstStyle/>
          <a:p>
            <a:pPr algn="l">
              <a:lnSpc>
                <a:spcPct val="95000"/>
              </a:lnSpc>
              <a:spcBef>
                <a:spcPts val="0"/>
              </a:spcBef>
              <a:spcAft>
                <a:spcPts val="250"/>
              </a:spcAft>
            </a:pPr>
            <a:r>
              <a:rPr sz="1000" b="0" i="0">
                <a:solidFill>
                  <a:srgbClr val="262626"/>
                </a:solidFill>
                <a:latin typeface="Calibri"/>
              </a:rPr>
              <a:t>–  The grants are deliberately identical across all ten groups. What separates the roles is the candidate group on the task, not the permission set — which is exactly what 0 against 785 demonstrates.</a:t>
            </a:r>
          </a:p>
        </p:txBody>
      </p:sp>
      <p:graphicFrame>
        <p:nvGraphicFramePr>
          <p:cNvPr id="22" name="Table 21"/>
          <p:cNvGraphicFramePr>
            <a:graphicFrameLocks noGrp="1"/>
          </p:cNvGraphicFramePr>
          <p:nvPr/>
        </p:nvGraphicFramePr>
        <p:xfrm>
          <a:off x="502920" y="4564752"/>
          <a:ext cx="11185853" cy="1500000"/>
        </p:xfrm>
        <a:graphic>
          <a:graphicData uri="http://schemas.openxmlformats.org/drawingml/2006/table">
            <a:tbl>
              <a:tblPr firstRow="1" bandRow="1">
                <a:tableStyleId>{2D5ABB26-0587-4C30-8999-92F81FD0307C}</a:tableStyleId>
              </a:tblPr>
              <a:tblGrid>
                <a:gridCol w="3947948"/>
                <a:gridCol w="1447581"/>
                <a:gridCol w="4342743"/>
                <a:gridCol w="1447581"/>
              </a:tblGrid>
              <a:tr h="250000">
                <a:tc>
                  <a:txBody>
                    <a:bodyPr wrap="square"/>
                    <a:lstStyle/>
                    <a:p>
                      <a:pPr algn="l">
                        <a:lnSpc>
                          <a:spcPct val="92000"/>
                        </a:lnSpc>
                      </a:pPr>
                      <a:r>
                        <a:rPr sz="880" b="1">
                          <a:solidFill>
                            <a:srgbClr val="FFFFFF"/>
                          </a:solidFill>
                          <a:latin typeface="Calibri"/>
                        </a:rPr>
                        <a:t>Group</a:t>
                      </a:r>
                    </a:p>
                  </a:txBody>
                  <a:tcPr marL="64008" marR="54864" marT="22860" marB="22860" anchor="ctr">
                    <a:solidFill>
                      <a:srgbClr val="2E74B5"/>
                    </a:solidFill>
                  </a:tcPr>
                </a:tc>
                <a:tc>
                  <a:txBody>
                    <a:bodyPr wrap="square"/>
                    <a:lstStyle/>
                    <a:p>
                      <a:pPr algn="ctr">
                        <a:lnSpc>
                          <a:spcPct val="92000"/>
                        </a:lnSpc>
                      </a:pPr>
                      <a:r>
                        <a:rPr sz="880" b="1">
                          <a:solidFill>
                            <a:srgbClr val="FFFFFF"/>
                          </a:solidFill>
                          <a:latin typeface="Calibri"/>
                        </a:rPr>
                        <a:t>Tasks routed</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Group</a:t>
                      </a:r>
                    </a:p>
                  </a:txBody>
                  <a:tcPr marL="64008" marR="54864" marT="22860" marB="22860" anchor="ctr">
                    <a:solidFill>
                      <a:srgbClr val="2E74B5"/>
                    </a:solidFill>
                  </a:tcPr>
                </a:tc>
                <a:tc>
                  <a:txBody>
                    <a:bodyPr wrap="square"/>
                    <a:lstStyle/>
                    <a:p>
                      <a:pPr algn="ctr">
                        <a:lnSpc>
                          <a:spcPct val="92000"/>
                        </a:lnSpc>
                      </a:pPr>
                      <a:r>
                        <a:rPr sz="880" b="1">
                          <a:solidFill>
                            <a:srgbClr val="FFFFFF"/>
                          </a:solidFill>
                          <a:latin typeface="Calibri"/>
                        </a:rPr>
                        <a:t>Tasks routed</a:t>
                      </a:r>
                    </a:p>
                  </a:txBody>
                  <a:tcPr marL="64008" marR="54864" marT="22860" marB="22860" anchor="ctr">
                    <a:solidFill>
                      <a:srgbClr val="2E74B5"/>
                    </a:solidFill>
                  </a:tcPr>
                </a:tc>
              </a:tr>
              <a:tr h="250000">
                <a:tc>
                  <a:txBody>
                    <a:bodyPr wrap="square"/>
                    <a:lstStyle/>
                    <a:p>
                      <a:pPr algn="l">
                        <a:lnSpc>
                          <a:spcPct val="92000"/>
                        </a:lnSpc>
                      </a:pPr>
                      <a:r>
                        <a:rPr sz="880" b="0">
                          <a:solidFill>
                            <a:srgbClr val="262626"/>
                          </a:solidFill>
                          <a:latin typeface="Calibri"/>
                        </a:rPr>
                        <a:t>medical-secretaries</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6</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call-handling-team</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6</a:t>
                      </a:r>
                    </a:p>
                  </a:txBody>
                  <a:tcPr marL="64008" marR="54864" marT="22860" marB="22860" anchor="ctr">
                    <a:solidFill>
                      <a:srgbClr val="FFFFFF"/>
                    </a:solidFill>
                  </a:tcPr>
                </a:tc>
              </a:tr>
              <a:tr h="250000">
                <a:tc>
                  <a:txBody>
                    <a:bodyPr wrap="square"/>
                    <a:lstStyle/>
                    <a:p>
                      <a:pPr algn="l">
                        <a:lnSpc>
                          <a:spcPct val="92000"/>
                        </a:lnSpc>
                      </a:pPr>
                      <a:r>
                        <a:rPr sz="880" b="0">
                          <a:solidFill>
                            <a:srgbClr val="262626"/>
                          </a:solidFill>
                          <a:latin typeface="Calibri"/>
                        </a:rPr>
                        <a:t>consultant-team</a:t>
                      </a:r>
                    </a:p>
                  </a:txBody>
                  <a:tcPr marL="64008" marR="54864" marT="22860" marB="22860" anchor="ctr">
                    <a:solidFill>
                      <a:srgbClr val="EEF2F7"/>
                    </a:solidFill>
                  </a:tcPr>
                </a:tc>
                <a:tc>
                  <a:txBody>
                    <a:bodyPr wrap="square"/>
                    <a:lstStyle/>
                    <a:p>
                      <a:pPr algn="ctr">
                        <a:lnSpc>
                          <a:spcPct val="92000"/>
                        </a:lnSpc>
                      </a:pPr>
                      <a:r>
                        <a:rPr sz="880" b="0">
                          <a:solidFill>
                            <a:srgbClr val="262626"/>
                          </a:solidFill>
                          <a:latin typeface="Calibri"/>
                        </a:rPr>
                        <a:t>19</a:t>
                      </a:r>
                    </a:p>
                  </a:txBody>
                  <a:tcPr marL="64008" marR="54864" marT="22860" marB="22860" anchor="ctr">
                    <a:solidFill>
                      <a:srgbClr val="EEF2F7"/>
                    </a:solidFill>
                  </a:tcPr>
                </a:tc>
                <a:tc>
                  <a:txBody>
                    <a:bodyPr wrap="square"/>
                    <a:lstStyle/>
                    <a:p>
                      <a:pPr algn="l">
                        <a:lnSpc>
                          <a:spcPct val="92000"/>
                        </a:lnSpc>
                      </a:pPr>
                      <a:r>
                        <a:rPr sz="880" b="0">
                          <a:solidFill>
                            <a:srgbClr val="262626"/>
                          </a:solidFill>
                          <a:latin typeface="Calibri"/>
                        </a:rPr>
                        <a:t>finance-team</a:t>
                      </a:r>
                    </a:p>
                  </a:txBody>
                  <a:tcPr marL="64008" marR="54864" marT="22860" marB="22860" anchor="ctr">
                    <a:solidFill>
                      <a:srgbClr val="EEF2F7"/>
                    </a:solidFill>
                  </a:tcPr>
                </a:tc>
                <a:tc>
                  <a:txBody>
                    <a:bodyPr wrap="square"/>
                    <a:lstStyle/>
                    <a:p>
                      <a:pPr algn="ctr">
                        <a:lnSpc>
                          <a:spcPct val="92000"/>
                        </a:lnSpc>
                      </a:pPr>
                      <a:r>
                        <a:rPr sz="880" b="0">
                          <a:solidFill>
                            <a:srgbClr val="262626"/>
                          </a:solidFill>
                          <a:latin typeface="Calibri"/>
                        </a:rPr>
                        <a:t>6</a:t>
                      </a:r>
                    </a:p>
                  </a:txBody>
                  <a:tcPr marL="64008" marR="54864" marT="22860" marB="22860" anchor="ctr">
                    <a:solidFill>
                      <a:srgbClr val="EEF2F7"/>
                    </a:solidFill>
                  </a:tcPr>
                </a:tc>
              </a:tr>
              <a:tr h="250000">
                <a:tc>
                  <a:txBody>
                    <a:bodyPr wrap="square"/>
                    <a:lstStyle/>
                    <a:p>
                      <a:pPr algn="l">
                        <a:lnSpc>
                          <a:spcPct val="92000"/>
                        </a:lnSpc>
                      </a:pPr>
                      <a:r>
                        <a:rPr sz="880" b="0">
                          <a:solidFill>
                            <a:srgbClr val="262626"/>
                          </a:solidFill>
                          <a:latin typeface="Calibri"/>
                        </a:rPr>
                        <a:t>clinical-nurse-specialist-team</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2</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patient-pathway-coordinators</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0</a:t>
                      </a:r>
                    </a:p>
                  </a:txBody>
                  <a:tcPr marL="64008" marR="54864" marT="22860" marB="22860" anchor="ctr">
                    <a:solidFill>
                      <a:srgbClr val="FFFFFF"/>
                    </a:solidFill>
                  </a:tcPr>
                </a:tc>
              </a:tr>
              <a:tr h="250000">
                <a:tc>
                  <a:txBody>
                    <a:bodyPr wrap="square"/>
                    <a:lstStyle/>
                    <a:p>
                      <a:pPr algn="l">
                        <a:lnSpc>
                          <a:spcPct val="92000"/>
                        </a:lnSpc>
                      </a:pPr>
                      <a:r>
                        <a:rPr sz="880" b="0">
                          <a:solidFill>
                            <a:srgbClr val="262626"/>
                          </a:solidFill>
                          <a:latin typeface="Calibri"/>
                        </a:rPr>
                        <a:t>outpatient-bookings-team</a:t>
                      </a:r>
                    </a:p>
                  </a:txBody>
                  <a:tcPr marL="64008" marR="54864" marT="22860" marB="22860" anchor="ctr">
                    <a:solidFill>
                      <a:srgbClr val="EEF2F7"/>
                    </a:solidFill>
                  </a:tcPr>
                </a:tc>
                <a:tc>
                  <a:txBody>
                    <a:bodyPr wrap="square"/>
                    <a:lstStyle/>
                    <a:p>
                      <a:pPr algn="ctr">
                        <a:lnSpc>
                          <a:spcPct val="92000"/>
                        </a:lnSpc>
                      </a:pPr>
                      <a:r>
                        <a:rPr sz="880" b="0">
                          <a:solidFill>
                            <a:srgbClr val="262626"/>
                          </a:solidFill>
                          <a:latin typeface="Calibri"/>
                        </a:rPr>
                        <a:t>9</a:t>
                      </a:r>
                    </a:p>
                  </a:txBody>
                  <a:tcPr marL="64008" marR="54864" marT="22860" marB="22860" anchor="ctr">
                    <a:solidFill>
                      <a:srgbClr val="EEF2F7"/>
                    </a:solidFill>
                  </a:tcPr>
                </a:tc>
                <a:tc>
                  <a:txBody>
                    <a:bodyPr wrap="square"/>
                    <a:lstStyle/>
                    <a:p>
                      <a:pPr algn="l">
                        <a:lnSpc>
                          <a:spcPct val="92000"/>
                        </a:lnSpc>
                      </a:pPr>
                      <a:r>
                        <a:rPr sz="880" b="0">
                          <a:solidFill>
                            <a:srgbClr val="262626"/>
                          </a:solidFill>
                          <a:latin typeface="Calibri"/>
                        </a:rPr>
                        <a:t>administrative-management</a:t>
                      </a:r>
                    </a:p>
                  </a:txBody>
                  <a:tcPr marL="64008" marR="54864" marT="22860" marB="22860" anchor="ctr">
                    <a:solidFill>
                      <a:srgbClr val="EEF2F7"/>
                    </a:solidFill>
                  </a:tcPr>
                </a:tc>
                <a:tc>
                  <a:txBody>
                    <a:bodyPr wrap="square"/>
                    <a:lstStyle/>
                    <a:p>
                      <a:pPr algn="ctr">
                        <a:lnSpc>
                          <a:spcPct val="92000"/>
                        </a:lnSpc>
                      </a:pPr>
                      <a:r>
                        <a:rPr sz="880" b="0">
                          <a:solidFill>
                            <a:srgbClr val="262626"/>
                          </a:solidFill>
                          <a:latin typeface="Calibri"/>
                        </a:rPr>
                        <a:t>0</a:t>
                      </a:r>
                    </a:p>
                  </a:txBody>
                  <a:tcPr marL="64008" marR="54864" marT="22860" marB="22860" anchor="ctr">
                    <a:solidFill>
                      <a:srgbClr val="EEF2F7"/>
                    </a:solidFill>
                  </a:tcPr>
                </a:tc>
              </a:tr>
              <a:tr h="250000">
                <a:tc>
                  <a:txBody>
                    <a:bodyPr wrap="square"/>
                    <a:lstStyle/>
                    <a:p>
                      <a:pPr algn="l">
                        <a:lnSpc>
                          <a:spcPct val="92000"/>
                        </a:lnSpc>
                      </a:pPr>
                      <a:r>
                        <a:rPr sz="880" b="0">
                          <a:solidFill>
                            <a:srgbClr val="262626"/>
                          </a:solidFill>
                          <a:latin typeface="Calibri"/>
                        </a:rPr>
                        <a:t>treatment-bookings-team</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4</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hospital-management</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1</a:t>
                      </a:r>
                    </a:p>
                  </a:txBody>
                  <a:tcPr marL="64008" marR="54864" marT="22860" marB="22860" anchor="ctr">
                    <a:solidFill>
                      <a:srgbClr val="FFFFFF"/>
                    </a:solidFill>
                  </a:tcPr>
                </a:tc>
              </a:tr>
            </a:tbl>
          </a:graphicData>
        </a:graphic>
      </p:graphicFrame>
      <p:sp>
        <p:nvSpPr>
          <p:cNvPr id="23" name="TextBox 22"/>
          <p:cNvSpPr txBox="1"/>
          <p:nvPr/>
        </p:nvSpPr>
        <p:spPr>
          <a:xfrm>
            <a:off x="502920" y="6124752"/>
            <a:ext cx="11185855" cy="240000"/>
          </a:xfrm>
          <a:prstGeom prst="rect">
            <a:avLst/>
          </a:prstGeom>
          <a:noFill/>
        </p:spPr>
        <p:txBody>
          <a:bodyPr wrap="square" anchor="t" lIns="0" rIns="0" tIns="0" bIns="0">
            <a:spAutoFit/>
          </a:bodyPr>
          <a:lstStyle/>
          <a:p>
            <a:pPr algn="l">
              <a:lnSpc>
                <a:spcPct val="95000"/>
              </a:lnSpc>
              <a:spcBef>
                <a:spcPts val="0"/>
              </a:spcBef>
              <a:spcAft>
                <a:spcPts val="0"/>
              </a:spcAft>
            </a:pPr>
            <a:r>
              <a:rPr sz="840" b="0" i="0">
                <a:solidFill>
                  <a:srgbClr val="595959"/>
                </a:solidFill>
                <a:latin typeface="Calibri"/>
              </a:rPr>
              <a:t>Full per-role extract, with its source hash: 05_Test_Evidence/rbac/rbac-visibility-evidence.pdf   ·   recompute with 09_Tests_and_Tools/verify-rbac.py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FURTHER DEVELOPMENT  ·  CHANGE 4 OF 5</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Change 4 — the records lived in maps; now they live in a database</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finn</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Two separate JVM processes. The second shares nothing with the first except the database file — so anything it reads back survived a restart.</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9</a:t>
            </a:r>
          </a:p>
        </p:txBody>
      </p:sp>
      <p:sp>
        <p:nvSpPr>
          <p:cNvPr id="9" name="Rectangle 8"/>
          <p:cNvSpPr/>
          <p:nvPr/>
        </p:nvSpPr>
        <p:spPr>
          <a:xfrm>
            <a:off x="502920"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594360"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H2</a:t>
            </a:r>
          </a:p>
          <a:p>
            <a:pPr algn="ctr">
              <a:lnSpc>
                <a:spcPct val="95000"/>
              </a:lnSpc>
              <a:spcBef>
                <a:spcPts val="200"/>
              </a:spcBef>
              <a:spcAft>
                <a:spcPts val="0"/>
              </a:spcAft>
            </a:pPr>
            <a:r>
              <a:rPr sz="880" b="1" i="0">
                <a:solidFill>
                  <a:srgbClr val="1F3864"/>
                </a:solidFill>
                <a:latin typeface="Calibri"/>
              </a:rPr>
              <a:t>embedded database
plain JDBC, no ORM</a:t>
            </a:r>
          </a:p>
        </p:txBody>
      </p:sp>
      <p:sp>
        <p:nvSpPr>
          <p:cNvPr id="11" name="Rectangle 10"/>
          <p:cNvSpPr/>
          <p:nvPr/>
        </p:nvSpPr>
        <p:spPr>
          <a:xfrm>
            <a:off x="3241423"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332863"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4</a:t>
            </a:r>
          </a:p>
          <a:p>
            <a:pPr algn="ctr">
              <a:lnSpc>
                <a:spcPct val="95000"/>
              </a:lnSpc>
              <a:spcBef>
                <a:spcPts val="200"/>
              </a:spcBef>
              <a:spcAft>
                <a:spcPts val="0"/>
              </a:spcAft>
            </a:pPr>
            <a:r>
              <a:rPr sz="880" b="1" i="0">
                <a:solidFill>
                  <a:srgbClr val="1F3864"/>
                </a:solidFill>
                <a:latin typeface="Calibri"/>
              </a:rPr>
              <a:t>tables created on
first use</a:t>
            </a:r>
          </a:p>
        </p:txBody>
      </p:sp>
      <p:sp>
        <p:nvSpPr>
          <p:cNvPr id="13" name="Rectangle 12"/>
          <p:cNvSpPr/>
          <p:nvPr/>
        </p:nvSpPr>
        <p:spPr>
          <a:xfrm>
            <a:off x="5979926"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071366"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7 / 7</a:t>
            </a:r>
          </a:p>
          <a:p>
            <a:pPr algn="ctr">
              <a:lnSpc>
                <a:spcPct val="95000"/>
              </a:lnSpc>
              <a:spcBef>
                <a:spcPts val="200"/>
              </a:spcBef>
              <a:spcAft>
                <a:spcPts val="0"/>
              </a:spcAft>
            </a:pPr>
            <a:r>
              <a:rPr sz="880" b="1" i="0">
                <a:solidFill>
                  <a:srgbClr val="1F3864"/>
                </a:solidFill>
                <a:latin typeface="Calibri"/>
              </a:rPr>
              <a:t>persistence checks pass
across two processes</a:t>
            </a:r>
          </a:p>
        </p:txBody>
      </p:sp>
      <p:sp>
        <p:nvSpPr>
          <p:cNvPr id="15" name="Rectangle 14"/>
          <p:cNvSpPr/>
          <p:nvPr/>
        </p:nvSpPr>
        <p:spPr>
          <a:xfrm>
            <a:off x="8718429" y="1501752"/>
            <a:ext cx="2617471" cy="10058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809869" y="1570332"/>
            <a:ext cx="2434591" cy="86868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41</a:t>
            </a:r>
          </a:p>
          <a:p>
            <a:pPr algn="ctr">
              <a:lnSpc>
                <a:spcPct val="95000"/>
              </a:lnSpc>
              <a:spcBef>
                <a:spcPts val="200"/>
              </a:spcBef>
              <a:spcAft>
                <a:spcPts val="0"/>
              </a:spcAft>
            </a:pPr>
            <a:r>
              <a:rPr sz="880" b="1" i="0">
                <a:solidFill>
                  <a:srgbClr val="1F3864"/>
                </a:solidFill>
                <a:latin typeface="Calibri"/>
              </a:rPr>
              <a:t>unit tests still pass
unchanged behaviour</a:t>
            </a:r>
          </a:p>
        </p:txBody>
      </p:sp>
      <p:sp>
        <p:nvSpPr>
          <p:cNvPr id="17" name="Rectangle 16"/>
          <p:cNvSpPr/>
          <p:nvPr/>
        </p:nvSpPr>
        <p:spPr>
          <a:xfrm>
            <a:off x="502920" y="2672184"/>
            <a:ext cx="5516727" cy="164592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502920" y="2672184"/>
            <a:ext cx="38100" cy="164592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792" y="2763624"/>
            <a:ext cx="5326532" cy="151790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The four tables</a:t>
            </a:r>
          </a:p>
          <a:p>
            <a:pPr algn="l">
              <a:lnSpc>
                <a:spcPct val="95000"/>
              </a:lnSpc>
              <a:spcBef>
                <a:spcPts val="0"/>
              </a:spcBef>
              <a:spcAft>
                <a:spcPts val="250"/>
              </a:spcAft>
            </a:pPr>
            <a:r>
              <a:rPr sz="940" b="0" i="0">
                <a:solidFill>
                  <a:srgbClr val="262626"/>
                </a:solidFill>
                <a:latin typeface="Calibri"/>
              </a:rPr>
              <a:t>–  record — business records keyed by episode, payload as JSON so new fields need no migration</a:t>
            </a:r>
          </a:p>
          <a:p>
            <a:pPr algn="l">
              <a:lnSpc>
                <a:spcPct val="95000"/>
              </a:lnSpc>
              <a:spcBef>
                <a:spcPts val="0"/>
              </a:spcBef>
              <a:spcAft>
                <a:spcPts val="250"/>
              </a:spcAft>
            </a:pPr>
            <a:r>
              <a:rPr sz="940" b="0" i="0">
                <a:solidFill>
                  <a:srgbClr val="262626"/>
                </a:solidFill>
                <a:latin typeface="Calibri"/>
              </a:rPr>
              <a:t>–  appointment_index — de-duplication now enforced by a primary key</a:t>
            </a:r>
          </a:p>
          <a:p>
            <a:pPr algn="l">
              <a:lnSpc>
                <a:spcPct val="95000"/>
              </a:lnSpc>
              <a:spcBef>
                <a:spcPts val="0"/>
              </a:spcBef>
              <a:spcAft>
                <a:spcPts val="250"/>
              </a:spcAft>
            </a:pPr>
            <a:r>
              <a:rPr sz="940" b="0" i="0">
                <a:solidFill>
                  <a:srgbClr val="262626"/>
                </a:solidFill>
                <a:latin typeface="Calibri"/>
              </a:rPr>
              <a:t>–  attempt_counter — incremented in one statement, so concurrent retries cannot lose a count</a:t>
            </a:r>
          </a:p>
          <a:p>
            <a:pPr algn="l">
              <a:lnSpc>
                <a:spcPct val="95000"/>
              </a:lnSpc>
              <a:spcBef>
                <a:spcPts val="0"/>
              </a:spcBef>
              <a:spcAft>
                <a:spcPts val="250"/>
              </a:spcAft>
            </a:pPr>
            <a:r>
              <a:rPr sz="940" b="0" i="0">
                <a:solidFill>
                  <a:srgbClr val="262626"/>
                </a:solidFill>
                <a:latin typeface="Calibri"/>
              </a:rPr>
              <a:t>–  audit_log — append-only, instant set at write time, no update or delete on the API</a:t>
            </a:r>
          </a:p>
        </p:txBody>
      </p:sp>
      <p:sp>
        <p:nvSpPr>
          <p:cNvPr id="20" name="Rectangle 19"/>
          <p:cNvSpPr/>
          <p:nvPr/>
        </p:nvSpPr>
        <p:spPr>
          <a:xfrm>
            <a:off x="6172047" y="2672184"/>
            <a:ext cx="5516727" cy="164592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6172047" y="2672184"/>
            <a:ext cx="38100" cy="1645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290919" y="2763624"/>
            <a:ext cx="5326532" cy="151790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What the reading process proved</a:t>
            </a:r>
          </a:p>
          <a:p>
            <a:pPr algn="l">
              <a:lnSpc>
                <a:spcPct val="95000"/>
              </a:lnSpc>
              <a:spcBef>
                <a:spcPts val="0"/>
              </a:spcBef>
              <a:spcAft>
                <a:spcPts val="250"/>
              </a:spcAft>
            </a:pPr>
            <a:r>
              <a:rPr sz="940" b="0" i="0">
                <a:solidFill>
                  <a:srgbClr val="262626"/>
                </a:solidFill>
                <a:latin typeface="Calibri"/>
              </a:rPr>
              <a:t>–  Referral REF-PERSIST-1 survived with its patient id — PASS</a:t>
            </a:r>
          </a:p>
          <a:p>
            <a:pPr algn="l">
              <a:lnSpc>
                <a:spcPct val="95000"/>
              </a:lnSpc>
              <a:spcBef>
                <a:spcPts val="0"/>
              </a:spcBef>
              <a:spcAft>
                <a:spcPts val="250"/>
              </a:spcAft>
            </a:pPr>
            <a:r>
              <a:rPr sz="940" b="0" i="0">
                <a:solidFill>
                  <a:srgbClr val="262626"/>
                </a:solidFill>
                <a:latin typeface="Calibri"/>
              </a:rPr>
              <a:t>–  Appointment APPT-PERSIST-1 survived — PASS</a:t>
            </a:r>
          </a:p>
          <a:p>
            <a:pPr algn="l">
              <a:lnSpc>
                <a:spcPct val="95000"/>
              </a:lnSpc>
              <a:spcBef>
                <a:spcPts val="0"/>
              </a:spcBef>
              <a:spcAft>
                <a:spcPts val="250"/>
              </a:spcAft>
            </a:pPr>
            <a:r>
              <a:rPr sz="940" b="0" i="0">
                <a:solidFill>
                  <a:srgbClr val="262626"/>
                </a:solidFill>
                <a:latin typeface="Calibri"/>
              </a:rPr>
              <a:t>–  The persisted payment still trips the duplicate-payment rule — PASS</a:t>
            </a:r>
          </a:p>
          <a:p>
            <a:pPr algn="l">
              <a:lnSpc>
                <a:spcPct val="95000"/>
              </a:lnSpc>
              <a:spcBef>
                <a:spcPts val="0"/>
              </a:spcBef>
              <a:spcAft>
                <a:spcPts val="250"/>
              </a:spcAft>
            </a:pPr>
            <a:r>
              <a:rPr sz="940" b="0" i="0">
                <a:solidFill>
                  <a:srgbClr val="262626"/>
                </a:solidFill>
                <a:latin typeface="Calibri"/>
              </a:rPr>
              <a:t>–  The appointment index still recognises the booking — PASS</a:t>
            </a:r>
          </a:p>
          <a:p>
            <a:pPr algn="l">
              <a:lnSpc>
                <a:spcPct val="95000"/>
              </a:lnSpc>
              <a:spcBef>
                <a:spcPts val="0"/>
              </a:spcBef>
              <a:spcAft>
                <a:spcPts val="250"/>
              </a:spcAft>
            </a:pPr>
            <a:r>
              <a:rPr sz="940" b="0" i="0">
                <a:solidFill>
                  <a:srgbClr val="262626"/>
                </a:solidFill>
                <a:latin typeface="Calibri"/>
              </a:rPr>
              <a:t>–  The attempt counter still reads 2; the audit log kept both entries — PASS</a:t>
            </a:r>
          </a:p>
          <a:p>
            <a:pPr algn="l">
              <a:lnSpc>
                <a:spcPct val="95000"/>
              </a:lnSpc>
              <a:spcBef>
                <a:spcPts val="0"/>
              </a:spcBef>
              <a:spcAft>
                <a:spcPts val="250"/>
              </a:spcAft>
            </a:pPr>
            <a:r>
              <a:rPr sz="940" b="0" i="0">
                <a:solidFill>
                  <a:srgbClr val="262626"/>
                </a:solidFill>
                <a:latin typeface="Calibri"/>
              </a:rPr>
              <a:t>–  The audit log still exposes no update or delete operation — PASS</a:t>
            </a:r>
          </a:p>
        </p:txBody>
      </p:sp>
      <p:sp>
        <p:nvSpPr>
          <p:cNvPr id="23" name="Rectangle 22"/>
          <p:cNvSpPr/>
          <p:nvPr/>
        </p:nvSpPr>
        <p:spPr>
          <a:xfrm>
            <a:off x="502920" y="4455264"/>
            <a:ext cx="11185855" cy="420000"/>
          </a:xfrm>
          <a:prstGeom prst="rect">
            <a:avLst/>
          </a:prstGeom>
          <a:solidFill>
            <a:srgbClr val="FDF6E7"/>
          </a:solidFill>
          <a:ln w="9525">
            <a:solidFill>
              <a:srgbClr val="E8D5A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40080" y="4519272"/>
            <a:ext cx="10911535" cy="292000"/>
          </a:xfrm>
          <a:prstGeom prst="rect">
            <a:avLst/>
          </a:prstGeom>
          <a:noFill/>
        </p:spPr>
        <p:txBody>
          <a:bodyPr wrap="square" anchor="t" lIns="0" rIns="0" tIns="0" bIns="0">
            <a:spAutoFit/>
          </a:bodyPr>
          <a:lstStyle/>
          <a:p>
            <a:pPr algn="l">
              <a:lnSpc>
                <a:spcPct val="95000"/>
              </a:lnSpc>
              <a:spcBef>
                <a:spcPts val="0"/>
              </a:spcBef>
              <a:spcAft>
                <a:spcPts val="0"/>
              </a:spcAft>
            </a:pPr>
            <a:r>
              <a:rPr sz="940" b="1" i="0">
                <a:solidFill>
                  <a:srgbClr val="7A5200"/>
                </a:solidFill>
                <a:latin typeface="Calibri"/>
              </a:rPr>
              <a:t>Stated limit: in this sandbox the H2 file lock cannot be acquired, so a second process opens the file read-only and only one process may write at a time. That is an environment restriction, not a property of the design — and it is why the proof is a write-then-exit-then-read, not a live two-writer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DEMONSTRATION  ·  3 MINUTES</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One run, five changes: deploy, start, two roles, bad input, persistence, evidence</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peter operates  ·  finn narrates</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Live where the cluster is up; recorded backup cued on the desktop.</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10</a:t>
            </a:r>
          </a:p>
        </p:txBody>
      </p:sp>
      <p:sp>
        <p:nvSpPr>
          <p:cNvPr id="9" name="Rectangle 8"/>
          <p:cNvSpPr/>
          <p:nvPr/>
        </p:nvSpPr>
        <p:spPr>
          <a:xfrm>
            <a:off x="502920" y="1459752"/>
            <a:ext cx="11185855" cy="571900"/>
          </a:xfrm>
          <a:prstGeom prst="rect">
            <a:avLst/>
          </a:prstGeom>
          <a:solidFill>
            <a:srgbClr val="F2F6FB"/>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603504" y="154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1</a:t>
            </a:r>
          </a:p>
        </p:txBody>
      </p:sp>
      <p:sp>
        <p:nvSpPr>
          <p:cNvPr id="11" name="TextBox 10"/>
          <p:cNvSpPr txBox="1"/>
          <p:nvPr/>
        </p:nvSpPr>
        <p:spPr>
          <a:xfrm>
            <a:off x="962920" y="152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Deploy</a:t>
            </a:r>
          </a:p>
        </p:txBody>
      </p:sp>
      <p:sp>
        <p:nvSpPr>
          <p:cNvPr id="12" name="TextBox 11"/>
          <p:cNvSpPr txBox="1"/>
          <p:nvPr/>
        </p:nvSpPr>
        <p:spPr>
          <a:xfrm>
            <a:off x="2202920" y="152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node 09_Tests_and_Tools/deploy-all.mjs</a:t>
            </a:r>
          </a:p>
        </p:txBody>
      </p:sp>
      <p:sp>
        <p:nvSpPr>
          <p:cNvPr id="13" name="TextBox 12"/>
          <p:cNvSpPr txBox="1"/>
          <p:nvPr/>
        </p:nvSpPr>
        <p:spPr>
          <a:xfrm>
            <a:off x="6202920" y="152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7 definitions and 69 forms in one command.</a:t>
            </a:r>
          </a:p>
        </p:txBody>
      </p:sp>
      <p:sp>
        <p:nvSpPr>
          <p:cNvPr id="14" name="Rectangle 13"/>
          <p:cNvSpPr/>
          <p:nvPr/>
        </p:nvSpPr>
        <p:spPr>
          <a:xfrm>
            <a:off x="502920" y="2069752"/>
            <a:ext cx="11185855" cy="571900"/>
          </a:xfrm>
          <a:prstGeom prst="rect">
            <a:avLst/>
          </a:prstGeom>
          <a:solidFill>
            <a:srgbClr val="FFFFFF"/>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603504" y="215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2</a:t>
            </a:r>
          </a:p>
        </p:txBody>
      </p:sp>
      <p:sp>
        <p:nvSpPr>
          <p:cNvPr id="16" name="TextBox 15"/>
          <p:cNvSpPr txBox="1"/>
          <p:nvPr/>
        </p:nvSpPr>
        <p:spPr>
          <a:xfrm>
            <a:off x="962920" y="213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Start</a:t>
            </a:r>
          </a:p>
        </p:txBody>
      </p:sp>
      <p:sp>
        <p:nvSpPr>
          <p:cNvPr id="17" name="TextBox 16"/>
          <p:cNvSpPr txBox="1"/>
          <p:nvPr/>
        </p:nvSpPr>
        <p:spPr>
          <a:xfrm>
            <a:off x="2202920" y="213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Start Patient referral from Operate</a:t>
            </a:r>
          </a:p>
        </p:txBody>
      </p:sp>
      <p:sp>
        <p:nvSpPr>
          <p:cNvPr id="18" name="TextBox 17"/>
          <p:cNvSpPr txBox="1"/>
          <p:nvPr/>
        </p:nvSpPr>
        <p:spPr>
          <a:xfrm>
            <a:off x="6202920" y="213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An instance appears in Operate.</a:t>
            </a:r>
          </a:p>
        </p:txBody>
      </p:sp>
      <p:sp>
        <p:nvSpPr>
          <p:cNvPr id="19" name="Rectangle 18"/>
          <p:cNvSpPr/>
          <p:nvPr/>
        </p:nvSpPr>
        <p:spPr>
          <a:xfrm>
            <a:off x="502920" y="2679752"/>
            <a:ext cx="11185855" cy="571900"/>
          </a:xfrm>
          <a:prstGeom prst="rect">
            <a:avLst/>
          </a:prstGeom>
          <a:solidFill>
            <a:srgbClr val="F2F6FB"/>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603504" y="276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3</a:t>
            </a:r>
          </a:p>
        </p:txBody>
      </p:sp>
      <p:sp>
        <p:nvSpPr>
          <p:cNvPr id="21" name="TextBox 20"/>
          <p:cNvSpPr txBox="1"/>
          <p:nvPr/>
        </p:nvSpPr>
        <p:spPr>
          <a:xfrm>
            <a:off x="962920" y="274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Role A</a:t>
            </a:r>
          </a:p>
        </p:txBody>
      </p:sp>
      <p:sp>
        <p:nvSpPr>
          <p:cNvPr id="22" name="TextBox 21"/>
          <p:cNvSpPr txBox="1"/>
          <p:nvPr/>
        </p:nvSpPr>
        <p:spPr>
          <a:xfrm>
            <a:off x="2202920" y="274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Tasklist as secretary.demo</a:t>
            </a:r>
          </a:p>
        </p:txBody>
      </p:sp>
      <p:sp>
        <p:nvSpPr>
          <p:cNvPr id="23" name="TextBox 22"/>
          <p:cNvSpPr txBox="1"/>
          <p:nvPr/>
        </p:nvSpPr>
        <p:spPr>
          <a:xfrm>
            <a:off x="6202920" y="274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The Medical Secretaries inbox.</a:t>
            </a:r>
          </a:p>
        </p:txBody>
      </p:sp>
      <p:sp>
        <p:nvSpPr>
          <p:cNvPr id="24" name="Rectangle 23"/>
          <p:cNvSpPr/>
          <p:nvPr/>
        </p:nvSpPr>
        <p:spPr>
          <a:xfrm>
            <a:off x="502920" y="3289752"/>
            <a:ext cx="11185855" cy="571900"/>
          </a:xfrm>
          <a:prstGeom prst="rect">
            <a:avLst/>
          </a:prstGeom>
          <a:solidFill>
            <a:srgbClr val="FFFFFF"/>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ounded Rectangle 24"/>
          <p:cNvSpPr/>
          <p:nvPr/>
        </p:nvSpPr>
        <p:spPr>
          <a:xfrm>
            <a:off x="603504" y="337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4</a:t>
            </a:r>
          </a:p>
        </p:txBody>
      </p:sp>
      <p:sp>
        <p:nvSpPr>
          <p:cNvPr id="26" name="TextBox 25"/>
          <p:cNvSpPr txBox="1"/>
          <p:nvPr/>
        </p:nvSpPr>
        <p:spPr>
          <a:xfrm>
            <a:off x="962920" y="335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Role B</a:t>
            </a:r>
          </a:p>
        </p:txBody>
      </p:sp>
      <p:sp>
        <p:nvSpPr>
          <p:cNvPr id="27" name="TextBox 26"/>
          <p:cNvSpPr txBox="1"/>
          <p:nvPr/>
        </p:nvSpPr>
        <p:spPr>
          <a:xfrm>
            <a:off x="2202920" y="335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Same Tasklist as finance.demo</a:t>
            </a:r>
          </a:p>
        </p:txBody>
      </p:sp>
      <p:sp>
        <p:nvSpPr>
          <p:cNvPr id="28" name="TextBox 27"/>
          <p:cNvSpPr txBox="1"/>
          <p:nvPr/>
        </p:nvSpPr>
        <p:spPr>
          <a:xfrm>
            <a:off x="6202920" y="335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Different inbox. RBAC is live, not designed.</a:t>
            </a:r>
          </a:p>
        </p:txBody>
      </p:sp>
      <p:sp>
        <p:nvSpPr>
          <p:cNvPr id="29" name="Rectangle 28"/>
          <p:cNvSpPr/>
          <p:nvPr/>
        </p:nvSpPr>
        <p:spPr>
          <a:xfrm>
            <a:off x="502920" y="3899752"/>
            <a:ext cx="11185855" cy="571900"/>
          </a:xfrm>
          <a:prstGeom prst="rect">
            <a:avLst/>
          </a:prstGeom>
          <a:solidFill>
            <a:srgbClr val="F2F6FB"/>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Rounded Rectangle 29"/>
          <p:cNvSpPr/>
          <p:nvPr/>
        </p:nvSpPr>
        <p:spPr>
          <a:xfrm>
            <a:off x="603504" y="398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5</a:t>
            </a:r>
          </a:p>
        </p:txBody>
      </p:sp>
      <p:sp>
        <p:nvSpPr>
          <p:cNvPr id="31" name="TextBox 30"/>
          <p:cNvSpPr txBox="1"/>
          <p:nvPr/>
        </p:nvSpPr>
        <p:spPr>
          <a:xfrm>
            <a:off x="962920" y="396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Bad input</a:t>
            </a:r>
          </a:p>
        </p:txBody>
      </p:sp>
      <p:sp>
        <p:nvSpPr>
          <p:cNvPr id="32" name="TextBox 31"/>
          <p:cNvSpPr txBox="1"/>
          <p:nvPr/>
        </p:nvSpPr>
        <p:spPr>
          <a:xfrm>
            <a:off x="2202920" y="396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Open a form, submit it empty</a:t>
            </a:r>
          </a:p>
        </p:txBody>
      </p:sp>
      <p:sp>
        <p:nvSpPr>
          <p:cNvPr id="33" name="TextBox 32"/>
          <p:cNvSpPr txBox="1"/>
          <p:nvPr/>
        </p:nvSpPr>
        <p:spPr>
          <a:xfrm>
            <a:off x="6202920" y="396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Required and format validation stop it.</a:t>
            </a:r>
          </a:p>
        </p:txBody>
      </p:sp>
      <p:sp>
        <p:nvSpPr>
          <p:cNvPr id="34" name="Rectangle 33"/>
          <p:cNvSpPr/>
          <p:nvPr/>
        </p:nvSpPr>
        <p:spPr>
          <a:xfrm>
            <a:off x="502920" y="4509752"/>
            <a:ext cx="11185855" cy="571900"/>
          </a:xfrm>
          <a:prstGeom prst="rect">
            <a:avLst/>
          </a:prstGeom>
          <a:solidFill>
            <a:srgbClr val="FFFFFF"/>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ounded Rectangle 34"/>
          <p:cNvSpPr/>
          <p:nvPr/>
        </p:nvSpPr>
        <p:spPr>
          <a:xfrm>
            <a:off x="603504" y="459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6</a:t>
            </a:r>
          </a:p>
        </p:txBody>
      </p:sp>
      <p:sp>
        <p:nvSpPr>
          <p:cNvPr id="36" name="TextBox 35"/>
          <p:cNvSpPr txBox="1"/>
          <p:nvPr/>
        </p:nvSpPr>
        <p:spPr>
          <a:xfrm>
            <a:off x="962920" y="457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Persist</a:t>
            </a:r>
          </a:p>
        </p:txBody>
      </p:sp>
      <p:sp>
        <p:nvSpPr>
          <p:cNvPr id="37" name="TextBox 36"/>
          <p:cNvSpPr txBox="1"/>
          <p:nvPr/>
        </p:nvSpPr>
        <p:spPr>
          <a:xfrm>
            <a:off x="2202920" y="457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run-1-write, close, then run-2-read</a:t>
            </a:r>
          </a:p>
        </p:txBody>
      </p:sp>
      <p:sp>
        <p:nvSpPr>
          <p:cNvPr id="38" name="TextBox 37"/>
          <p:cNvSpPr txBox="1"/>
          <p:nvPr/>
        </p:nvSpPr>
        <p:spPr>
          <a:xfrm>
            <a:off x="6202920" y="457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7 of 7, across two JVMs.</a:t>
            </a:r>
          </a:p>
        </p:txBody>
      </p:sp>
      <p:sp>
        <p:nvSpPr>
          <p:cNvPr id="39" name="Rectangle 38"/>
          <p:cNvSpPr/>
          <p:nvPr/>
        </p:nvSpPr>
        <p:spPr>
          <a:xfrm>
            <a:off x="502920" y="5119752"/>
            <a:ext cx="11185855" cy="571900"/>
          </a:xfrm>
          <a:prstGeom prst="rect">
            <a:avLst/>
          </a:prstGeom>
          <a:solidFill>
            <a:srgbClr val="F2F6FB"/>
          </a:solidFill>
          <a:ln w="7620">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ounded Rectangle 39"/>
          <p:cNvSpPr/>
          <p:nvPr/>
        </p:nvSpPr>
        <p:spPr>
          <a:xfrm>
            <a:off x="603504" y="5202048"/>
            <a:ext cx="274320" cy="246888"/>
          </a:xfrm>
          <a:prstGeom prst="roundRect">
            <a:avLst>
              <a:gd name="adj" fmla="val 25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7</a:t>
            </a:r>
          </a:p>
        </p:txBody>
      </p:sp>
      <p:sp>
        <p:nvSpPr>
          <p:cNvPr id="41" name="TextBox 40"/>
          <p:cNvSpPr txBox="1"/>
          <p:nvPr/>
        </p:nvSpPr>
        <p:spPr>
          <a:xfrm>
            <a:off x="962920" y="5183760"/>
            <a:ext cx="1200000" cy="481984"/>
          </a:xfrm>
          <a:prstGeom prst="rect">
            <a:avLst/>
          </a:prstGeom>
          <a:noFill/>
        </p:spPr>
        <p:txBody>
          <a:bodyPr wrap="square" anchor="ctr" lIns="0" rIns="0" tIns="0" bIns="0">
            <a:spAutoFit/>
          </a:bodyPr>
          <a:lstStyle/>
          <a:p>
            <a:pPr algn="l">
              <a:spcBef>
                <a:spcPts val="0"/>
              </a:spcBef>
              <a:spcAft>
                <a:spcPts val="0"/>
              </a:spcAft>
            </a:pPr>
            <a:r>
              <a:rPr sz="1150" b="1" i="0">
                <a:solidFill>
                  <a:srgbClr val="1F3864"/>
                </a:solidFill>
                <a:latin typeface="Calibri"/>
              </a:rPr>
              <a:t>Evidence</a:t>
            </a:r>
          </a:p>
        </p:txBody>
      </p:sp>
      <p:sp>
        <p:nvSpPr>
          <p:cNvPr id="42" name="TextBox 41"/>
          <p:cNvSpPr txBox="1"/>
          <p:nvPr/>
        </p:nvSpPr>
        <p:spPr>
          <a:xfrm>
            <a:off x="2202920" y="5183760"/>
            <a:ext cx="3900000" cy="481984"/>
          </a:xfrm>
          <a:prstGeom prst="rect">
            <a:avLst/>
          </a:prstGeom>
          <a:noFill/>
        </p:spPr>
        <p:txBody>
          <a:bodyPr wrap="square" anchor="ctr" lIns="0" rIns="0" tIns="0" bIns="0">
            <a:spAutoFit/>
          </a:bodyPr>
          <a:lstStyle/>
          <a:p>
            <a:pPr algn="l">
              <a:spcBef>
                <a:spcPts val="0"/>
              </a:spcBef>
              <a:spcAft>
                <a:spcPts val="0"/>
              </a:spcAft>
            </a:pPr>
            <a:r>
              <a:rPr sz="880" b="0" i="0">
                <a:solidFill>
                  <a:srgbClr val="595959"/>
                </a:solidFill>
                <a:latin typeface="Calibri"/>
              </a:rPr>
              <a:t>Open the acceptance run log</a:t>
            </a:r>
          </a:p>
        </p:txBody>
      </p:sp>
      <p:sp>
        <p:nvSpPr>
          <p:cNvPr id="43" name="TextBox 42"/>
          <p:cNvSpPr txBox="1"/>
          <p:nvPr/>
        </p:nvSpPr>
        <p:spPr>
          <a:xfrm>
            <a:off x="6202920" y="5183760"/>
            <a:ext cx="5360000" cy="481984"/>
          </a:xfrm>
          <a:prstGeom prst="rect">
            <a:avLst/>
          </a:prstGeom>
          <a:noFill/>
        </p:spPr>
        <p:txBody>
          <a:bodyPr wrap="square" anchor="ctr" lIns="0" rIns="0" tIns="0" bIns="0">
            <a:spAutoFit/>
          </a:bodyPr>
          <a:lstStyle/>
          <a:p>
            <a:pPr algn="l">
              <a:lnSpc>
                <a:spcPct val="95000"/>
              </a:lnSpc>
              <a:spcBef>
                <a:spcPts val="0"/>
              </a:spcBef>
              <a:spcAft>
                <a:spcPts val="0"/>
              </a:spcAft>
            </a:pPr>
            <a:r>
              <a:rPr sz="940" b="0" i="0">
                <a:solidFill>
                  <a:srgbClr val="262626"/>
                </a:solidFill>
                <a:latin typeface="Calibri"/>
              </a:rPr>
              <a:t>The run log, dated, with its case count.</a:t>
            </a:r>
          </a:p>
        </p:txBody>
      </p:sp>
      <p:sp>
        <p:nvSpPr>
          <p:cNvPr id="44" name="TextBox 43"/>
          <p:cNvSpPr txBox="1"/>
          <p:nvPr/>
        </p:nvSpPr>
        <p:spPr>
          <a:xfrm>
            <a:off x="502920" y="5802904"/>
            <a:ext cx="11185855" cy="320040"/>
          </a:xfrm>
          <a:prstGeom prst="rect">
            <a:avLst/>
          </a:prstGeom>
          <a:noFill/>
        </p:spPr>
        <p:txBody>
          <a:bodyPr wrap="square" anchor="t" lIns="0" rIns="0" tIns="0" bIns="0">
            <a:spAutoFit/>
          </a:bodyPr>
          <a:lstStyle/>
          <a:p>
            <a:pPr algn="l">
              <a:spcBef>
                <a:spcPts val="0"/>
              </a:spcBef>
              <a:spcAft>
                <a:spcPts val="0"/>
              </a:spcAft>
            </a:pPr>
            <a:r>
              <a:rPr sz="960" b="1" i="0">
                <a:solidFill>
                  <a:srgbClr val="B03A2E"/>
                </a:solidFill>
                <a:latin typeface="Calibri"/>
              </a:rPr>
              <a:t>If the cluster does not start: play the recording, keep the log and screenshots on the slide. We do not gamble live.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FURTHER DEVELOPMENT  ·  CHANGE 5 OF 5</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2100" b="1" i="0">
                <a:solidFill>
                  <a:srgbClr val="1F3864"/>
                </a:solidFill>
                <a:latin typeface="Calibri"/>
              </a:rPr>
              <a:t>Change 5 — the acceptance run, including the one that failed</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peter</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A criterion that has never failed has never been tested. We keep the failed run in the record.</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11</a:t>
            </a:r>
          </a:p>
        </p:txBody>
      </p:sp>
      <p:graphicFrame>
        <p:nvGraphicFramePr>
          <p:cNvPr id="9" name="Table 8"/>
          <p:cNvGraphicFramePr>
            <a:graphicFrameLocks noGrp="1"/>
          </p:cNvGraphicFramePr>
          <p:nvPr/>
        </p:nvGraphicFramePr>
        <p:xfrm>
          <a:off x="502920" y="1501752"/>
          <a:ext cx="11185852" cy="1320000"/>
        </p:xfrm>
        <a:graphic>
          <a:graphicData uri="http://schemas.openxmlformats.org/drawingml/2006/table">
            <a:tbl>
              <a:tblPr firstRow="1" bandRow="1">
                <a:tableStyleId>{2D5ABB26-0587-4C30-8999-92F81FD0307C}</a:tableStyleId>
              </a:tblPr>
              <a:tblGrid>
                <a:gridCol w="2282827"/>
                <a:gridCol w="1712120"/>
                <a:gridCol w="1084343"/>
                <a:gridCol w="3253029"/>
                <a:gridCol w="970201"/>
                <a:gridCol w="1883332"/>
              </a:tblGrid>
              <a:tr h="330000">
                <a:tc>
                  <a:txBody>
                    <a:bodyPr wrap="square"/>
                    <a:lstStyle/>
                    <a:p>
                      <a:pPr algn="l">
                        <a:lnSpc>
                          <a:spcPct val="92000"/>
                        </a:lnSpc>
                      </a:pPr>
                      <a:r>
                        <a:rPr sz="880" b="1">
                          <a:solidFill>
                            <a:srgbClr val="FFFFFF"/>
                          </a:solidFill>
                          <a:latin typeface="Calibri"/>
                        </a:rPr>
                        <a:t>Run</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Date</a:t>
                      </a:r>
                    </a:p>
                  </a:txBody>
                  <a:tcPr marL="64008" marR="54864" marT="22860" marB="22860" anchor="ctr">
                    <a:solidFill>
                      <a:srgbClr val="2E74B5"/>
                    </a:solidFill>
                  </a:tcPr>
                </a:tc>
                <a:tc>
                  <a:txBody>
                    <a:bodyPr wrap="square"/>
                    <a:lstStyle/>
                    <a:p>
                      <a:pPr algn="ctr">
                        <a:lnSpc>
                          <a:spcPct val="92000"/>
                        </a:lnSpc>
                      </a:pPr>
                      <a:r>
                        <a:rPr sz="880" b="1">
                          <a:solidFill>
                            <a:srgbClr val="FFFFFF"/>
                          </a:solidFill>
                          <a:latin typeface="Calibri"/>
                        </a:rPr>
                        <a:t>Definitions</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Cases</a:t>
                      </a:r>
                    </a:p>
                  </a:txBody>
                  <a:tcPr marL="64008" marR="54864" marT="22860" marB="22860" anchor="ctr">
                    <a:solidFill>
                      <a:srgbClr val="2E74B5"/>
                    </a:solidFill>
                  </a:tcPr>
                </a:tc>
                <a:tc>
                  <a:txBody>
                    <a:bodyPr wrap="square"/>
                    <a:lstStyle/>
                    <a:p>
                      <a:pPr algn="ctr">
                        <a:lnSpc>
                          <a:spcPct val="92000"/>
                        </a:lnSpc>
                      </a:pPr>
                      <a:r>
                        <a:rPr sz="880" b="1">
                          <a:solidFill>
                            <a:srgbClr val="FFFFFF"/>
                          </a:solidFill>
                          <a:latin typeface="Calibri"/>
                        </a:rPr>
                        <a:t>Incidents</a:t>
                      </a:r>
                    </a:p>
                  </a:txBody>
                  <a:tcPr marL="64008" marR="54864" marT="22860" marB="22860" anchor="ctr">
                    <a:solidFill>
                      <a:srgbClr val="2E74B5"/>
                    </a:solidFill>
                  </a:tcPr>
                </a:tc>
                <a:tc>
                  <a:txBody>
                    <a:bodyPr wrap="square"/>
                    <a:lstStyle/>
                    <a:p>
                      <a:pPr algn="l">
                        <a:lnSpc>
                          <a:spcPct val="92000"/>
                        </a:lnSpc>
                      </a:pPr>
                      <a:r>
                        <a:rPr sz="880" b="1">
                          <a:solidFill>
                            <a:srgbClr val="FFFFFF"/>
                          </a:solidFill>
                          <a:latin typeface="Calibri"/>
                        </a:rPr>
                        <a:t>Status</a:t>
                      </a:r>
                    </a:p>
                  </a:txBody>
                  <a:tcPr marL="64008" marR="54864" marT="22860" marB="22860" anchor="ctr">
                    <a:solidFill>
                      <a:srgbClr val="2E74B5"/>
                    </a:solidFill>
                  </a:tcPr>
                </a:tc>
              </a:tr>
              <a:tr h="330000">
                <a:tc>
                  <a:txBody>
                    <a:bodyPr wrap="square"/>
                    <a:lstStyle/>
                    <a:p>
                      <a:pPr algn="l">
                        <a:lnSpc>
                          <a:spcPct val="92000"/>
                        </a:lnSpc>
                      </a:pPr>
                      <a:r>
                        <a:rPr sz="880" b="0">
                          <a:solidFill>
                            <a:srgbClr val="262626"/>
                          </a:solidFill>
                          <a:latin typeface="Calibri"/>
                        </a:rPr>
                        <a:t>Initial release  (tag sr2)</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26 September 2026</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6</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18 / 18</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0</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Baseline — the run behind the initial release</a:t>
                      </a:r>
                    </a:p>
                  </a:txBody>
                  <a:tcPr marL="64008" marR="54864" marT="22860" marB="22860" anchor="ctr">
                    <a:solidFill>
                      <a:srgbClr val="FFFFFF"/>
                    </a:solidFill>
                  </a:tcPr>
                </a:tc>
              </a:tr>
              <a:tr h="330000">
                <a:tc>
                  <a:txBody>
                    <a:bodyPr wrap="square"/>
                    <a:lstStyle/>
                    <a:p>
                      <a:pPr algn="l">
                        <a:lnSpc>
                          <a:spcPct val="92000"/>
                        </a:lnSpc>
                      </a:pPr>
                      <a:r>
                        <a:rPr sz="880" b="0">
                          <a:solidFill>
                            <a:srgbClr val="262626"/>
                          </a:solidFill>
                          <a:latin typeface="Calibri"/>
                        </a:rPr>
                        <a:t>Second-release rerun</a:t>
                      </a:r>
                    </a:p>
                  </a:txBody>
                  <a:tcPr marL="64008" marR="54864" marT="22860" marB="22860" anchor="ctr">
                    <a:solidFill>
                      <a:srgbClr val="EEF2F7"/>
                    </a:solidFill>
                  </a:tcPr>
                </a:tc>
                <a:tc>
                  <a:txBody>
                    <a:bodyPr wrap="square"/>
                    <a:lstStyle/>
                    <a:p>
                      <a:pPr algn="l">
                        <a:lnSpc>
                          <a:spcPct val="92000"/>
                        </a:lnSpc>
                      </a:pPr>
                      <a:r>
                        <a:rPr sz="880" b="0">
                          <a:solidFill>
                            <a:srgbClr val="262626"/>
                          </a:solidFill>
                          <a:latin typeface="Calibri"/>
                        </a:rPr>
                        <a:t>15 October 2026</a:t>
                      </a:r>
                    </a:p>
                  </a:txBody>
                  <a:tcPr marL="64008" marR="54864" marT="22860" marB="22860" anchor="ctr">
                    <a:solidFill>
                      <a:srgbClr val="EEF2F7"/>
                    </a:solidFill>
                  </a:tcPr>
                </a:tc>
                <a:tc>
                  <a:txBody>
                    <a:bodyPr wrap="square"/>
                    <a:lstStyle/>
                    <a:p>
                      <a:pPr algn="ctr">
                        <a:lnSpc>
                          <a:spcPct val="92000"/>
                        </a:lnSpc>
                      </a:pPr>
                      <a:r>
                        <a:rPr sz="880" b="0">
                          <a:solidFill>
                            <a:srgbClr val="262626"/>
                          </a:solidFill>
                          <a:latin typeface="Calibri"/>
                        </a:rPr>
                        <a:t>7</a:t>
                      </a:r>
                    </a:p>
                  </a:txBody>
                  <a:tcPr marL="64008" marR="54864" marT="22860" marB="22860" anchor="ctr">
                    <a:solidFill>
                      <a:srgbClr val="EEF2F7"/>
                    </a:solidFill>
                  </a:tcPr>
                </a:tc>
                <a:tc>
                  <a:txBody>
                    <a:bodyPr wrap="square"/>
                    <a:lstStyle/>
                    <a:p>
                      <a:pPr algn="l">
                        <a:lnSpc>
                          <a:spcPct val="92000"/>
                        </a:lnSpc>
                      </a:pPr>
                      <a:r>
                        <a:rPr sz="880" b="0">
                          <a:solidFill>
                            <a:srgbClr val="262626"/>
                          </a:solidFill>
                          <a:latin typeface="Calibri"/>
                        </a:rPr>
                        <a:t>7 cases hit UNHANDLED_ERROR_EVENT</a:t>
                      </a:r>
                    </a:p>
                  </a:txBody>
                  <a:tcPr marL="64008" marR="54864" marT="22860" marB="22860" anchor="ctr">
                    <a:solidFill>
                      <a:srgbClr val="EEF2F7"/>
                    </a:solidFill>
                  </a:tcPr>
                </a:tc>
                <a:tc>
                  <a:txBody>
                    <a:bodyPr wrap="square"/>
                    <a:lstStyle/>
                    <a:p>
                      <a:pPr algn="ctr">
                        <a:lnSpc>
                          <a:spcPct val="92000"/>
                        </a:lnSpc>
                      </a:pPr>
                      <a:r>
                        <a:rPr sz="880" b="0">
                          <a:solidFill>
                            <a:srgbClr val="262626"/>
                          </a:solidFill>
                          <a:latin typeface="Calibri"/>
                        </a:rPr>
                        <a:t>4</a:t>
                      </a:r>
                    </a:p>
                  </a:txBody>
                  <a:tcPr marL="64008" marR="54864" marT="22860" marB="22860" anchor="ctr">
                    <a:solidFill>
                      <a:srgbClr val="EEF2F7"/>
                    </a:solidFill>
                  </a:tcPr>
                </a:tc>
                <a:tc>
                  <a:txBody>
                    <a:bodyPr wrap="square"/>
                    <a:lstStyle/>
                    <a:p>
                      <a:pPr algn="l">
                        <a:lnSpc>
                          <a:spcPct val="92000"/>
                        </a:lnSpc>
                      </a:pPr>
                      <a:r>
                        <a:rPr sz="880" b="0">
                          <a:solidFill>
                            <a:srgbClr val="262626"/>
                          </a:solidFill>
                          <a:latin typeface="Calibri"/>
                        </a:rPr>
                        <a:t>Diagnosed and fixed</a:t>
                      </a:r>
                    </a:p>
                  </a:txBody>
                  <a:tcPr marL="64008" marR="54864" marT="22860" marB="22860" anchor="ctr">
                    <a:solidFill>
                      <a:srgbClr val="EEF2F7"/>
                    </a:solidFill>
                  </a:tcPr>
                </a:tc>
              </a:tr>
              <a:tr h="330000">
                <a:tc>
                  <a:txBody>
                    <a:bodyPr wrap="square"/>
                    <a:lstStyle/>
                    <a:p>
                      <a:pPr algn="l">
                        <a:lnSpc>
                          <a:spcPct val="92000"/>
                        </a:lnSpc>
                      </a:pPr>
                      <a:r>
                        <a:rPr sz="880" b="0">
                          <a:solidFill>
                            <a:srgbClr val="262626"/>
                          </a:solidFill>
                          <a:latin typeface="Calibri"/>
                        </a:rPr>
                        <a:t>Second-release verification</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October 2026</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7</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per change: validator clean, 41 unit tests, 7/7 persistence, 0 vs 785 RBAC</a:t>
                      </a:r>
                    </a:p>
                  </a:txBody>
                  <a:tcPr marL="64008" marR="54864" marT="22860" marB="22860" anchor="ctr">
                    <a:solidFill>
                      <a:srgbClr val="FFFFFF"/>
                    </a:solidFill>
                  </a:tcPr>
                </a:tc>
                <a:tc>
                  <a:txBody>
                    <a:bodyPr wrap="square"/>
                    <a:lstStyle/>
                    <a:p>
                      <a:pPr algn="ctr">
                        <a:lnSpc>
                          <a:spcPct val="92000"/>
                        </a:lnSpc>
                      </a:pPr>
                      <a:r>
                        <a:rPr sz="880" b="0">
                          <a:solidFill>
                            <a:srgbClr val="262626"/>
                          </a:solidFill>
                          <a:latin typeface="Calibri"/>
                        </a:rPr>
                        <a:t>—</a:t>
                      </a:r>
                    </a:p>
                  </a:txBody>
                  <a:tcPr marL="64008" marR="54864" marT="22860" marB="22860" anchor="ctr">
                    <a:solidFill>
                      <a:srgbClr val="FFFFFF"/>
                    </a:solidFill>
                  </a:tcPr>
                </a:tc>
                <a:tc>
                  <a:txBody>
                    <a:bodyPr wrap="square"/>
                    <a:lstStyle/>
                    <a:p>
                      <a:pPr algn="l">
                        <a:lnSpc>
                          <a:spcPct val="92000"/>
                        </a:lnSpc>
                      </a:pPr>
                      <a:r>
                        <a:rPr sz="880" b="0">
                          <a:solidFill>
                            <a:srgbClr val="262626"/>
                          </a:solidFill>
                          <a:latin typeface="Calibri"/>
                        </a:rPr>
                        <a:t>Verified change by change, not re-run in full</a:t>
                      </a:r>
                    </a:p>
                  </a:txBody>
                  <a:tcPr marL="64008" marR="54864" marT="22860" marB="22860" anchor="ctr">
                    <a:solidFill>
                      <a:srgbClr val="FFFFFF"/>
                    </a:solidFill>
                  </a:tcPr>
                </a:tc>
              </a:tr>
            </a:tbl>
          </a:graphicData>
        </a:graphic>
      </p:graphicFrame>
      <p:sp>
        <p:nvSpPr>
          <p:cNvPr id="10" name="Rectangle 9"/>
          <p:cNvSpPr/>
          <p:nvPr/>
        </p:nvSpPr>
        <p:spPr>
          <a:xfrm>
            <a:off x="502920" y="2958912"/>
            <a:ext cx="5516727" cy="184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502920" y="2958912"/>
            <a:ext cx="38100" cy="184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21792" y="3050352"/>
            <a:ext cx="5326532" cy="171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What the failed run told us</a:t>
            </a:r>
          </a:p>
          <a:p>
            <a:pPr algn="l">
              <a:lnSpc>
                <a:spcPct val="95000"/>
              </a:lnSpc>
              <a:spcBef>
                <a:spcPts val="0"/>
              </a:spcBef>
              <a:spcAft>
                <a:spcPts val="250"/>
              </a:spcAft>
            </a:pPr>
            <a:r>
              <a:rPr sz="919" b="0" i="0">
                <a:solidFill>
                  <a:srgbClr val="262626"/>
                </a:solidFill>
                <a:latin typeface="Calibri"/>
              </a:rPr>
              <a:t>–  Three tasks raised the same error: T_NotifyReferralOutcome, T_SendAppointmentLetter, T_RedirectReferral.</a:t>
            </a:r>
          </a:p>
          <a:p>
            <a:pPr algn="l">
              <a:lnSpc>
                <a:spcPct val="95000"/>
              </a:lnSpc>
              <a:spcBef>
                <a:spcPts val="0"/>
              </a:spcBef>
              <a:spcAft>
                <a:spcPts val="250"/>
              </a:spcAft>
            </a:pPr>
            <a:r>
              <a:rPr sz="919" b="0" i="0">
                <a:solidFill>
                  <a:srgbClr val="262626"/>
                </a:solidFill>
                <a:latin typeface="Calibri"/>
              </a:rPr>
              <a:t>–  Seven cases hit it before the run died with ECONNRESET.</a:t>
            </a:r>
          </a:p>
          <a:p>
            <a:pPr algn="l">
              <a:lnSpc>
                <a:spcPct val="95000"/>
              </a:lnSpc>
              <a:spcBef>
                <a:spcPts val="0"/>
              </a:spcBef>
              <a:spcAft>
                <a:spcPts val="250"/>
              </a:spcAft>
            </a:pPr>
            <a:r>
              <a:rPr sz="919" b="0" i="0">
                <a:solidFill>
                  <a:srgbClr val="262626"/>
                </a:solidFill>
                <a:latin typeface="Calibri"/>
              </a:rPr>
              <a:t>–  Cause: the worker fleet was not subscribed when the run started, so the job was never picked up.</a:t>
            </a:r>
          </a:p>
          <a:p>
            <a:pPr algn="l">
              <a:lnSpc>
                <a:spcPct val="95000"/>
              </a:lnSpc>
              <a:spcBef>
                <a:spcPts val="0"/>
              </a:spcBef>
              <a:spcAft>
                <a:spcPts val="250"/>
              </a:spcAft>
            </a:pPr>
            <a:r>
              <a:rPr sz="919" b="0" i="0">
                <a:solidFill>
                  <a:srgbClr val="262626"/>
                </a:solidFill>
                <a:latin typeface="Calibri"/>
              </a:rPr>
              <a:t>–  All three are outbound messages, so it was one registration gap, not three separate defects.</a:t>
            </a:r>
          </a:p>
          <a:p>
            <a:pPr algn="l">
              <a:lnSpc>
                <a:spcPct val="95000"/>
              </a:lnSpc>
              <a:spcBef>
                <a:spcPts val="0"/>
              </a:spcBef>
              <a:spcAft>
                <a:spcPts val="250"/>
              </a:spcAft>
            </a:pPr>
            <a:r>
              <a:rPr sz="919" b="0" i="0">
                <a:solidFill>
                  <a:srgbClr val="262626"/>
                </a:solidFill>
                <a:latin typeface="Calibri"/>
              </a:rPr>
              <a:t>–  Fixed; the same cases pass when the fleet is up first.</a:t>
            </a:r>
          </a:p>
        </p:txBody>
      </p:sp>
      <p:sp>
        <p:nvSpPr>
          <p:cNvPr id="13" name="Rectangle 12"/>
          <p:cNvSpPr/>
          <p:nvPr/>
        </p:nvSpPr>
        <p:spPr>
          <a:xfrm>
            <a:off x="6172047" y="2958912"/>
            <a:ext cx="5516727" cy="184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6172047" y="2958912"/>
            <a:ext cx="38100" cy="184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6290919" y="3050352"/>
            <a:ext cx="5326532" cy="171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Why we keep it, and what it costs us</a:t>
            </a:r>
          </a:p>
          <a:p>
            <a:pPr algn="l">
              <a:lnSpc>
                <a:spcPct val="95000"/>
              </a:lnSpc>
              <a:spcBef>
                <a:spcPts val="0"/>
              </a:spcBef>
              <a:spcAft>
                <a:spcPts val="250"/>
              </a:spcAft>
            </a:pPr>
            <a:r>
              <a:rPr sz="919" b="0" i="0">
                <a:solidFill>
                  <a:srgbClr val="262626"/>
                </a:solidFill>
                <a:latin typeface="Calibri"/>
              </a:rPr>
              <a:t>–  The rubric asks for validation evidence, not for a clean history.</a:t>
            </a:r>
          </a:p>
          <a:p>
            <a:pPr algn="l">
              <a:lnSpc>
                <a:spcPct val="95000"/>
              </a:lnSpc>
              <a:spcBef>
                <a:spcPts val="0"/>
              </a:spcBef>
              <a:spcAft>
                <a:spcPts val="250"/>
              </a:spcAft>
            </a:pPr>
            <a:r>
              <a:rPr sz="919" b="0" i="0">
                <a:solidFill>
                  <a:srgbClr val="262626"/>
                </a:solidFill>
                <a:latin typeface="Calibri"/>
              </a:rPr>
              <a:t>–  The 18-case run belongs to the initial release and stays visible as its baseline.</a:t>
            </a:r>
          </a:p>
          <a:p>
            <a:pPr algn="l">
              <a:lnSpc>
                <a:spcPct val="95000"/>
              </a:lnSpc>
              <a:spcBef>
                <a:spcPts val="0"/>
              </a:spcBef>
              <a:spcAft>
                <a:spcPts val="250"/>
              </a:spcAft>
            </a:pPr>
            <a:r>
              <a:rPr sz="919" b="0" i="0">
                <a:solidFill>
                  <a:srgbClr val="262626"/>
                </a:solidFill>
                <a:latin typeface="Calibri"/>
              </a:rPr>
              <a:t>–  We did not complete a full re-run on the final build. Each change is verified by its own check instead — a narrower claim than a full run, and we say so.</a:t>
            </a:r>
          </a:p>
          <a:p>
            <a:pPr algn="l">
              <a:lnSpc>
                <a:spcPct val="95000"/>
              </a:lnSpc>
              <a:spcBef>
                <a:spcPts val="0"/>
              </a:spcBef>
              <a:spcAft>
                <a:spcPts val="250"/>
              </a:spcAft>
            </a:pPr>
            <a:r>
              <a:rPr sz="919" b="0" i="0">
                <a:solidFill>
                  <a:srgbClr val="262626"/>
                </a:solidFill>
                <a:latin typeface="Calibri"/>
              </a:rPr>
              <a:t>–  The 15 October run is retained as evidence rather than re-run until it passed.</a:t>
            </a:r>
          </a:p>
        </p:txBody>
      </p:sp>
      <p:sp>
        <p:nvSpPr>
          <p:cNvPr id="16" name="Rectangle 15"/>
          <p:cNvSpPr/>
          <p:nvPr/>
        </p:nvSpPr>
        <p:spPr>
          <a:xfrm>
            <a:off x="502920" y="4958912"/>
            <a:ext cx="11185855" cy="620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52920" y="5022920"/>
            <a:ext cx="10885855" cy="500000"/>
          </a:xfrm>
          <a:prstGeom prst="rect">
            <a:avLst/>
          </a:prstGeom>
          <a:noFill/>
        </p:spPr>
        <p:txBody>
          <a:bodyPr wrap="square" anchor="t" lIns="0" rIns="0" tIns="0" bIns="0">
            <a:spAutoFit/>
          </a:bodyPr>
          <a:lstStyle/>
          <a:p>
            <a:pPr algn="l">
              <a:lnSpc>
                <a:spcPct val="95000"/>
              </a:lnSpc>
              <a:spcBef>
                <a:spcPts val="0"/>
              </a:spcBef>
              <a:spcAft>
                <a:spcPts val="0"/>
              </a:spcAft>
            </a:pPr>
            <a:r>
              <a:rPr sz="1040" b="1" i="0">
                <a:solidFill>
                  <a:srgbClr val="FFFFFF"/>
                </a:solidFill>
                <a:latin typeface="Calibri"/>
              </a:rPr>
              <a:t>Three rows, three different strengths of claim. Only the first is a full end-to-end run. The third is proportionate to what changed — and we would rather show four targeted checks than one run we did not complete.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FURTHER DEVELOPMENT  ·  IMPACT</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2300" b="1" i="0">
                <a:solidFill>
                  <a:srgbClr val="1F3864"/>
                </a:solidFill>
                <a:latin typeface="Calibri"/>
              </a:rPr>
              <a:t>What the second release changed, in nine numbers</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max</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Every value on the right is checkable in the repository; the left column is what the September review saw.</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12</a:t>
            </a:r>
          </a:p>
        </p:txBody>
      </p:sp>
      <p:graphicFrame>
        <p:nvGraphicFramePr>
          <p:cNvPr id="9" name="Table 8"/>
          <p:cNvGraphicFramePr>
            <a:graphicFrameLocks noGrp="1"/>
          </p:cNvGraphicFramePr>
          <p:nvPr/>
        </p:nvGraphicFramePr>
        <p:xfrm>
          <a:off x="502920" y="1459752"/>
          <a:ext cx="11185853" cy="4620000"/>
        </p:xfrm>
        <a:graphic>
          <a:graphicData uri="http://schemas.openxmlformats.org/drawingml/2006/table">
            <a:tbl>
              <a:tblPr firstRow="1" bandRow="1">
                <a:tableStyleId>{2D5ABB26-0587-4C30-8999-92F81FD0307C}</a:tableStyleId>
              </a:tblPr>
              <a:tblGrid>
                <a:gridCol w="2437942"/>
                <a:gridCol w="3059379"/>
                <a:gridCol w="3202787"/>
                <a:gridCol w="2485745"/>
              </a:tblGrid>
              <a:tr h="462000">
                <a:tc>
                  <a:txBody>
                    <a:bodyPr wrap="square"/>
                    <a:lstStyle/>
                    <a:p>
                      <a:pPr algn="l">
                        <a:lnSpc>
                          <a:spcPct val="92000"/>
                        </a:lnSpc>
                      </a:pPr>
                      <a:r>
                        <a:rPr sz="919" b="1">
                          <a:solidFill>
                            <a:srgbClr val="FFFFFF"/>
                          </a:solidFill>
                          <a:latin typeface="Calibri"/>
                        </a:rPr>
                        <a:t/>
                      </a:r>
                    </a:p>
                  </a:txBody>
                  <a:tcPr marL="64008" marR="54864" marT="22860" marB="22860" anchor="ctr">
                    <a:solidFill>
                      <a:srgbClr val="2E74B5"/>
                    </a:solidFill>
                  </a:tcPr>
                </a:tc>
                <a:tc>
                  <a:txBody>
                    <a:bodyPr wrap="square"/>
                    <a:lstStyle/>
                    <a:p>
                      <a:pPr algn="l">
                        <a:lnSpc>
                          <a:spcPct val="92000"/>
                        </a:lnSpc>
                      </a:pPr>
                      <a:r>
                        <a:rPr sz="919" b="1">
                          <a:solidFill>
                            <a:srgbClr val="FFFFFF"/>
                          </a:solidFill>
                          <a:latin typeface="Calibri"/>
                        </a:rPr>
                        <a:t>September (initial release)</a:t>
                      </a:r>
                    </a:p>
                  </a:txBody>
                  <a:tcPr marL="64008" marR="54864" marT="22860" marB="22860" anchor="ctr">
                    <a:solidFill>
                      <a:srgbClr val="2E74B5"/>
                    </a:solidFill>
                  </a:tcPr>
                </a:tc>
                <a:tc>
                  <a:txBody>
                    <a:bodyPr wrap="square"/>
                    <a:lstStyle/>
                    <a:p>
                      <a:pPr algn="l">
                        <a:lnSpc>
                          <a:spcPct val="92000"/>
                        </a:lnSpc>
                      </a:pPr>
                      <a:r>
                        <a:rPr sz="919" b="1">
                          <a:solidFill>
                            <a:srgbClr val="FFFFFF"/>
                          </a:solidFill>
                          <a:latin typeface="Calibri"/>
                        </a:rPr>
                        <a:t>October (second release)</a:t>
                      </a:r>
                    </a:p>
                  </a:txBody>
                  <a:tcPr marL="64008" marR="54864" marT="22860" marB="22860" anchor="ctr">
                    <a:solidFill>
                      <a:srgbClr val="2E74B5"/>
                    </a:solidFill>
                  </a:tcPr>
                </a:tc>
                <a:tc>
                  <a:txBody>
                    <a:bodyPr wrap="square"/>
                    <a:lstStyle/>
                    <a:p>
                      <a:pPr algn="l">
                        <a:lnSpc>
                          <a:spcPct val="92000"/>
                        </a:lnSpc>
                      </a:pPr>
                      <a:r>
                        <a:rPr sz="919" b="1">
                          <a:solidFill>
                            <a:srgbClr val="FFFFFF"/>
                          </a:solidFill>
                          <a:latin typeface="Calibri"/>
                        </a:rPr>
                        <a:t>Where to check</a:t>
                      </a:r>
                    </a:p>
                  </a:txBody>
                  <a:tcPr marL="64008" marR="54864" marT="22860" marB="22860" anchor="ctr">
                    <a:solidFill>
                      <a:srgbClr val="2E74B5"/>
                    </a:solidFill>
                  </a:tcPr>
                </a:tc>
              </a:tr>
              <a:tr h="462000">
                <a:tc>
                  <a:txBody>
                    <a:bodyPr wrap="square"/>
                    <a:lstStyle/>
                    <a:p>
                      <a:pPr algn="l">
                        <a:lnSpc>
                          <a:spcPct val="92000"/>
                        </a:lnSpc>
                      </a:pPr>
                      <a:r>
                        <a:rPr sz="919" b="0">
                          <a:solidFill>
                            <a:srgbClr val="262626"/>
                          </a:solidFill>
                          <a:latin typeface="Calibri"/>
                        </a:rPr>
                        <a:t>Model family</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3 fragments, inconsistent pool names</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4 models, one participant register</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02_BPMN_Models</a:t>
                      </a:r>
                    </a:p>
                  </a:txBody>
                  <a:tcPr marL="64008" marR="54864" marT="22860" marB="22860" anchor="ctr">
                    <a:solidFill>
                      <a:srgbClr val="FFFFFF"/>
                    </a:solidFill>
                  </a:tcPr>
                </a:tc>
              </a:tr>
              <a:tr h="462000">
                <a:tc>
                  <a:txBody>
                    <a:bodyPr wrap="square"/>
                    <a:lstStyle/>
                    <a:p>
                      <a:pPr algn="l">
                        <a:lnSpc>
                          <a:spcPct val="92000"/>
                        </a:lnSpc>
                      </a:pPr>
                      <a:r>
                        <a:rPr sz="919" b="0">
                          <a:solidFill>
                            <a:srgbClr val="262626"/>
                          </a:solidFill>
                          <a:latin typeface="Calibri"/>
                        </a:rPr>
                        <a:t>Process definitions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6</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7</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deploy-all.mjs</a:t>
                      </a:r>
                    </a:p>
                  </a:txBody>
                  <a:tcPr marL="64008" marR="54864" marT="22860" marB="22860" anchor="ctr">
                    <a:solidFill>
                      <a:srgbClr val="EEF2F7"/>
                    </a:solidFill>
                  </a:tcPr>
                </a:tc>
              </a:tr>
              <a:tr h="462000">
                <a:tc>
                  <a:txBody>
                    <a:bodyPr wrap="square"/>
                    <a:lstStyle/>
                    <a:p>
                      <a:pPr algn="l">
                        <a:lnSpc>
                          <a:spcPct val="92000"/>
                        </a:lnSpc>
                      </a:pPr>
                      <a:r>
                        <a:rPr sz="919" b="0">
                          <a:solidFill>
                            <a:srgbClr val="262626"/>
                          </a:solidFill>
                          <a:latin typeface="Calibri"/>
                        </a:rPr>
                        <a:t>Camunda Forms</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68</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69</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03_Forms</a:t>
                      </a:r>
                    </a:p>
                  </a:txBody>
                  <a:tcPr marL="64008" marR="54864" marT="22860" marB="22860" anchor="ctr">
                    <a:solidFill>
                      <a:srgbClr val="FFFFFF"/>
                    </a:solidFill>
                  </a:tcPr>
                </a:tc>
              </a:tr>
              <a:tr h="462000">
                <a:tc>
                  <a:txBody>
                    <a:bodyPr wrap="square"/>
                    <a:lstStyle/>
                    <a:p>
                      <a:pPr algn="l">
                        <a:lnSpc>
                          <a:spcPct val="92000"/>
                        </a:lnSpc>
                      </a:pPr>
                      <a:r>
                        <a:rPr sz="919" b="0">
                          <a:solidFill>
                            <a:srgbClr val="262626"/>
                          </a:solidFill>
                          <a:latin typeface="Calibri"/>
                        </a:rPr>
                        <a:t>Form control types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2 (text, checkbox)</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6, with 115 validations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form-field-change-log.md</a:t>
                      </a:r>
                    </a:p>
                  </a:txBody>
                  <a:tcPr marL="64008" marR="54864" marT="22860" marB="22860" anchor="ctr">
                    <a:solidFill>
                      <a:srgbClr val="EEF2F7"/>
                    </a:solidFill>
                  </a:tcPr>
                </a:tc>
              </a:tr>
              <a:tr h="462000">
                <a:tc>
                  <a:txBody>
                    <a:bodyPr wrap="square"/>
                    <a:lstStyle/>
                    <a:p>
                      <a:pPr algn="l">
                        <a:lnSpc>
                          <a:spcPct val="92000"/>
                        </a:lnSpc>
                      </a:pPr>
                      <a:r>
                        <a:rPr sz="919" b="0">
                          <a:solidFill>
                            <a:srgbClr val="262626"/>
                          </a:solidFill>
                          <a:latin typeface="Calibri"/>
                        </a:rPr>
                        <a:t>Implicit parallel splits</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2 undetected</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0, both given explicit gateways</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defect-log.md DEF-17, DEF-18</a:t>
                      </a:r>
                    </a:p>
                  </a:txBody>
                  <a:tcPr marL="64008" marR="54864" marT="22860" marB="22860" anchor="ctr">
                    <a:solidFill>
                      <a:srgbClr val="FFFFFF"/>
                    </a:solidFill>
                  </a:tcPr>
                </a:tc>
              </a:tr>
              <a:tr h="462000">
                <a:tc>
                  <a:txBody>
                    <a:bodyPr wrap="square"/>
                    <a:lstStyle/>
                    <a:p>
                      <a:pPr algn="l">
                        <a:lnSpc>
                          <a:spcPct val="92000"/>
                        </a:lnSpc>
                      </a:pPr>
                      <a:r>
                        <a:rPr sz="919" b="0">
                          <a:solidFill>
                            <a:srgbClr val="262626"/>
                          </a:solidFill>
                          <a:latin typeface="Calibri"/>
                        </a:rPr>
                        <a:t>Role-based access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off — all roles, one inbox</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on — 0 vs 785 tasks, 0 failures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rbac/task-visibility.json</a:t>
                      </a:r>
                    </a:p>
                  </a:txBody>
                  <a:tcPr marL="64008" marR="54864" marT="22860" marB="22860" anchor="ctr">
                    <a:solidFill>
                      <a:srgbClr val="EEF2F7"/>
                    </a:solidFill>
                  </a:tcPr>
                </a:tc>
              </a:tr>
              <a:tr h="462000">
                <a:tc>
                  <a:txBody>
                    <a:bodyPr wrap="square"/>
                    <a:lstStyle/>
                    <a:p>
                      <a:pPr algn="l">
                        <a:lnSpc>
                          <a:spcPct val="92000"/>
                        </a:lnSpc>
                      </a:pPr>
                      <a:r>
                        <a:rPr sz="919" b="0">
                          <a:solidFill>
                            <a:srgbClr val="262626"/>
                          </a:solidFill>
                          <a:latin typeface="Calibri"/>
                        </a:rPr>
                        <a:t>Persistence</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in-memory maps</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H2, 4 tables, 7/7 across processes</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persistence/run-2-read.txt</a:t>
                      </a:r>
                    </a:p>
                  </a:txBody>
                  <a:tcPr marL="64008" marR="54864" marT="22860" marB="22860" anchor="ctr">
                    <a:solidFill>
                      <a:srgbClr val="FFFFFF"/>
                    </a:solidFill>
                  </a:tcPr>
                </a:tc>
              </a:tr>
              <a:tr h="462000">
                <a:tc>
                  <a:txBody>
                    <a:bodyPr wrap="square"/>
                    <a:lstStyle/>
                    <a:p>
                      <a:pPr algn="l">
                        <a:lnSpc>
                          <a:spcPct val="92000"/>
                        </a:lnSpc>
                      </a:pPr>
                      <a:r>
                        <a:rPr sz="919" b="0">
                          <a:solidFill>
                            <a:srgbClr val="262626"/>
                          </a:solidFill>
                          <a:latin typeface="Calibri"/>
                        </a:rPr>
                        <a:t>Verification</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18 acceptance cases, 6 definitions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18 cases plus validator, 41 unit tests, RBAC and persistence checks</a:t>
                      </a:r>
                    </a:p>
                  </a:txBody>
                  <a:tcPr marL="64008" marR="54864" marT="22860" marB="22860" anchor="ctr">
                    <a:solidFill>
                      <a:srgbClr val="EEF2F7"/>
                    </a:solidFill>
                  </a:tcPr>
                </a:tc>
                <a:tc>
                  <a:txBody>
                    <a:bodyPr wrap="square"/>
                    <a:lstStyle/>
                    <a:p>
                      <a:pPr algn="l">
                        <a:lnSpc>
                          <a:spcPct val="92000"/>
                        </a:lnSpc>
                      </a:pPr>
                      <a:r>
                        <a:rPr sz="919" b="0">
                          <a:solidFill>
                            <a:srgbClr val="262626"/>
                          </a:solidFill>
                          <a:latin typeface="Calibri"/>
                        </a:rPr>
                        <a:t>05_Test_Evidence</a:t>
                      </a:r>
                    </a:p>
                  </a:txBody>
                  <a:tcPr marL="64008" marR="54864" marT="22860" marB="22860" anchor="ctr">
                    <a:solidFill>
                      <a:srgbClr val="EEF2F7"/>
                    </a:solidFill>
                  </a:tcPr>
                </a:tc>
              </a:tr>
              <a:tr h="462000">
                <a:tc>
                  <a:txBody>
                    <a:bodyPr wrap="square"/>
                    <a:lstStyle/>
                    <a:p>
                      <a:pPr algn="l">
                        <a:lnSpc>
                          <a:spcPct val="92000"/>
                        </a:lnSpc>
                      </a:pPr>
                      <a:r>
                        <a:rPr sz="919" b="0">
                          <a:solidFill>
                            <a:srgbClr val="262626"/>
                          </a:solidFill>
                          <a:latin typeface="Calibri"/>
                        </a:rPr>
                        <a:t>Failed-run history</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not recorded</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kept, with cause and fix</a:t>
                      </a:r>
                    </a:p>
                  </a:txBody>
                  <a:tcPr marL="64008" marR="54864" marT="22860" marB="22860" anchor="ctr">
                    <a:solidFill>
                      <a:srgbClr val="FFFFFF"/>
                    </a:solidFill>
                  </a:tcPr>
                </a:tc>
                <a:tc>
                  <a:txBody>
                    <a:bodyPr wrap="square"/>
                    <a:lstStyle/>
                    <a:p>
                      <a:pPr algn="l">
                        <a:lnSpc>
                          <a:spcPct val="92000"/>
                        </a:lnSpc>
                      </a:pPr>
                      <a:r>
                        <a:rPr sz="919" b="0">
                          <a:solidFill>
                            <a:srgbClr val="262626"/>
                          </a:solidFill>
                          <a:latin typeface="Calibri"/>
                        </a:rPr>
                        <a:t>acceptance-rerun.log</a:t>
                      </a:r>
                    </a:p>
                  </a:txBody>
                  <a:tcPr marL="64008" marR="54864" marT="22860" marB="2286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EVALUATION OF THE PROJECT PLAN  ·  25%</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Planned against actual: where 196 planned hours met 128 nominal hours</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henry</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Sprint 3 was planned at 116 hours against 80 nominal. Sprint 4 at 80 against 48. Both overran on the metric we set ourselves.</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13</a:t>
            </a:r>
          </a:p>
        </p:txBody>
      </p:sp>
      <p:graphicFrame>
        <p:nvGraphicFramePr>
          <p:cNvPr id="9" name="Table 8"/>
          <p:cNvGraphicFramePr>
            <a:graphicFrameLocks noGrp="1"/>
          </p:cNvGraphicFramePr>
          <p:nvPr/>
        </p:nvGraphicFramePr>
        <p:xfrm>
          <a:off x="502920" y="1501752"/>
          <a:ext cx="11185853" cy="1200000"/>
        </p:xfrm>
        <a:graphic>
          <a:graphicData uri="http://schemas.openxmlformats.org/drawingml/2006/table">
            <a:tbl>
              <a:tblPr firstRow="1" bandRow="1">
                <a:tableStyleId>{2D5ABB26-0587-4C30-8999-92F81FD0307C}</a:tableStyleId>
              </a:tblPr>
              <a:tblGrid>
                <a:gridCol w="2276766"/>
                <a:gridCol w="1286868"/>
                <a:gridCol w="1781817"/>
                <a:gridCol w="1484848"/>
                <a:gridCol w="4355554"/>
              </a:tblGrid>
              <a:tr h="400000">
                <a:tc>
                  <a:txBody>
                    <a:bodyPr wrap="square"/>
                    <a:lstStyle/>
                    <a:p>
                      <a:pPr algn="l">
                        <a:lnSpc>
                          <a:spcPct val="92000"/>
                        </a:lnSpc>
                      </a:pPr>
                      <a:r>
                        <a:rPr sz="980" b="1">
                          <a:solidFill>
                            <a:srgbClr val="FFFFFF"/>
                          </a:solidFill>
                          <a:latin typeface="Calibri"/>
                        </a:rPr>
                        <a:t>Sprint</a:t>
                      </a:r>
                    </a:p>
                  </a:txBody>
                  <a:tcPr marL="64008" marR="54864" marT="22860" marB="22860" anchor="ctr">
                    <a:solidFill>
                      <a:srgbClr val="2E74B5"/>
                    </a:solidFill>
                  </a:tcPr>
                </a:tc>
                <a:tc>
                  <a:txBody>
                    <a:bodyPr wrap="square"/>
                    <a:lstStyle/>
                    <a:p>
                      <a:pPr algn="ctr">
                        <a:lnSpc>
                          <a:spcPct val="92000"/>
                        </a:lnSpc>
                      </a:pPr>
                      <a:r>
                        <a:rPr sz="980" b="1">
                          <a:solidFill>
                            <a:srgbClr val="FFFFFF"/>
                          </a:solidFill>
                          <a:latin typeface="Calibri"/>
                        </a:rPr>
                        <a:t>Planned</a:t>
                      </a:r>
                    </a:p>
                  </a:txBody>
                  <a:tcPr marL="64008" marR="54864" marT="22860" marB="22860" anchor="ctr">
                    <a:solidFill>
                      <a:srgbClr val="2E74B5"/>
                    </a:solidFill>
                  </a:tcPr>
                </a:tc>
                <a:tc>
                  <a:txBody>
                    <a:bodyPr wrap="square"/>
                    <a:lstStyle/>
                    <a:p>
                      <a:pPr algn="ctr">
                        <a:lnSpc>
                          <a:spcPct val="92000"/>
                        </a:lnSpc>
                      </a:pPr>
                      <a:r>
                        <a:rPr sz="980" b="1">
                          <a:solidFill>
                            <a:srgbClr val="FFFFFF"/>
                          </a:solidFill>
                          <a:latin typeface="Calibri"/>
                        </a:rPr>
                        <a:t>Nominal capacity</a:t>
                      </a:r>
                    </a:p>
                  </a:txBody>
                  <a:tcPr marL="64008" marR="54864" marT="22860" marB="22860" anchor="ctr">
                    <a:solidFill>
                      <a:srgbClr val="2E74B5"/>
                    </a:solidFill>
                  </a:tcPr>
                </a:tc>
                <a:tc>
                  <a:txBody>
                    <a:bodyPr wrap="square"/>
                    <a:lstStyle/>
                    <a:p>
                      <a:pPr algn="ctr">
                        <a:lnSpc>
                          <a:spcPct val="92000"/>
                        </a:lnSpc>
                      </a:pPr>
                      <a:r>
                        <a:rPr sz="980" b="1">
                          <a:solidFill>
                            <a:srgbClr val="FFFFFF"/>
                          </a:solidFill>
                          <a:latin typeface="Calibri"/>
                        </a:rPr>
                        <a:t>Over nominal</a:t>
                      </a:r>
                    </a:p>
                  </a:txBody>
                  <a:tcPr marL="64008" marR="54864" marT="22860" marB="22860" anchor="ctr">
                    <a:solidFill>
                      <a:srgbClr val="2E74B5"/>
                    </a:solidFill>
                  </a:tcPr>
                </a:tc>
                <a:tc>
                  <a:txBody>
                    <a:bodyPr wrap="square"/>
                    <a:lstStyle/>
                    <a:p>
                      <a:pPr algn="l">
                        <a:lnSpc>
                          <a:spcPct val="92000"/>
                        </a:lnSpc>
                      </a:pPr>
                      <a:r>
                        <a:rPr sz="980" b="1">
                          <a:solidFill>
                            <a:srgbClr val="FFFFFF"/>
                          </a:solidFill>
                          <a:latin typeface="Calibri"/>
                        </a:rPr>
                        <a:t>Delivered</a:t>
                      </a:r>
                    </a:p>
                  </a:txBody>
                  <a:tcPr marL="64008" marR="54864" marT="22860" marB="22860" anchor="ctr">
                    <a:solidFill>
                      <a:srgbClr val="2E74B5"/>
                    </a:solidFill>
                  </a:tcPr>
                </a:tc>
              </a:tr>
              <a:tr h="400000">
                <a:tc>
                  <a:txBody>
                    <a:bodyPr wrap="square"/>
                    <a:lstStyle/>
                    <a:p>
                      <a:pPr algn="l">
                        <a:lnSpc>
                          <a:spcPct val="92000"/>
                        </a:lnSpc>
                      </a:pPr>
                      <a:r>
                        <a:rPr sz="980" b="0">
                          <a:solidFill>
                            <a:srgbClr val="262626"/>
                          </a:solidFill>
                          <a:latin typeface="Calibri"/>
                        </a:rPr>
                        <a:t>Sprint 3  (13–19 Oct)</a:t>
                      </a:r>
                    </a:p>
                  </a:txBody>
                  <a:tcPr marL="64008" marR="54864" marT="22860" marB="22860" anchor="ctr">
                    <a:solidFill>
                      <a:srgbClr val="FFFFFF"/>
                    </a:solidFill>
                  </a:tcPr>
                </a:tc>
                <a:tc>
                  <a:txBody>
                    <a:bodyPr wrap="square"/>
                    <a:lstStyle/>
                    <a:p>
                      <a:pPr algn="ctr">
                        <a:lnSpc>
                          <a:spcPct val="92000"/>
                        </a:lnSpc>
                      </a:pPr>
                      <a:r>
                        <a:rPr sz="980" b="0">
                          <a:solidFill>
                            <a:srgbClr val="262626"/>
                          </a:solidFill>
                          <a:latin typeface="Calibri"/>
                        </a:rPr>
                        <a:t>116 h</a:t>
                      </a:r>
                    </a:p>
                  </a:txBody>
                  <a:tcPr marL="64008" marR="54864" marT="22860" marB="22860" anchor="ctr">
                    <a:solidFill>
                      <a:srgbClr val="FFFFFF"/>
                    </a:solidFill>
                  </a:tcPr>
                </a:tc>
                <a:tc>
                  <a:txBody>
                    <a:bodyPr wrap="square"/>
                    <a:lstStyle/>
                    <a:p>
                      <a:pPr algn="ctr">
                        <a:lnSpc>
                          <a:spcPct val="92000"/>
                        </a:lnSpc>
                      </a:pPr>
                      <a:r>
                        <a:rPr sz="980" b="0">
                          <a:solidFill>
                            <a:srgbClr val="262626"/>
                          </a:solidFill>
                          <a:latin typeface="Calibri"/>
                        </a:rPr>
                        <a:t>80 h</a:t>
                      </a:r>
                    </a:p>
                  </a:txBody>
                  <a:tcPr marL="64008" marR="54864" marT="22860" marB="22860" anchor="ctr">
                    <a:solidFill>
                      <a:srgbClr val="FFFFFF"/>
                    </a:solidFill>
                  </a:tcPr>
                </a:tc>
                <a:tc>
                  <a:txBody>
                    <a:bodyPr wrap="square"/>
                    <a:lstStyle/>
                    <a:p>
                      <a:pPr algn="ctr">
                        <a:lnSpc>
                          <a:spcPct val="92000"/>
                        </a:lnSpc>
                      </a:pPr>
                      <a:r>
                        <a:rPr sz="980" b="0">
                          <a:solidFill>
                            <a:srgbClr val="262626"/>
                          </a:solidFill>
                          <a:latin typeface="Calibri"/>
                        </a:rPr>
                        <a:t>+36 h</a:t>
                      </a:r>
                    </a:p>
                  </a:txBody>
                  <a:tcPr marL="64008" marR="54864" marT="22860" marB="22860" anchor="ctr">
                    <a:solidFill>
                      <a:srgbClr val="FFFFFF"/>
                    </a:solidFill>
                  </a:tcPr>
                </a:tc>
                <a:tc>
                  <a:txBody>
                    <a:bodyPr wrap="square"/>
                    <a:lstStyle/>
                    <a:p>
                      <a:pPr algn="l">
                        <a:lnSpc>
                          <a:spcPct val="92000"/>
                        </a:lnSpc>
                      </a:pPr>
                      <a:r>
                        <a:rPr sz="980" b="0">
                          <a:solidFill>
                            <a:srgbClr val="262626"/>
                          </a:solidFill>
                          <a:latin typeface="Calibri"/>
                        </a:rPr>
                        <a:t>v0.9 — 3 of 6 review goals met</a:t>
                      </a:r>
                    </a:p>
                  </a:txBody>
                  <a:tcPr marL="64008" marR="54864" marT="22860" marB="22860" anchor="ctr">
                    <a:solidFill>
                      <a:srgbClr val="FFFFFF"/>
                    </a:solidFill>
                  </a:tcPr>
                </a:tc>
              </a:tr>
              <a:tr h="400000">
                <a:tc>
                  <a:txBody>
                    <a:bodyPr wrap="square"/>
                    <a:lstStyle/>
                    <a:p>
                      <a:pPr algn="l">
                        <a:lnSpc>
                          <a:spcPct val="92000"/>
                        </a:lnSpc>
                      </a:pPr>
                      <a:r>
                        <a:rPr sz="980" b="0">
                          <a:solidFill>
                            <a:srgbClr val="262626"/>
                          </a:solidFill>
                          <a:latin typeface="Calibri"/>
                        </a:rPr>
                        <a:t>Sprint 4  (20–22 Oct)</a:t>
                      </a:r>
                    </a:p>
                  </a:txBody>
                  <a:tcPr marL="64008" marR="54864" marT="22860" marB="22860" anchor="ctr">
                    <a:solidFill>
                      <a:srgbClr val="EEF2F7"/>
                    </a:solidFill>
                  </a:tcPr>
                </a:tc>
                <a:tc>
                  <a:txBody>
                    <a:bodyPr wrap="square"/>
                    <a:lstStyle/>
                    <a:p>
                      <a:pPr algn="ctr">
                        <a:lnSpc>
                          <a:spcPct val="92000"/>
                        </a:lnSpc>
                      </a:pPr>
                      <a:r>
                        <a:rPr sz="980" b="0">
                          <a:solidFill>
                            <a:srgbClr val="262626"/>
                          </a:solidFill>
                          <a:latin typeface="Calibri"/>
                        </a:rPr>
                        <a:t>80 h</a:t>
                      </a:r>
                    </a:p>
                  </a:txBody>
                  <a:tcPr marL="64008" marR="54864" marT="22860" marB="22860" anchor="ctr">
                    <a:solidFill>
                      <a:srgbClr val="EEF2F7"/>
                    </a:solidFill>
                  </a:tcPr>
                </a:tc>
                <a:tc>
                  <a:txBody>
                    <a:bodyPr wrap="square"/>
                    <a:lstStyle/>
                    <a:p>
                      <a:pPr algn="ctr">
                        <a:lnSpc>
                          <a:spcPct val="92000"/>
                        </a:lnSpc>
                      </a:pPr>
                      <a:r>
                        <a:rPr sz="980" b="0">
                          <a:solidFill>
                            <a:srgbClr val="262626"/>
                          </a:solidFill>
                          <a:latin typeface="Calibri"/>
                        </a:rPr>
                        <a:t>48 h</a:t>
                      </a:r>
                    </a:p>
                  </a:txBody>
                  <a:tcPr marL="64008" marR="54864" marT="22860" marB="22860" anchor="ctr">
                    <a:solidFill>
                      <a:srgbClr val="EEF2F7"/>
                    </a:solidFill>
                  </a:tcPr>
                </a:tc>
                <a:tc>
                  <a:txBody>
                    <a:bodyPr wrap="square"/>
                    <a:lstStyle/>
                    <a:p>
                      <a:pPr algn="ctr">
                        <a:lnSpc>
                          <a:spcPct val="92000"/>
                        </a:lnSpc>
                      </a:pPr>
                      <a:r>
                        <a:rPr sz="980" b="0">
                          <a:solidFill>
                            <a:srgbClr val="262626"/>
                          </a:solidFill>
                          <a:latin typeface="Calibri"/>
                        </a:rPr>
                        <a:t>+32 h</a:t>
                      </a:r>
                    </a:p>
                  </a:txBody>
                  <a:tcPr marL="64008" marR="54864" marT="22860" marB="22860" anchor="ctr">
                    <a:solidFill>
                      <a:srgbClr val="EEF2F7"/>
                    </a:solidFill>
                  </a:tcPr>
                </a:tc>
                <a:tc>
                  <a:txBody>
                    <a:bodyPr wrap="square"/>
                    <a:lstStyle/>
                    <a:p>
                      <a:pPr algn="l">
                        <a:lnSpc>
                          <a:spcPct val="92000"/>
                        </a:lnSpc>
                      </a:pPr>
                      <a:r>
                        <a:rPr sz="980" b="0">
                          <a:solidFill>
                            <a:srgbClr val="262626"/>
                          </a:solidFill>
                          <a:latin typeface="Calibri"/>
                        </a:rPr>
                        <a:t>v1.0 — 5 changes, both evaluations</a:t>
                      </a:r>
                    </a:p>
                  </a:txBody>
                  <a:tcPr marL="64008" marR="54864" marT="22860" marB="22860" anchor="ctr">
                    <a:solidFill>
                      <a:srgbClr val="EEF2F7"/>
                    </a:solidFill>
                  </a:tcPr>
                </a:tc>
              </a:tr>
            </a:tbl>
          </a:graphicData>
        </a:graphic>
      </p:graphicFrame>
      <p:sp>
        <p:nvSpPr>
          <p:cNvPr id="10" name="Rectangle 9"/>
          <p:cNvSpPr/>
          <p:nvPr/>
        </p:nvSpPr>
        <p:spPr>
          <a:xfrm>
            <a:off x="502920" y="2866344"/>
            <a:ext cx="3600000" cy="20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502920" y="2866344"/>
            <a:ext cx="38100" cy="200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21792" y="2957784"/>
            <a:ext cx="3409805" cy="18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Cause 1 — an abstraction level agreed late</a:t>
            </a:r>
          </a:p>
          <a:p>
            <a:pPr algn="l">
              <a:lnSpc>
                <a:spcPct val="95000"/>
              </a:lnSpc>
              <a:spcBef>
                <a:spcPts val="0"/>
              </a:spcBef>
              <a:spcAft>
                <a:spcPts val="250"/>
              </a:spcAft>
            </a:pPr>
            <a:r>
              <a:rPr sz="900" b="0" i="0">
                <a:solidFill>
                  <a:srgbClr val="262626"/>
                </a:solidFill>
                <a:latin typeface="Calibri"/>
              </a:rPr>
              <a:t>–  Sprint 3 spent its first half deciding how many strategic models there should be.</a:t>
            </a:r>
          </a:p>
          <a:p>
            <a:pPr algn="l">
              <a:lnSpc>
                <a:spcPct val="95000"/>
              </a:lnSpc>
              <a:spcBef>
                <a:spcPts val="0"/>
              </a:spcBef>
              <a:spcAft>
                <a:spcPts val="250"/>
              </a:spcAft>
            </a:pPr>
            <a:r>
              <a:rPr sz="900" b="0" i="0">
                <a:solidFill>
                  <a:srgbClr val="262626"/>
                </a:solidFill>
                <a:latin typeface="Calibri"/>
              </a:rPr>
              <a:t>–  Consequence: the SR model, the alignment narrative and the acceptance evidence all missed SR3.</a:t>
            </a:r>
          </a:p>
          <a:p>
            <a:pPr algn="l">
              <a:lnSpc>
                <a:spcPct val="95000"/>
              </a:lnSpc>
              <a:spcBef>
                <a:spcPts val="0"/>
              </a:spcBef>
              <a:spcAft>
                <a:spcPts val="250"/>
              </a:spcAft>
            </a:pPr>
            <a:r>
              <a:rPr sz="900" b="0" i="0">
                <a:solidFill>
                  <a:srgbClr val="262626"/>
                </a:solidFill>
                <a:latin typeface="Calibri"/>
              </a:rPr>
              <a:t>–  v0.9 was presented with 3 of 6 goals met.</a:t>
            </a:r>
          </a:p>
        </p:txBody>
      </p:sp>
      <p:sp>
        <p:nvSpPr>
          <p:cNvPr id="13" name="Rectangle 12"/>
          <p:cNvSpPr/>
          <p:nvPr/>
        </p:nvSpPr>
        <p:spPr>
          <a:xfrm>
            <a:off x="4240080" y="2866344"/>
            <a:ext cx="3600000" cy="20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4240080" y="2866344"/>
            <a:ext cx="38100" cy="200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4358952" y="2957784"/>
            <a:ext cx="3409805" cy="18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Cause 2 — deployment-only defects</a:t>
            </a:r>
          </a:p>
          <a:p>
            <a:pPr algn="l">
              <a:lnSpc>
                <a:spcPct val="95000"/>
              </a:lnSpc>
              <a:spcBef>
                <a:spcPts val="0"/>
              </a:spcBef>
              <a:spcAft>
                <a:spcPts val="250"/>
              </a:spcAft>
            </a:pPr>
            <a:r>
              <a:rPr sz="900" b="0" i="0">
                <a:solidFill>
                  <a:srgbClr val="262626"/>
                </a:solidFill>
                <a:latin typeface="Calibri"/>
              </a:rPr>
              <a:t>–  Three XSD sequence violations and one form-binding defect appeared only at deployment.</a:t>
            </a:r>
          </a:p>
          <a:p>
            <a:pPr algn="l">
              <a:lnSpc>
                <a:spcPct val="95000"/>
              </a:lnSpc>
              <a:spcBef>
                <a:spcPts val="0"/>
              </a:spcBef>
              <a:spcAft>
                <a:spcPts val="250"/>
              </a:spcAft>
            </a:pPr>
            <a:r>
              <a:rPr sz="900" b="0" i="0">
                <a:solidFill>
                  <a:srgbClr val="262626"/>
                </a:solidFill>
                <a:latin typeface="Calibri"/>
              </a:rPr>
              <a:t>–  They were not in the plan, because the plan assumed the Modeler's parse was sufficient.</a:t>
            </a:r>
          </a:p>
          <a:p>
            <a:pPr algn="l">
              <a:lnSpc>
                <a:spcPct val="95000"/>
              </a:lnSpc>
              <a:spcBef>
                <a:spcPts val="0"/>
              </a:spcBef>
              <a:spcAft>
                <a:spcPts val="250"/>
              </a:spcAft>
            </a:pPr>
            <a:r>
              <a:rPr sz="900" b="0" i="0">
                <a:solidFill>
                  <a:srgbClr val="262626"/>
                </a:solidFill>
                <a:latin typeface="Calibri"/>
              </a:rPr>
              <a:t>–  Consequence: Sprint 4 lost capacity to defects nobody had estimated.</a:t>
            </a:r>
          </a:p>
        </p:txBody>
      </p:sp>
      <p:sp>
        <p:nvSpPr>
          <p:cNvPr id="16" name="Rectangle 15"/>
          <p:cNvSpPr/>
          <p:nvPr/>
        </p:nvSpPr>
        <p:spPr>
          <a:xfrm>
            <a:off x="7977240" y="2866344"/>
            <a:ext cx="3600000" cy="200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ectangle 16"/>
          <p:cNvSpPr/>
          <p:nvPr/>
        </p:nvSpPr>
        <p:spPr>
          <a:xfrm>
            <a:off x="7977240" y="2866344"/>
            <a:ext cx="38100" cy="20000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8096112" y="2957784"/>
            <a:ext cx="3409805" cy="187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Consequence — what we dropped</a:t>
            </a:r>
          </a:p>
          <a:p>
            <a:pPr algn="l">
              <a:lnSpc>
                <a:spcPct val="95000"/>
              </a:lnSpc>
              <a:spcBef>
                <a:spcPts val="0"/>
              </a:spcBef>
              <a:spcAft>
                <a:spcPts val="250"/>
              </a:spcAft>
            </a:pPr>
            <a:r>
              <a:rPr sz="900" b="0" i="0">
                <a:solidFill>
                  <a:srgbClr val="262626"/>
                </a:solidFill>
                <a:latin typeface="Calibri"/>
              </a:rPr>
              <a:t>–  P-11, an automated RBAC regression suite: no capacity left after the re-scope.</a:t>
            </a:r>
          </a:p>
          <a:p>
            <a:pPr algn="l">
              <a:lnSpc>
                <a:spcPct val="95000"/>
              </a:lnSpc>
              <a:spcBef>
                <a:spcPts val="0"/>
              </a:spcBef>
              <a:spcAft>
                <a:spcPts val="250"/>
              </a:spcAft>
            </a:pPr>
            <a:r>
              <a:rPr sz="900" b="0" i="0">
                <a:solidFill>
                  <a:srgbClr val="262626"/>
                </a:solidFill>
                <a:latin typeface="Calibri"/>
              </a:rPr>
              <a:t>–  P-10, urgency rules: blocked, not dropped — no rule was issued to us.</a:t>
            </a:r>
          </a:p>
          <a:p>
            <a:pPr algn="l">
              <a:lnSpc>
                <a:spcPct val="95000"/>
              </a:lnSpc>
              <a:spcBef>
                <a:spcPts val="0"/>
              </a:spcBef>
              <a:spcAft>
                <a:spcPts val="250"/>
              </a:spcAft>
            </a:pPr>
            <a:r>
              <a:rPr sz="900" b="0" i="0">
                <a:solidFill>
                  <a:srgbClr val="262626"/>
                </a:solidFill>
                <a:latin typeface="Calibri"/>
              </a:rPr>
              <a:t>–  Final integration landed in the last two days of Sprint 4.</a:t>
            </a:r>
          </a:p>
        </p:txBody>
      </p:sp>
      <p:sp>
        <p:nvSpPr>
          <p:cNvPr id="19" name="Rectangle 18"/>
          <p:cNvSpPr/>
          <p:nvPr/>
        </p:nvSpPr>
        <p:spPr>
          <a:xfrm>
            <a:off x="502920" y="5026344"/>
            <a:ext cx="11185855" cy="700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652920" y="5090352"/>
            <a:ext cx="10885855" cy="570000"/>
          </a:xfrm>
          <a:prstGeom prst="rect">
            <a:avLst/>
          </a:prstGeom>
          <a:noFill/>
        </p:spPr>
        <p:txBody>
          <a:bodyPr wrap="square" anchor="t" lIns="0" rIns="0" tIns="0" bIns="0">
            <a:spAutoFit/>
          </a:bodyPr>
          <a:lstStyle/>
          <a:p>
            <a:pPr algn="l">
              <a:lnSpc>
                <a:spcPct val="95000"/>
              </a:lnSpc>
              <a:spcBef>
                <a:spcPts val="0"/>
              </a:spcBef>
              <a:spcAft>
                <a:spcPts val="300"/>
              </a:spcAft>
            </a:pPr>
            <a:r>
              <a:rPr sz="1050" b="1" i="0">
                <a:solidFill>
                  <a:srgbClr val="FFFFFF"/>
                </a:solidFill>
                <a:latin typeface="Calibri"/>
              </a:rPr>
              <a:t>Net position: 196 hours were planned against 128 hours nominal — a 53% over-commitment made at planning time, not at delivery.</a:t>
            </a:r>
          </a:p>
          <a:p>
            <a:pPr algn="l">
              <a:lnSpc>
                <a:spcPct val="95000"/>
              </a:lnSpc>
              <a:spcBef>
                <a:spcPts val="0"/>
              </a:spcBef>
              <a:spcAft>
                <a:spcPts val="0"/>
              </a:spcAft>
            </a:pPr>
            <a:r>
              <a:rPr sz="940" b="0" i="0">
                <a:solidFill>
                  <a:srgbClr val="D2DEEB"/>
                </a:solidFill>
                <a:latin typeface="Calibri"/>
              </a:rPr>
              <a:t>Sprint 4 was planned at 167% of nominal capacity, so the final integration landing in the last two days was a consequence of the plan we wrote, not a surprise that arrived.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EVALUATION AND LIMITATIONS</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Three lessons we would carry forward, and six things we still do not claim</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finn / henry</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The right-hand column is the one we want to be marked on.</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14</a:t>
            </a:r>
          </a:p>
        </p:txBody>
      </p:sp>
      <p:sp>
        <p:nvSpPr>
          <p:cNvPr id="9" name="Rectangle 8"/>
          <p:cNvSpPr/>
          <p:nvPr/>
        </p:nvSpPr>
        <p:spPr>
          <a:xfrm>
            <a:off x="502920" y="1501752"/>
            <a:ext cx="5516727" cy="354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502920" y="1501752"/>
            <a:ext cx="38100" cy="354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21792" y="1593192"/>
            <a:ext cx="5326532" cy="341198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Carry forward</a:t>
            </a:r>
          </a:p>
          <a:p>
            <a:pPr algn="l">
              <a:lnSpc>
                <a:spcPct val="95000"/>
              </a:lnSpc>
              <a:spcBef>
                <a:spcPts val="0"/>
              </a:spcBef>
              <a:spcAft>
                <a:spcPts val="250"/>
              </a:spcAft>
            </a:pPr>
            <a:r>
              <a:rPr sz="919" b="1" i="0">
                <a:solidFill>
                  <a:srgbClr val="1F3864"/>
                </a:solidFill>
                <a:latin typeface="Calibri"/>
              </a:rPr>
              <a:t>–  Rehearse integration at mid-sprint, not at the end</a:t>
            </a:r>
          </a:p>
          <a:p>
            <a:pPr algn="l">
              <a:lnSpc>
                <a:spcPct val="95000"/>
              </a:lnSpc>
              <a:spcBef>
                <a:spcPts val="0"/>
              </a:spcBef>
              <a:spcAft>
                <a:spcPts val="250"/>
              </a:spcAft>
            </a:pPr>
            <a:r>
              <a:rPr sz="919" b="0" i="0">
                <a:solidFill>
                  <a:srgbClr val="262626"/>
                </a:solidFill>
                <a:latin typeface="Calibri"/>
              </a:rPr>
              <a:t>–  Both sprints ended with integration inside the last two days, and both times the defects it found were the expensive ones.</a:t>
            </a:r>
          </a:p>
          <a:p>
            <a:pPr algn="l">
              <a:lnSpc>
                <a:spcPct val="95000"/>
              </a:lnSpc>
              <a:spcBef>
                <a:spcPts val="0"/>
              </a:spcBef>
              <a:spcAft>
                <a:spcPts val="250"/>
              </a:spcAft>
            </a:pPr>
            <a:r>
              <a:rPr sz="919" b="1" i="0">
                <a:solidFill>
                  <a:srgbClr val="1F3864"/>
                </a:solidFill>
                <a:latin typeface="Calibri"/>
              </a:rPr>
              <a:t>–  Build the test harness before the exception paths are specified</a:t>
            </a:r>
          </a:p>
          <a:p>
            <a:pPr algn="l">
              <a:lnSpc>
                <a:spcPct val="95000"/>
              </a:lnSpc>
              <a:spcBef>
                <a:spcPts val="0"/>
              </a:spcBef>
              <a:spcAft>
                <a:spcPts val="250"/>
              </a:spcAft>
            </a:pPr>
            <a:r>
              <a:rPr sz="919" b="0" i="0">
                <a:solidFill>
                  <a:srgbClr val="262626"/>
                </a:solidFill>
                <a:latin typeface="Calibri"/>
              </a:rPr>
              <a:t>–  The 18 cases were written after the model changed, so every model change cost a test change.</a:t>
            </a:r>
          </a:p>
          <a:p>
            <a:pPr algn="l">
              <a:lnSpc>
                <a:spcPct val="95000"/>
              </a:lnSpc>
              <a:spcBef>
                <a:spcPts val="0"/>
              </a:spcBef>
              <a:spcAft>
                <a:spcPts val="250"/>
              </a:spcAft>
            </a:pPr>
            <a:r>
              <a:rPr sz="919" b="1" i="0">
                <a:solidFill>
                  <a:srgbClr val="1F3864"/>
                </a:solidFill>
                <a:latin typeface="Calibri"/>
              </a:rPr>
              <a:t>–  Treat documentation as scheduled work, not as slack</a:t>
            </a:r>
          </a:p>
          <a:p>
            <a:pPr algn="l">
              <a:lnSpc>
                <a:spcPct val="95000"/>
              </a:lnSpc>
              <a:spcBef>
                <a:spcPts val="0"/>
              </a:spcBef>
              <a:spcAft>
                <a:spcPts val="250"/>
              </a:spcAft>
            </a:pPr>
            <a:r>
              <a:rPr sz="919" b="0" i="0">
                <a:solidFill>
                  <a:srgbClr val="262626"/>
                </a:solidFill>
                <a:latin typeface="Calibri"/>
              </a:rPr>
              <a:t>–  The traceability table and the evaluations were the two items that slipped first and hurt most.</a:t>
            </a:r>
          </a:p>
          <a:p>
            <a:pPr algn="l">
              <a:lnSpc>
                <a:spcPct val="95000"/>
              </a:lnSpc>
              <a:spcBef>
                <a:spcPts val="0"/>
              </a:spcBef>
              <a:spcAft>
                <a:spcPts val="250"/>
              </a:spcAft>
            </a:pPr>
            <a:r>
              <a:rPr sz="919" b="1" i="0">
                <a:solidFill>
                  <a:srgbClr val="1F3864"/>
                </a:solidFill>
                <a:latin typeface="Calibri"/>
              </a:rPr>
              <a:t>–  Freeze, tag and re-run before the last day, not on it</a:t>
            </a:r>
          </a:p>
          <a:p>
            <a:pPr algn="l">
              <a:lnSpc>
                <a:spcPct val="95000"/>
              </a:lnSpc>
              <a:spcBef>
                <a:spcPts val="0"/>
              </a:spcBef>
              <a:spcAft>
                <a:spcPts val="250"/>
              </a:spcAft>
            </a:pPr>
            <a:r>
              <a:rPr sz="919" b="0" i="0">
                <a:solidFill>
                  <a:srgbClr val="262626"/>
                </a:solidFill>
                <a:latin typeface="Calibri"/>
              </a:rPr>
              <a:t>–  The final acceptance run, the tag and the re-exported figures were still open on the morning of hand-in. They should have been planned work with an owner and a date.</a:t>
            </a:r>
          </a:p>
        </p:txBody>
      </p:sp>
      <p:sp>
        <p:nvSpPr>
          <p:cNvPr id="12" name="Rectangle 11"/>
          <p:cNvSpPr/>
          <p:nvPr/>
        </p:nvSpPr>
        <p:spPr>
          <a:xfrm>
            <a:off x="6172047" y="1501752"/>
            <a:ext cx="5516727" cy="35400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6172047" y="1501752"/>
            <a:ext cx="38100" cy="354000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graphicFrame>
        <p:nvGraphicFramePr>
          <p:cNvPr id="14" name="Table 13"/>
          <p:cNvGraphicFramePr>
            <a:graphicFrameLocks noGrp="1"/>
          </p:cNvGraphicFramePr>
          <p:nvPr/>
        </p:nvGraphicFramePr>
        <p:xfrm>
          <a:off x="6290919" y="1666344"/>
          <a:ext cx="5242406" cy="3220000"/>
        </p:xfrm>
        <a:graphic>
          <a:graphicData uri="http://schemas.openxmlformats.org/drawingml/2006/table">
            <a:tbl>
              <a:tblPr firstRow="1" bandRow="1">
                <a:tableStyleId>{2D5ABB26-0587-4C30-8999-92F81FD0307C}</a:tableStyleId>
              </a:tblPr>
              <a:tblGrid>
                <a:gridCol w="2672599"/>
                <a:gridCol w="2569807"/>
              </a:tblGrid>
              <a:tr h="460000">
                <a:tc>
                  <a:txBody>
                    <a:bodyPr wrap="square"/>
                    <a:lstStyle/>
                    <a:p>
                      <a:pPr algn="l">
                        <a:lnSpc>
                          <a:spcPct val="92000"/>
                        </a:lnSpc>
                      </a:pPr>
                      <a:r>
                        <a:rPr sz="880" b="1">
                          <a:solidFill>
                            <a:srgbClr val="FFFFFF"/>
                          </a:solidFill>
                          <a:latin typeface="Calibri"/>
                        </a:rPr>
                        <a:t>What we do not claim</a:t>
                      </a:r>
                    </a:p>
                  </a:txBody>
                  <a:tcPr marL="64008" marR="54864" marT="22860" marB="22860" anchor="ctr">
                    <a:solidFill>
                      <a:srgbClr val="B26B00"/>
                    </a:solidFill>
                  </a:tcPr>
                </a:tc>
                <a:tc>
                  <a:txBody>
                    <a:bodyPr wrap="square"/>
                    <a:lstStyle/>
                    <a:p>
                      <a:pPr algn="l">
                        <a:lnSpc>
                          <a:spcPct val="92000"/>
                        </a:lnSpc>
                      </a:pPr>
                      <a:r>
                        <a:rPr sz="880" b="1">
                          <a:solidFill>
                            <a:srgbClr val="FFFFFF"/>
                          </a:solidFill>
                          <a:latin typeface="Calibri"/>
                        </a:rPr>
                        <a:t>Why</a:t>
                      </a:r>
                    </a:p>
                  </a:txBody>
                  <a:tcPr marL="64008" marR="54864" marT="22860" marB="22860" anchor="ctr">
                    <a:solidFill>
                      <a:srgbClr val="B26B00"/>
                    </a:solidFill>
                  </a:tcPr>
                </a:tc>
              </a:tr>
              <a:tr h="460000">
                <a:tc>
                  <a:txBody>
                    <a:bodyPr wrap="square"/>
                    <a:lstStyle/>
                    <a:p>
                      <a:pPr algn="l">
                        <a:lnSpc>
                          <a:spcPct val="92000"/>
                        </a:lnSpc>
                      </a:pPr>
                      <a:r>
                        <a:rPr sz="860" b="0">
                          <a:solidFill>
                            <a:srgbClr val="262626"/>
                          </a:solidFill>
                          <a:latin typeface="Calibri"/>
                        </a:rPr>
                        <a:t>Enforced RBAC with an automated regression suite</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P-11 dropped for capacity; verified by inspection</a:t>
                      </a:r>
                    </a:p>
                  </a:txBody>
                  <a:tcPr marL="64008" marR="54864" marT="22860" marB="22860" anchor="ctr">
                    <a:solidFill>
                      <a:srgbClr val="FFFFFF"/>
                    </a:solidFill>
                  </a:tcPr>
                </a:tc>
              </a:tr>
              <a:tr h="460000">
                <a:tc>
                  <a:txBody>
                    <a:bodyPr wrap="square"/>
                    <a:lstStyle/>
                    <a:p>
                      <a:pPr algn="l">
                        <a:lnSpc>
                          <a:spcPct val="92000"/>
                        </a:lnSpc>
                      </a:pPr>
                      <a:r>
                        <a:rPr sz="860" b="0">
                          <a:solidFill>
                            <a:srgbClr val="262626"/>
                          </a:solidFill>
                          <a:latin typeface="Calibri"/>
                        </a:rPr>
                        <a:t>Audit records immutable at database level</a:t>
                      </a:r>
                    </a:p>
                  </a:txBody>
                  <a:tcPr marL="64008" marR="54864" marT="22860" marB="22860" anchor="ctr">
                    <a:solidFill>
                      <a:srgbClr val="EEF2F7"/>
                    </a:solidFill>
                  </a:tcPr>
                </a:tc>
                <a:tc>
                  <a:txBody>
                    <a:bodyPr wrap="square"/>
                    <a:lstStyle/>
                    <a:p>
                      <a:pPr algn="l">
                        <a:lnSpc>
                          <a:spcPct val="92000"/>
                        </a:lnSpc>
                      </a:pPr>
                      <a:r>
                        <a:rPr sz="860" b="0">
                          <a:solidFill>
                            <a:srgbClr val="262626"/>
                          </a:solidFill>
                          <a:latin typeface="Calibri"/>
                        </a:rPr>
                        <a:t>Append-only API and table; no DB grants</a:t>
                      </a:r>
                    </a:p>
                  </a:txBody>
                  <a:tcPr marL="64008" marR="54864" marT="22860" marB="22860" anchor="ctr">
                    <a:solidFill>
                      <a:srgbClr val="EEF2F7"/>
                    </a:solidFill>
                  </a:tcPr>
                </a:tc>
              </a:tr>
              <a:tr h="460000">
                <a:tc>
                  <a:txBody>
                    <a:bodyPr wrap="square"/>
                    <a:lstStyle/>
                    <a:p>
                      <a:pPr algn="l">
                        <a:lnSpc>
                          <a:spcPct val="92000"/>
                        </a:lnSpc>
                      </a:pPr>
                      <a:r>
                        <a:rPr sz="860" b="0">
                          <a:solidFill>
                            <a:srgbClr val="262626"/>
                          </a:solidFill>
                          <a:latin typeface="Calibri"/>
                        </a:rPr>
                        <a:t>Management reporting output</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The monthly timer has not elapsed</a:t>
                      </a:r>
                    </a:p>
                  </a:txBody>
                  <a:tcPr marL="64008" marR="54864" marT="22860" marB="22860" anchor="ctr">
                    <a:solidFill>
                      <a:srgbClr val="FFFFFF"/>
                    </a:solidFill>
                  </a:tcPr>
                </a:tc>
              </a:tr>
              <a:tr h="460000">
                <a:tc>
                  <a:txBody>
                    <a:bodyPr wrap="square"/>
                    <a:lstStyle/>
                    <a:p>
                      <a:pPr algn="l">
                        <a:lnSpc>
                          <a:spcPct val="92000"/>
                        </a:lnSpc>
                      </a:pPr>
                      <a:r>
                        <a:rPr sz="860" b="0">
                          <a:solidFill>
                            <a:srgbClr val="262626"/>
                          </a:solidFill>
                          <a:latin typeface="Calibri"/>
                        </a:rPr>
                        <a:t>Live integration with any external provider</a:t>
                      </a:r>
                    </a:p>
                  </a:txBody>
                  <a:tcPr marL="64008" marR="54864" marT="22860" marB="22860" anchor="ctr">
                    <a:solidFill>
                      <a:srgbClr val="EEF2F7"/>
                    </a:solidFill>
                  </a:tcPr>
                </a:tc>
                <a:tc>
                  <a:txBody>
                    <a:bodyPr wrap="square"/>
                    <a:lstStyle/>
                    <a:p>
                      <a:pPr algn="l">
                        <a:lnSpc>
                          <a:spcPct val="92000"/>
                        </a:lnSpc>
                      </a:pPr>
                      <a:r>
                        <a:rPr sz="860" b="0">
                          <a:solidFill>
                            <a:srgbClr val="262626"/>
                          </a:solidFill>
                          <a:latin typeface="Calibri"/>
                        </a:rPr>
                        <a:t>All four services are simulated</a:t>
                      </a:r>
                    </a:p>
                  </a:txBody>
                  <a:tcPr marL="64008" marR="54864" marT="22860" marB="22860" anchor="ctr">
                    <a:solidFill>
                      <a:srgbClr val="EEF2F7"/>
                    </a:solidFill>
                  </a:tcPr>
                </a:tc>
              </a:tr>
              <a:tr h="460000">
                <a:tc>
                  <a:txBody>
                    <a:bodyPr wrap="square"/>
                    <a:lstStyle/>
                    <a:p>
                      <a:pPr algn="l">
                        <a:lnSpc>
                          <a:spcPct val="92000"/>
                        </a:lnSpc>
                      </a:pPr>
                      <a:r>
                        <a:rPr sz="860" b="0">
                          <a:solidFill>
                            <a:srgbClr val="262626"/>
                          </a:solidFill>
                          <a:latin typeface="Calibri"/>
                        </a:rPr>
                        <a:t>A tested availability or downtime procedure</a:t>
                      </a:r>
                    </a:p>
                  </a:txBody>
                  <a:tcPr marL="64008" marR="54864" marT="22860" marB="22860" anchor="ctr">
                    <a:solidFill>
                      <a:srgbClr val="FFFFFF"/>
                    </a:solidFill>
                  </a:tcPr>
                </a:tc>
                <a:tc>
                  <a:txBody>
                    <a:bodyPr wrap="square"/>
                    <a:lstStyle/>
                    <a:p>
                      <a:pPr algn="l">
                        <a:lnSpc>
                          <a:spcPct val="92000"/>
                        </a:lnSpc>
                      </a:pPr>
                      <a:r>
                        <a:rPr sz="860" b="0">
                          <a:solidFill>
                            <a:srgbClr val="262626"/>
                          </a:solidFill>
                          <a:latin typeface="Calibri"/>
                        </a:rPr>
                        <a:t>No procedure exists to test</a:t>
                      </a:r>
                    </a:p>
                  </a:txBody>
                  <a:tcPr marL="64008" marR="54864" marT="22860" marB="22860" anchor="ctr">
                    <a:solidFill>
                      <a:srgbClr val="FFFFFF"/>
                    </a:solidFill>
                  </a:tcPr>
                </a:tc>
              </a:tr>
              <a:tr h="460000">
                <a:tc>
                  <a:txBody>
                    <a:bodyPr wrap="square"/>
                    <a:lstStyle/>
                    <a:p>
                      <a:pPr algn="l">
                        <a:lnSpc>
                          <a:spcPct val="92000"/>
                        </a:lnSpc>
                      </a:pPr>
                      <a:r>
                        <a:rPr sz="860" b="0">
                          <a:solidFill>
                            <a:srgbClr val="262626"/>
                          </a:solidFill>
                          <a:latin typeface="Calibri"/>
                        </a:rPr>
                        <a:t>Two processes driven end to end</a:t>
                      </a:r>
                    </a:p>
                  </a:txBody>
                  <a:tcPr marL="64008" marR="54864" marT="22860" marB="22860" anchor="ctr">
                    <a:solidFill>
                      <a:srgbClr val="EEF2F7"/>
                    </a:solidFill>
                  </a:tcPr>
                </a:tc>
                <a:tc>
                  <a:txBody>
                    <a:bodyPr wrap="square"/>
                    <a:lstStyle/>
                    <a:p>
                      <a:pPr algn="l">
                        <a:lnSpc>
                          <a:spcPct val="92000"/>
                        </a:lnSpc>
                      </a:pPr>
                      <a:r>
                        <a:rPr sz="860" b="0">
                          <a:solidFill>
                            <a:srgbClr val="262626"/>
                          </a:solidFill>
                          <a:latin typeface="Calibri"/>
                        </a:rPr>
                        <a:t>Enquiry and reporting deploy but were not driven</a:t>
                      </a:r>
                    </a:p>
                  </a:txBody>
                  <a:tcPr marL="64008" marR="54864" marT="22860" marB="22860" anchor="ctr">
                    <a:solidFill>
                      <a:srgbClr val="EEF2F7"/>
                    </a:solidFill>
                  </a:tcPr>
                </a:tc>
              </a:tr>
            </a:tbl>
          </a:graphicData>
        </a:graphic>
      </p:graphicFrame>
      <p:sp>
        <p:nvSpPr>
          <p:cNvPr id="15" name="Rectangle 14"/>
          <p:cNvSpPr/>
          <p:nvPr/>
        </p:nvSpPr>
        <p:spPr>
          <a:xfrm>
            <a:off x="502920" y="5201752"/>
            <a:ext cx="11185855" cy="620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52920" y="5265760"/>
            <a:ext cx="10885855" cy="500000"/>
          </a:xfrm>
          <a:prstGeom prst="rect">
            <a:avLst/>
          </a:prstGeom>
          <a:noFill/>
        </p:spPr>
        <p:txBody>
          <a:bodyPr wrap="square" anchor="t" lIns="0" rIns="0" tIns="0" bIns="0">
            <a:spAutoFit/>
          </a:bodyPr>
          <a:lstStyle/>
          <a:p>
            <a:pPr algn="l">
              <a:lnSpc>
                <a:spcPct val="95000"/>
              </a:lnSpc>
              <a:spcBef>
                <a:spcPts val="0"/>
              </a:spcBef>
              <a:spcAft>
                <a:spcPts val="0"/>
              </a:spcAft>
            </a:pPr>
            <a:r>
              <a:rPr sz="1040" b="1" i="0">
                <a:solidFill>
                  <a:srgbClr val="FFFFFF"/>
                </a:solidFill>
                <a:latin typeface="Calibri"/>
              </a:rPr>
              <a:t>Every row in the right-hand table is a claim we could have made and chose not to. The one that matters most is the first: role-based access now works, and we still cannot prove automatically that it keeps working.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CONCLUSION</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What we claim, what we do not, and where we would take it next</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max</a:t>
            </a:r>
          </a:p>
        </p:txBody>
      </p:sp>
      <p:sp>
        <p:nvSpPr>
          <p:cNvPr id="6" name="TextBox 5"/>
          <p:cNvSpPr txBox="1"/>
          <p:nvPr/>
        </p:nvSpPr>
        <p:spPr>
          <a:xfrm>
            <a:off x="502920" y="1063752"/>
            <a:ext cx="11185855" cy="350000"/>
          </a:xfrm>
          <a:prstGeom prst="rect">
            <a:avLst/>
          </a:prstGeom>
          <a:noFill/>
        </p:spPr>
        <p:txBody>
          <a:bodyPr wrap="square" anchor="t" lIns="0" rIns="0" tIns="0" bIns="0">
            <a:spAutoFit/>
          </a:bodyPr>
          <a:lstStyle/>
          <a:p>
            <a:pPr algn="l">
              <a:lnSpc>
                <a:spcPct val="95000"/>
              </a:lnSpc>
              <a:spcBef>
                <a:spcPts val="0"/>
              </a:spcBef>
              <a:spcAft>
                <a:spcPts val="0"/>
              </a:spcAft>
            </a:pPr>
            <a:r>
              <a:rPr sz="1250" b="1" i="0">
                <a:solidFill>
                  <a:srgbClr val="262626"/>
                </a:solidFill>
                <a:latin typeface="Calibri"/>
              </a:rPr>
              <a:t>The second release is scoped against the feedback, evidenced against the baseline, and honest about what it still cannot do.</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15</a:t>
            </a:r>
          </a:p>
        </p:txBody>
      </p:sp>
      <p:sp>
        <p:nvSpPr>
          <p:cNvPr id="9" name="Rectangle 8"/>
          <p:cNvSpPr/>
          <p:nvPr/>
        </p:nvSpPr>
        <p:spPr>
          <a:xfrm>
            <a:off x="502920" y="1501752"/>
            <a:ext cx="3637178" cy="14630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502920" y="1501752"/>
            <a:ext cx="38100" cy="1463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21792" y="1593192"/>
            <a:ext cx="3446983" cy="133502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We claim</a:t>
            </a:r>
          </a:p>
          <a:p>
            <a:pPr algn="l">
              <a:lnSpc>
                <a:spcPct val="95000"/>
              </a:lnSpc>
              <a:spcBef>
                <a:spcPts val="0"/>
              </a:spcBef>
              <a:spcAft>
                <a:spcPts val="250"/>
              </a:spcAft>
            </a:pPr>
            <a:r>
              <a:rPr sz="919" b="0" i="0">
                <a:solidFill>
                  <a:srgbClr val="262626"/>
                </a:solidFill>
                <a:latin typeface="Calibri"/>
              </a:rPr>
              <a:t>–  Five changes, each traceable to a feedback item and to a repository artefact</a:t>
            </a:r>
          </a:p>
          <a:p>
            <a:pPr algn="l">
              <a:lnSpc>
                <a:spcPct val="95000"/>
              </a:lnSpc>
              <a:spcBef>
                <a:spcPts val="0"/>
              </a:spcBef>
              <a:spcAft>
                <a:spcPts val="250"/>
              </a:spcAft>
            </a:pPr>
            <a:r>
              <a:rPr sz="919" b="0" i="0">
                <a:solidFill>
                  <a:srgbClr val="262626"/>
                </a:solidFill>
                <a:latin typeface="Calibri"/>
              </a:rPr>
              <a:t>–  Role-based routing and a database that survive a restart, both with evidence</a:t>
            </a:r>
          </a:p>
          <a:p>
            <a:pPr algn="l">
              <a:lnSpc>
                <a:spcPct val="95000"/>
              </a:lnSpc>
              <a:spcBef>
                <a:spcPts val="0"/>
              </a:spcBef>
              <a:spcAft>
                <a:spcPts val="250"/>
              </a:spcAft>
            </a:pPr>
            <a:r>
              <a:rPr sz="919" b="0" i="0">
                <a:solidFill>
                  <a:srgbClr val="262626"/>
                </a:solidFill>
                <a:latin typeface="Calibri"/>
              </a:rPr>
              <a:t>–  A re-runnable acceptance harness that records a failed run as well as a passing one</a:t>
            </a:r>
          </a:p>
        </p:txBody>
      </p:sp>
      <p:sp>
        <p:nvSpPr>
          <p:cNvPr id="12" name="Rectangle 11"/>
          <p:cNvSpPr/>
          <p:nvPr/>
        </p:nvSpPr>
        <p:spPr>
          <a:xfrm>
            <a:off x="4277258" y="1501752"/>
            <a:ext cx="3637178" cy="14630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4277258" y="1501752"/>
            <a:ext cx="38100" cy="146304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4396130" y="1593192"/>
            <a:ext cx="3446983" cy="133502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We do not claim</a:t>
            </a:r>
          </a:p>
          <a:p>
            <a:pPr algn="l">
              <a:lnSpc>
                <a:spcPct val="95000"/>
              </a:lnSpc>
              <a:spcBef>
                <a:spcPts val="0"/>
              </a:spcBef>
              <a:spcAft>
                <a:spcPts val="250"/>
              </a:spcAft>
            </a:pPr>
            <a:r>
              <a:rPr sz="919" b="0" i="0">
                <a:solidFill>
                  <a:srgbClr val="262626"/>
                </a:solidFill>
                <a:latin typeface="Calibri"/>
              </a:rPr>
              <a:t>–  Live external integration, management reporting output, or a tested downtime procedure</a:t>
            </a:r>
          </a:p>
          <a:p>
            <a:pPr algn="l">
              <a:lnSpc>
                <a:spcPct val="95000"/>
              </a:lnSpc>
              <a:spcBef>
                <a:spcPts val="0"/>
              </a:spcBef>
              <a:spcAft>
                <a:spcPts val="250"/>
              </a:spcAft>
            </a:pPr>
            <a:r>
              <a:rPr sz="919" b="0" i="0">
                <a:solidFill>
                  <a:srgbClr val="262626"/>
                </a:solidFill>
                <a:latin typeface="Calibri"/>
              </a:rPr>
              <a:t>–  Audit immutability below the application layer</a:t>
            </a:r>
          </a:p>
          <a:p>
            <a:pPr algn="l">
              <a:lnSpc>
                <a:spcPct val="95000"/>
              </a:lnSpc>
              <a:spcBef>
                <a:spcPts val="0"/>
              </a:spcBef>
              <a:spcAft>
                <a:spcPts val="250"/>
              </a:spcAft>
            </a:pPr>
            <a:r>
              <a:rPr sz="919" b="0" i="0">
                <a:solidFill>
                  <a:srgbClr val="262626"/>
                </a:solidFill>
                <a:latin typeface="Calibri"/>
              </a:rPr>
              <a:t>–  An automated RBAC regression suite</a:t>
            </a:r>
          </a:p>
        </p:txBody>
      </p:sp>
      <p:sp>
        <p:nvSpPr>
          <p:cNvPr id="15" name="Rectangle 14"/>
          <p:cNvSpPr/>
          <p:nvPr/>
        </p:nvSpPr>
        <p:spPr>
          <a:xfrm>
            <a:off x="8051596" y="1501752"/>
            <a:ext cx="3637178" cy="146304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8051596" y="1501752"/>
            <a:ext cx="38100" cy="146304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8170468" y="1593192"/>
            <a:ext cx="3446983" cy="133502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Next release, in priority order</a:t>
            </a:r>
          </a:p>
          <a:p>
            <a:pPr algn="l">
              <a:lnSpc>
                <a:spcPct val="95000"/>
              </a:lnSpc>
              <a:spcBef>
                <a:spcPts val="0"/>
              </a:spcBef>
              <a:spcAft>
                <a:spcPts val="250"/>
              </a:spcAft>
            </a:pPr>
            <a:r>
              <a:rPr sz="919" b="0" i="0">
                <a:solidFill>
                  <a:srgbClr val="262626"/>
                </a:solidFill>
                <a:latin typeface="Calibri"/>
              </a:rPr>
              <a:t>–  1  RBAC regression suite — the only gap we have already fixed but cannot auto-prove</a:t>
            </a:r>
          </a:p>
          <a:p>
            <a:pPr algn="l">
              <a:lnSpc>
                <a:spcPct val="95000"/>
              </a:lnSpc>
              <a:spcBef>
                <a:spcPts val="0"/>
              </a:spcBef>
              <a:spcAft>
                <a:spcPts val="250"/>
              </a:spcAft>
            </a:pPr>
            <a:r>
              <a:rPr sz="919" b="0" i="0">
                <a:solidFill>
                  <a:srgbClr val="262626"/>
                </a:solidFill>
                <a:latin typeface="Calibri"/>
              </a:rPr>
              <a:t>–  2  Replace the four simulated services with one real provider</a:t>
            </a:r>
          </a:p>
          <a:p>
            <a:pPr algn="l">
              <a:lnSpc>
                <a:spcPct val="95000"/>
              </a:lnSpc>
              <a:spcBef>
                <a:spcPts val="0"/>
              </a:spcBef>
              <a:spcAft>
                <a:spcPts val="250"/>
              </a:spcAft>
            </a:pPr>
            <a:r>
              <a:rPr sz="919" b="0" i="0">
                <a:solidFill>
                  <a:srgbClr val="262626"/>
                </a:solidFill>
                <a:latin typeface="Calibri"/>
              </a:rPr>
              <a:t>–  3  Point the database at a server instance; the code is already plain JDBC</a:t>
            </a:r>
          </a:p>
        </p:txBody>
      </p:sp>
      <p:sp>
        <p:nvSpPr>
          <p:cNvPr id="18" name="TextBox 17"/>
          <p:cNvSpPr txBox="1"/>
          <p:nvPr/>
        </p:nvSpPr>
        <p:spPr>
          <a:xfrm>
            <a:off x="502920" y="3129384"/>
            <a:ext cx="11185855" cy="320040"/>
          </a:xfrm>
          <a:prstGeom prst="rect">
            <a:avLst/>
          </a:prstGeom>
          <a:noFill/>
        </p:spPr>
        <p:txBody>
          <a:bodyPr wrap="square" anchor="t" lIns="0" rIns="0" tIns="0" bIns="0">
            <a:spAutoFit/>
          </a:bodyPr>
          <a:lstStyle/>
          <a:p>
            <a:pPr algn="l">
              <a:spcBef>
                <a:spcPts val="0"/>
              </a:spcBef>
              <a:spcAft>
                <a:spcPts val="300"/>
              </a:spcAft>
            </a:pPr>
            <a:r>
              <a:rPr sz="1200" b="1" i="0">
                <a:solidFill>
                  <a:srgbClr val="1F3864"/>
                </a:solidFill>
                <a:latin typeface="Calibri"/>
              </a:rPr>
              <a:t>Discussion we would welcome</a:t>
            </a:r>
          </a:p>
          <a:p>
            <a:pPr algn="l">
              <a:lnSpc>
                <a:spcPct val="95000"/>
              </a:lnSpc>
              <a:spcBef>
                <a:spcPts val="0"/>
              </a:spcBef>
              <a:spcAft>
                <a:spcPts val="200"/>
              </a:spcAft>
            </a:pPr>
            <a:r>
              <a:rPr sz="960" b="0" i="0">
                <a:solidFill>
                  <a:srgbClr val="262626"/>
                </a:solidFill>
                <a:latin typeface="Calibri"/>
              </a:rPr>
              <a:t>–  Is an acceptance harness that has only ever passed worth more, or less, than one that has failed and been fixed?</a:t>
            </a:r>
          </a:p>
          <a:p>
            <a:pPr algn="l">
              <a:lnSpc>
                <a:spcPct val="95000"/>
              </a:lnSpc>
              <a:spcBef>
                <a:spcPts val="0"/>
              </a:spcBef>
              <a:spcAft>
                <a:spcPts val="200"/>
              </a:spcAft>
            </a:pPr>
            <a:r>
              <a:rPr sz="960" b="0" i="0">
                <a:solidFill>
                  <a:srgbClr val="262626"/>
                </a:solidFill>
                <a:latin typeface="Calibri"/>
              </a:rPr>
              <a:t>–  Should role-based access be evidenced by automated regression, or is a design inspection sufficient at this stage?</a:t>
            </a:r>
          </a:p>
          <a:p>
            <a:pPr algn="l">
              <a:lnSpc>
                <a:spcPct val="95000"/>
              </a:lnSpc>
              <a:spcBef>
                <a:spcPts val="0"/>
              </a:spcBef>
              <a:spcAft>
                <a:spcPts val="200"/>
              </a:spcAft>
            </a:pPr>
            <a:r>
              <a:rPr sz="960" b="0" i="0">
                <a:solidFill>
                  <a:srgbClr val="262626"/>
                </a:solidFill>
                <a:latin typeface="Calibri"/>
              </a:rPr>
              <a:t>–  How far should external integration go before the simulated boundary stops being defensible?</a:t>
            </a:r>
          </a:p>
        </p:txBody>
      </p:sp>
      <p:sp>
        <p:nvSpPr>
          <p:cNvPr id="19" name="TextBox 18"/>
          <p:cNvSpPr txBox="1"/>
          <p:nvPr/>
        </p:nvSpPr>
        <p:spPr>
          <a:xfrm>
            <a:off x="502920" y="4129384"/>
            <a:ext cx="11185855" cy="1005840"/>
          </a:xfrm>
          <a:prstGeom prst="rect">
            <a:avLst/>
          </a:prstGeom>
          <a:noFill/>
        </p:spPr>
        <p:txBody>
          <a:bodyPr wrap="square" anchor="t" lIns="0" rIns="0" tIns="0" bIns="0">
            <a:spAutoFit/>
          </a:bodyPr>
          <a:lstStyle/>
          <a:p>
            <a:pPr algn="l">
              <a:spcBef>
                <a:spcPts val="0"/>
              </a:spcBef>
              <a:spcAft>
                <a:spcPts val="200"/>
              </a:spcAft>
            </a:pPr>
            <a:r>
              <a:rPr sz="950" b="1" i="0">
                <a:solidFill>
                  <a:srgbClr val="2E74B5"/>
                </a:solidFill>
                <a:latin typeface="Calibri"/>
              </a:rPr>
              <a:t>References</a:t>
            </a:r>
          </a:p>
          <a:p>
            <a:pPr algn="l">
              <a:lnSpc>
                <a:spcPct val="95000"/>
              </a:lnSpc>
              <a:spcBef>
                <a:spcPts val="0"/>
              </a:spcBef>
              <a:spcAft>
                <a:spcPts val="0"/>
              </a:spcAft>
            </a:pPr>
            <a:r>
              <a:rPr sz="760" b="0" i="0">
                <a:solidFill>
                  <a:srgbClr val="595959"/>
                </a:solidFill>
                <a:latin typeface="Calibri"/>
              </a:rPr>
              <a:t>Camunda (2024) Camunda 8 Documentation.  ·  Dalpiaz, F., Franch, X. and Horkoff, J. (2016) 'iStar 2.0 language guide', arXiv:1605.07767.  ·  H2 Database Engine (2024) H2 Documentation.  ·  Horkoff, J. and Yu, E. (2016) 'Interactive goal model analysis for early requirements engineering', Requirements Engineering, 21(1), pp. 29–61.  ·  Object Management Group (2011) Business Process Model and Notation (BPMN) v2.0.  ·  Recker, J. (2010) 'Opportunities and constraints: the current struggle with BPMN', Business Process Management Journal, 16(1), pp. 181–201.  ·  Schwaber, K. and Sutherland, J. (2020) The Scrum Guide.  ·  UWE Bristol (2026) Case Study: Hospital Patient Referral, Treatment and Administration System.</a:t>
            </a:r>
          </a:p>
        </p:txBody>
      </p:sp>
      <p:sp>
        <p:nvSpPr>
          <p:cNvPr id="20" name="Rectangle 19"/>
          <p:cNvSpPr/>
          <p:nvPr/>
        </p:nvSpPr>
        <p:spPr>
          <a:xfrm>
            <a:off x="502920" y="4909384"/>
            <a:ext cx="11185855" cy="620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52920" y="4973392"/>
            <a:ext cx="10885855" cy="500000"/>
          </a:xfrm>
          <a:prstGeom prst="rect">
            <a:avLst/>
          </a:prstGeom>
          <a:noFill/>
        </p:spPr>
        <p:txBody>
          <a:bodyPr wrap="square" anchor="t" lIns="0" rIns="0" tIns="0" bIns="0">
            <a:spAutoFit/>
          </a:bodyPr>
          <a:lstStyle/>
          <a:p>
            <a:pPr algn="l">
              <a:lnSpc>
                <a:spcPct val="95000"/>
              </a:lnSpc>
              <a:spcBef>
                <a:spcPts val="0"/>
              </a:spcBef>
              <a:spcAft>
                <a:spcPts val="0"/>
              </a:spcAft>
            </a:pPr>
            <a:r>
              <a:rPr sz="1100" b="1" i="0">
                <a:solidFill>
                  <a:srgbClr val="FFFFFF"/>
                </a:solidFill>
                <a:latin typeface="Calibri"/>
              </a:rPr>
              <a:t>Thank you — questions welcome. Four backup pages follow: A1 the requirements trace, A2 the acceptance criteria, A3 the model inventory, A4 the demo fallback.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BACKUP A1  ·  REQUIREMENTS TRACE</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44 requirements: 28 fully supported, 12 partly, 2 not supported, 2 out of scope</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backup</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Full table in UFCEP4-0-3 Task 03. Shown here only if asked.</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16</a:t>
            </a:r>
          </a:p>
        </p:txBody>
      </p:sp>
      <p:graphicFrame>
        <p:nvGraphicFramePr>
          <p:cNvPr id="9" name="Table 8"/>
          <p:cNvGraphicFramePr>
            <a:graphicFrameLocks noGrp="1"/>
          </p:cNvGraphicFramePr>
          <p:nvPr/>
        </p:nvGraphicFramePr>
        <p:xfrm>
          <a:off x="502920" y="1459752"/>
          <a:ext cx="11185853" cy="2743200"/>
        </p:xfrm>
        <a:graphic>
          <a:graphicData uri="http://schemas.openxmlformats.org/drawingml/2006/table">
            <a:tbl>
              <a:tblPr firstRow="1" bandRow="1">
                <a:tableStyleId>{2D5ABB26-0587-4C30-8999-92F81FD0307C}</a:tableStyleId>
              </a:tblPr>
              <a:tblGrid>
                <a:gridCol w="1892134"/>
                <a:gridCol w="946067"/>
                <a:gridCol w="4006873"/>
                <a:gridCol w="4340779"/>
              </a:tblGrid>
              <a:tr h="548640">
                <a:tc>
                  <a:txBody>
                    <a:bodyPr wrap="square"/>
                    <a:lstStyle/>
                    <a:p>
                      <a:pPr algn="l">
                        <a:lnSpc>
                          <a:spcPct val="92000"/>
                        </a:lnSpc>
                      </a:pPr>
                      <a:r>
                        <a:rPr sz="900" b="1">
                          <a:solidFill>
                            <a:srgbClr val="FFFFFF"/>
                          </a:solidFill>
                          <a:latin typeface="Calibri"/>
                        </a:rPr>
                        <a:t>Verdict</a:t>
                      </a:r>
                    </a:p>
                  </a:txBody>
                  <a:tcPr marL="64008" marR="54864" marT="22860" marB="22860" anchor="ctr">
                    <a:solidFill>
                      <a:srgbClr val="2E74B5"/>
                    </a:solidFill>
                  </a:tcPr>
                </a:tc>
                <a:tc>
                  <a:txBody>
                    <a:bodyPr wrap="square"/>
                    <a:lstStyle/>
                    <a:p>
                      <a:pPr algn="ctr">
                        <a:lnSpc>
                          <a:spcPct val="92000"/>
                        </a:lnSpc>
                      </a:pPr>
                      <a:r>
                        <a:rPr sz="900" b="1">
                          <a:solidFill>
                            <a:srgbClr val="FFFFFF"/>
                          </a:solidFill>
                          <a:latin typeface="Calibri"/>
                        </a:rPr>
                        <a:t>Count</a:t>
                      </a:r>
                    </a:p>
                  </a:txBody>
                  <a:tcPr marL="64008" marR="54864" marT="22860" marB="22860" anchor="ctr">
                    <a:solidFill>
                      <a:srgbClr val="2E74B5"/>
                    </a:solidFill>
                  </a:tcPr>
                </a:tc>
                <a:tc>
                  <a:txBody>
                    <a:bodyPr wrap="square"/>
                    <a:lstStyle/>
                    <a:p>
                      <a:pPr algn="l">
                        <a:lnSpc>
                          <a:spcPct val="92000"/>
                        </a:lnSpc>
                      </a:pPr>
                      <a:r>
                        <a:rPr sz="900" b="1">
                          <a:solidFill>
                            <a:srgbClr val="FFFFFF"/>
                          </a:solidFill>
                          <a:latin typeface="Calibri"/>
                        </a:rPr>
                        <a:t>Meaning</a:t>
                      </a:r>
                    </a:p>
                  </a:txBody>
                  <a:tcPr marL="64008" marR="54864" marT="22860" marB="22860" anchor="ctr">
                    <a:solidFill>
                      <a:srgbClr val="2E74B5"/>
                    </a:solidFill>
                  </a:tcPr>
                </a:tc>
                <a:tc>
                  <a:txBody>
                    <a:bodyPr wrap="square"/>
                    <a:lstStyle/>
                    <a:p>
                      <a:pPr algn="l">
                        <a:lnSpc>
                          <a:spcPct val="92000"/>
                        </a:lnSpc>
                      </a:pPr>
                      <a:r>
                        <a:rPr sz="900" b="1">
                          <a:solidFill>
                            <a:srgbClr val="FFFFFF"/>
                          </a:solidFill>
                          <a:latin typeface="Calibri"/>
                        </a:rPr>
                        <a:t>Example</a:t>
                      </a:r>
                    </a:p>
                  </a:txBody>
                  <a:tcPr marL="64008" marR="54864" marT="22860" marB="22860" anchor="ctr">
                    <a:solidFill>
                      <a:srgbClr val="2E74B5"/>
                    </a:solidFill>
                  </a:tcPr>
                </a:tc>
              </a:tr>
              <a:tr h="548640">
                <a:tc>
                  <a:txBody>
                    <a:bodyPr wrap="square"/>
                    <a:lstStyle/>
                    <a:p>
                      <a:pPr algn="l">
                        <a:lnSpc>
                          <a:spcPct val="92000"/>
                        </a:lnSpc>
                      </a:pPr>
                      <a:r>
                        <a:rPr sz="900" b="0">
                          <a:solidFill>
                            <a:srgbClr val="262626"/>
                          </a:solidFill>
                          <a:latin typeface="Calibri"/>
                        </a:rPr>
                        <a:t>Fully supported</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28</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Traced to a strategic activity, an i* element and a deployed artefact</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REQ-09 the 14-day telephone rule — gateway, form field, TC-06</a:t>
                      </a:r>
                    </a:p>
                  </a:txBody>
                  <a:tcPr marL="64008" marR="54864" marT="22860" marB="22860" anchor="ctr">
                    <a:solidFill>
                      <a:srgbClr val="FFFFFF"/>
                    </a:solidFill>
                  </a:tcPr>
                </a:tc>
              </a:tr>
              <a:tr h="548640">
                <a:tc>
                  <a:txBody>
                    <a:bodyPr wrap="square"/>
                    <a:lstStyle/>
                    <a:p>
                      <a:pPr algn="l">
                        <a:lnSpc>
                          <a:spcPct val="92000"/>
                        </a:lnSpc>
                      </a:pPr>
                      <a:r>
                        <a:rPr sz="900" b="0">
                          <a:solidFill>
                            <a:srgbClr val="262626"/>
                          </a:solidFill>
                          <a:latin typeface="Calibri"/>
                        </a:rPr>
                        <a:t>Partly supported</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12</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Traced, but one layer is missing or evidenced by inspection only</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REQ-37 audit immutability — append-only API, no DB grants</a:t>
                      </a:r>
                    </a:p>
                  </a:txBody>
                  <a:tcPr marL="64008" marR="54864" marT="22860" marB="22860" anchor="ctr">
                    <a:solidFill>
                      <a:srgbClr val="EEF2F7"/>
                    </a:solidFill>
                  </a:tcPr>
                </a:tc>
              </a:tr>
              <a:tr h="548640">
                <a:tc>
                  <a:txBody>
                    <a:bodyPr wrap="square"/>
                    <a:lstStyle/>
                    <a:p>
                      <a:pPr algn="l">
                        <a:lnSpc>
                          <a:spcPct val="92000"/>
                        </a:lnSpc>
                      </a:pPr>
                      <a:r>
                        <a:rPr sz="900" b="0">
                          <a:solidFill>
                            <a:srgbClr val="262626"/>
                          </a:solidFill>
                          <a:latin typeface="Calibri"/>
                        </a:rPr>
                        <a:t>Not supported</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2</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In scope, no implementation</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Management reporting output — timer has not elapsed</a:t>
                      </a:r>
                    </a:p>
                  </a:txBody>
                  <a:tcPr marL="64008" marR="54864" marT="22860" marB="22860" anchor="ctr">
                    <a:solidFill>
                      <a:srgbClr val="FFFFFF"/>
                    </a:solidFill>
                  </a:tcPr>
                </a:tc>
              </a:tr>
              <a:tr h="548640">
                <a:tc>
                  <a:txBody>
                    <a:bodyPr wrap="square"/>
                    <a:lstStyle/>
                    <a:p>
                      <a:pPr algn="l">
                        <a:lnSpc>
                          <a:spcPct val="92000"/>
                        </a:lnSpc>
                      </a:pPr>
                      <a:r>
                        <a:rPr sz="900" b="0">
                          <a:solidFill>
                            <a:srgbClr val="262626"/>
                          </a:solidFill>
                          <a:latin typeface="Calibri"/>
                        </a:rPr>
                        <a:t>Out of scope</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2</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Deliberately outside the first two releases</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Live external integration</a:t>
                      </a:r>
                    </a:p>
                  </a:txBody>
                  <a:tcPr marL="64008" marR="54864" marT="22860" marB="22860" anchor="ctr">
                    <a:solidFill>
                      <a:srgbClr val="EEF2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BACKUP A2  ·  ACCEPTANCE CRITERIA</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20 original criteria rewritten as 28 measurable ones, in four families</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backup</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The four worked examples below are the ones we usually get asked about.</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17</a:t>
            </a:r>
          </a:p>
        </p:txBody>
      </p:sp>
      <p:sp>
        <p:nvSpPr>
          <p:cNvPr id="9" name="Rectangle 8"/>
          <p:cNvSpPr/>
          <p:nvPr/>
        </p:nvSpPr>
        <p:spPr>
          <a:xfrm>
            <a:off x="502920" y="1459752"/>
            <a:ext cx="2617471" cy="9144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594360" y="1528332"/>
            <a:ext cx="2434591" cy="7772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11</a:t>
            </a:r>
          </a:p>
          <a:p>
            <a:pPr algn="ctr">
              <a:lnSpc>
                <a:spcPct val="95000"/>
              </a:lnSpc>
              <a:spcBef>
                <a:spcPts val="200"/>
              </a:spcBef>
              <a:spcAft>
                <a:spcPts val="0"/>
              </a:spcAft>
            </a:pPr>
            <a:r>
              <a:rPr sz="900" b="1" i="0">
                <a:solidFill>
                  <a:srgbClr val="1F3864"/>
                </a:solidFill>
                <a:latin typeface="Calibri"/>
              </a:rPr>
              <a:t>normal path</a:t>
            </a:r>
          </a:p>
        </p:txBody>
      </p:sp>
      <p:sp>
        <p:nvSpPr>
          <p:cNvPr id="11" name="Rectangle 10"/>
          <p:cNvSpPr/>
          <p:nvPr/>
        </p:nvSpPr>
        <p:spPr>
          <a:xfrm>
            <a:off x="3241423" y="1459752"/>
            <a:ext cx="2617471" cy="9144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332863" y="1528332"/>
            <a:ext cx="2434591" cy="7772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9</a:t>
            </a:r>
          </a:p>
          <a:p>
            <a:pPr algn="ctr">
              <a:lnSpc>
                <a:spcPct val="95000"/>
              </a:lnSpc>
              <a:spcBef>
                <a:spcPts val="200"/>
              </a:spcBef>
              <a:spcAft>
                <a:spcPts val="0"/>
              </a:spcAft>
            </a:pPr>
            <a:r>
              <a:rPr sz="900" b="1" i="0">
                <a:solidFill>
                  <a:srgbClr val="1F3864"/>
                </a:solidFill>
                <a:latin typeface="Calibri"/>
              </a:rPr>
              <a:t>exception path</a:t>
            </a:r>
          </a:p>
        </p:txBody>
      </p:sp>
      <p:sp>
        <p:nvSpPr>
          <p:cNvPr id="13" name="Rectangle 12"/>
          <p:cNvSpPr/>
          <p:nvPr/>
        </p:nvSpPr>
        <p:spPr>
          <a:xfrm>
            <a:off x="5979926" y="1459752"/>
            <a:ext cx="2617471" cy="9144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071366" y="1528332"/>
            <a:ext cx="2434591" cy="7772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5</a:t>
            </a:r>
          </a:p>
          <a:p>
            <a:pPr algn="ctr">
              <a:lnSpc>
                <a:spcPct val="95000"/>
              </a:lnSpc>
              <a:spcBef>
                <a:spcPts val="200"/>
              </a:spcBef>
              <a:spcAft>
                <a:spcPts val="0"/>
              </a:spcAft>
            </a:pPr>
            <a:r>
              <a:rPr sz="900" b="1" i="0">
                <a:solidFill>
                  <a:srgbClr val="1F3864"/>
                </a:solidFill>
                <a:latin typeface="Calibri"/>
              </a:rPr>
              <a:t>business rule</a:t>
            </a:r>
          </a:p>
        </p:txBody>
      </p:sp>
      <p:sp>
        <p:nvSpPr>
          <p:cNvPr id="15" name="Rectangle 14"/>
          <p:cNvSpPr/>
          <p:nvPr/>
        </p:nvSpPr>
        <p:spPr>
          <a:xfrm>
            <a:off x="8718429" y="1459752"/>
            <a:ext cx="2617471" cy="91440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809869" y="1528332"/>
            <a:ext cx="2434591" cy="777240"/>
          </a:xfrm>
          <a:prstGeom prst="rect">
            <a:avLst/>
          </a:prstGeom>
          <a:noFill/>
        </p:spPr>
        <p:txBody>
          <a:bodyPr wrap="square" anchor="t" lIns="0" rIns="0" tIns="0" bIns="0">
            <a:spAutoFit/>
          </a:bodyPr>
          <a:lstStyle/>
          <a:p>
            <a:pPr algn="ctr">
              <a:lnSpc>
                <a:spcPct val="90000"/>
              </a:lnSpc>
              <a:spcBef>
                <a:spcPts val="0"/>
              </a:spcBef>
              <a:spcAft>
                <a:spcPts val="0"/>
              </a:spcAft>
            </a:pPr>
            <a:r>
              <a:rPr sz="2200" b="1" i="0">
                <a:solidFill>
                  <a:srgbClr val="2E74B5"/>
                </a:solidFill>
                <a:latin typeface="Calibri"/>
              </a:rPr>
              <a:t>3</a:t>
            </a:r>
          </a:p>
          <a:p>
            <a:pPr algn="ctr">
              <a:lnSpc>
                <a:spcPct val="95000"/>
              </a:lnSpc>
              <a:spcBef>
                <a:spcPts val="200"/>
              </a:spcBef>
              <a:spcAft>
                <a:spcPts val="0"/>
              </a:spcAft>
            </a:pPr>
            <a:r>
              <a:rPr sz="900" b="1" i="0">
                <a:solidFill>
                  <a:srgbClr val="1F3864"/>
                </a:solidFill>
                <a:latin typeface="Calibri"/>
              </a:rPr>
              <a:t>non-functional</a:t>
            </a:r>
          </a:p>
        </p:txBody>
      </p:sp>
      <p:sp>
        <p:nvSpPr>
          <p:cNvPr id="17" name="Rectangle 16"/>
          <p:cNvSpPr/>
          <p:nvPr/>
        </p:nvSpPr>
        <p:spPr>
          <a:xfrm>
            <a:off x="502920" y="2538744"/>
            <a:ext cx="5516727" cy="173736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502920" y="2538744"/>
            <a:ext cx="38100" cy="1737360"/>
          </a:xfrm>
          <a:prstGeom prst="rect">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792" y="2630184"/>
            <a:ext cx="5326532" cy="160934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Why the original twenty could not fail</a:t>
            </a:r>
          </a:p>
          <a:p>
            <a:pPr algn="l">
              <a:lnSpc>
                <a:spcPct val="95000"/>
              </a:lnSpc>
              <a:spcBef>
                <a:spcPts val="0"/>
              </a:spcBef>
              <a:spcAft>
                <a:spcPts val="250"/>
              </a:spcAft>
            </a:pPr>
            <a:r>
              <a:rPr sz="919" b="0" i="0">
                <a:solidFill>
                  <a:srgbClr val="262626"/>
                </a:solidFill>
                <a:latin typeface="Calibri"/>
              </a:rPr>
              <a:t>–  They described activities, not outcomes — "the referral is handled".</a:t>
            </a:r>
          </a:p>
          <a:p>
            <a:pPr algn="l">
              <a:lnSpc>
                <a:spcPct val="95000"/>
              </a:lnSpc>
              <a:spcBef>
                <a:spcPts val="0"/>
              </a:spcBef>
              <a:spcAft>
                <a:spcPts val="250"/>
              </a:spcAft>
            </a:pPr>
            <a:r>
              <a:rPr sz="919" b="0" i="0">
                <a:solidFill>
                  <a:srgbClr val="262626"/>
                </a:solidFill>
                <a:latin typeface="Calibri"/>
              </a:rPr>
              <a:t>–  Only two carried a threshold, so eighteen had no way to be false.</a:t>
            </a:r>
          </a:p>
          <a:p>
            <a:pPr algn="l">
              <a:lnSpc>
                <a:spcPct val="95000"/>
              </a:lnSpc>
              <a:spcBef>
                <a:spcPts val="0"/>
              </a:spcBef>
              <a:spcAft>
                <a:spcPts val="250"/>
              </a:spcAft>
            </a:pPr>
            <a:r>
              <a:rPr sz="919" b="0" i="0">
                <a:solidFill>
                  <a:srgbClr val="262626"/>
                </a:solidFill>
                <a:latin typeface="Calibri"/>
              </a:rPr>
              <a:t>–  Nine exception requirements had no criterion at all.</a:t>
            </a:r>
          </a:p>
          <a:p>
            <a:pPr algn="l">
              <a:lnSpc>
                <a:spcPct val="95000"/>
              </a:lnSpc>
              <a:spcBef>
                <a:spcPts val="0"/>
              </a:spcBef>
              <a:spcAft>
                <a:spcPts val="250"/>
              </a:spcAft>
            </a:pPr>
            <a:r>
              <a:rPr sz="919" b="0" i="0">
                <a:solidFill>
                  <a:srgbClr val="262626"/>
                </a:solidFill>
                <a:latin typeface="Calibri"/>
              </a:rPr>
              <a:t>–  Non-functional needs were one unmeasurable line.</a:t>
            </a:r>
          </a:p>
        </p:txBody>
      </p:sp>
      <p:sp>
        <p:nvSpPr>
          <p:cNvPr id="20" name="Rectangle 19"/>
          <p:cNvSpPr/>
          <p:nvPr/>
        </p:nvSpPr>
        <p:spPr>
          <a:xfrm>
            <a:off x="6172047" y="2538744"/>
            <a:ext cx="5516727" cy="1737360"/>
          </a:xfrm>
          <a:prstGeom prst="rect">
            <a:avLst/>
          </a:prstGeom>
          <a:solidFill>
            <a:srgbClr val="F2F6FB"/>
          </a:solidFill>
          <a:ln w="9525">
            <a:solidFill>
              <a:srgbClr val="D6E2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6172047" y="2538744"/>
            <a:ext cx="38100" cy="173736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290919" y="2630184"/>
            <a:ext cx="5326532" cy="1609344"/>
          </a:xfrm>
          <a:prstGeom prst="rect">
            <a:avLst/>
          </a:prstGeom>
          <a:noFill/>
        </p:spPr>
        <p:txBody>
          <a:bodyPr wrap="square" anchor="t" lIns="0" rIns="0" tIns="0" bIns="0">
            <a:spAutoFit/>
          </a:bodyPr>
          <a:lstStyle/>
          <a:p>
            <a:pPr algn="l">
              <a:spcBef>
                <a:spcPts val="0"/>
              </a:spcBef>
              <a:spcAft>
                <a:spcPts val="300"/>
              </a:spcAft>
            </a:pPr>
            <a:r>
              <a:rPr sz="1150" b="1" i="0">
                <a:solidFill>
                  <a:srgbClr val="1F3864"/>
                </a:solidFill>
                <a:latin typeface="Calibri"/>
              </a:rPr>
              <a:t>AC-R-12 — the one worth memorising</a:t>
            </a:r>
          </a:p>
          <a:p>
            <a:pPr algn="l">
              <a:lnSpc>
                <a:spcPct val="95000"/>
              </a:lnSpc>
              <a:spcBef>
                <a:spcPts val="0"/>
              </a:spcBef>
              <a:spcAft>
                <a:spcPts val="250"/>
              </a:spcAft>
            </a:pPr>
            <a:r>
              <a:rPr sz="919" b="0" i="0">
                <a:solidFill>
                  <a:srgbClr val="262626"/>
                </a:solidFill>
                <a:latin typeface="Calibri"/>
              </a:rPr>
              <a:t>–  Given a payment the provider took but did not confirm,</a:t>
            </a:r>
          </a:p>
          <a:p>
            <a:pPr algn="l">
              <a:lnSpc>
                <a:spcPct val="95000"/>
              </a:lnSpc>
              <a:spcBef>
                <a:spcPts val="0"/>
              </a:spcBef>
              <a:spcAft>
                <a:spcPts val="250"/>
              </a:spcAft>
            </a:pPr>
            <a:r>
              <a:rPr sz="919" b="0" i="0">
                <a:solidFill>
                  <a:srgbClr val="262626"/>
                </a:solidFill>
                <a:latin typeface="Calibri"/>
              </a:rPr>
              <a:t>–  when no confirmation is returned,</a:t>
            </a:r>
          </a:p>
          <a:p>
            <a:pPr algn="l">
              <a:lnSpc>
                <a:spcPct val="95000"/>
              </a:lnSpc>
              <a:spcBef>
                <a:spcPts val="0"/>
              </a:spcBef>
              <a:spcAft>
                <a:spcPts val="250"/>
              </a:spcAft>
            </a:pPr>
            <a:r>
              <a:rPr sz="919" b="0" i="0">
                <a:solidFill>
                  <a:srgbClr val="262626"/>
                </a:solidFill>
                <a:latin typeface="Calibri"/>
              </a:rPr>
              <a:t>–  then the transaction is marked for investigation</a:t>
            </a:r>
          </a:p>
          <a:p>
            <a:pPr algn="l">
              <a:lnSpc>
                <a:spcPct val="95000"/>
              </a:lnSpc>
              <a:spcBef>
                <a:spcPts val="0"/>
              </a:spcBef>
              <a:spcAft>
                <a:spcPts val="250"/>
              </a:spcAft>
            </a:pPr>
            <a:r>
              <a:rPr sz="919" b="0" i="0">
                <a:solidFill>
                  <a:srgbClr val="262626"/>
                </a:solidFill>
                <a:latin typeface="Calibri"/>
              </a:rPr>
              <a:t>–  and no second payment request is raised.</a:t>
            </a:r>
          </a:p>
          <a:p>
            <a:pPr algn="l">
              <a:lnSpc>
                <a:spcPct val="95000"/>
              </a:lnSpc>
              <a:spcBef>
                <a:spcPts val="0"/>
              </a:spcBef>
              <a:spcAft>
                <a:spcPts val="250"/>
              </a:spcAft>
            </a:pPr>
            <a:r>
              <a:rPr sz="919" b="1" i="0">
                <a:solidFill>
                  <a:srgbClr val="2E74B5"/>
                </a:solidFill>
                <a:latin typeface="Calibri"/>
              </a:rPr>
              <a:t>–  Traces to REQ-23 · BR-06 · TC-16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BACKUP A3  ·  INVENTORY</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750" b="1" i="0">
                <a:solidFill>
                  <a:srgbClr val="1F3864"/>
                </a:solidFill>
                <a:latin typeface="Calibri"/>
              </a:rPr>
              <a:t>Four models, seven definitions, sixty-nine forms — the counts behind every slide</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backup</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Generated from the .bpmn and .form files on 20 October 2026; see model-inventory.md.</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18</a:t>
            </a:r>
          </a:p>
        </p:txBody>
      </p:sp>
      <p:graphicFrame>
        <p:nvGraphicFramePr>
          <p:cNvPr id="9" name="Table 8"/>
          <p:cNvGraphicFramePr>
            <a:graphicFrameLocks noGrp="1"/>
          </p:cNvGraphicFramePr>
          <p:nvPr/>
        </p:nvGraphicFramePr>
        <p:xfrm>
          <a:off x="502920" y="1459752"/>
          <a:ext cx="11185853" cy="2414016"/>
        </p:xfrm>
        <a:graphic>
          <a:graphicData uri="http://schemas.openxmlformats.org/drawingml/2006/table">
            <a:tbl>
              <a:tblPr firstRow="1" bandRow="1">
                <a:tableStyleId>{2D5ABB26-0587-4C30-8999-92F81FD0307C}</a:tableStyleId>
              </a:tblPr>
              <a:tblGrid>
                <a:gridCol w="2838202"/>
                <a:gridCol w="1224322"/>
                <a:gridCol w="1113020"/>
                <a:gridCol w="1335624"/>
                <a:gridCol w="4674685"/>
              </a:tblGrid>
              <a:tr h="402336">
                <a:tc>
                  <a:txBody>
                    <a:bodyPr wrap="square"/>
                    <a:lstStyle/>
                    <a:p>
                      <a:pPr algn="l">
                        <a:lnSpc>
                          <a:spcPct val="92000"/>
                        </a:lnSpc>
                      </a:pPr>
                      <a:r>
                        <a:rPr sz="900" b="1">
                          <a:solidFill>
                            <a:srgbClr val="FFFFFF"/>
                          </a:solidFill>
                          <a:latin typeface="Calibri"/>
                        </a:rPr>
                        <a:t>Model</a:t>
                      </a:r>
                    </a:p>
                  </a:txBody>
                  <a:tcPr marL="64008" marR="54864" marT="22860" marB="22860" anchor="ctr">
                    <a:solidFill>
                      <a:srgbClr val="2E74B5"/>
                    </a:solidFill>
                  </a:tcPr>
                </a:tc>
                <a:tc>
                  <a:txBody>
                    <a:bodyPr wrap="square"/>
                    <a:lstStyle/>
                    <a:p>
                      <a:pPr algn="ctr">
                        <a:lnSpc>
                          <a:spcPct val="92000"/>
                        </a:lnSpc>
                      </a:pPr>
                      <a:r>
                        <a:rPr sz="900" b="1">
                          <a:solidFill>
                            <a:srgbClr val="FFFFFF"/>
                          </a:solidFill>
                          <a:latin typeface="Calibri"/>
                        </a:rPr>
                        <a:t>Flow nodes</a:t>
                      </a:r>
                    </a:p>
                  </a:txBody>
                  <a:tcPr marL="64008" marR="54864" marT="22860" marB="22860" anchor="ctr">
                    <a:solidFill>
                      <a:srgbClr val="2E74B5"/>
                    </a:solidFill>
                  </a:tcPr>
                </a:tc>
                <a:tc>
                  <a:txBody>
                    <a:bodyPr wrap="square"/>
                    <a:lstStyle/>
                    <a:p>
                      <a:pPr algn="ctr">
                        <a:lnSpc>
                          <a:spcPct val="92000"/>
                        </a:lnSpc>
                      </a:pPr>
                      <a:r>
                        <a:rPr sz="900" b="1">
                          <a:solidFill>
                            <a:srgbClr val="FFFFFF"/>
                          </a:solidFill>
                          <a:latin typeface="Calibri"/>
                        </a:rPr>
                        <a:t>Lanes</a:t>
                      </a:r>
                    </a:p>
                  </a:txBody>
                  <a:tcPr marL="64008" marR="54864" marT="22860" marB="22860" anchor="ctr">
                    <a:solidFill>
                      <a:srgbClr val="2E74B5"/>
                    </a:solidFill>
                  </a:tcPr>
                </a:tc>
                <a:tc>
                  <a:txBody>
                    <a:bodyPr wrap="square"/>
                    <a:lstStyle/>
                    <a:p>
                      <a:pPr algn="ctr">
                        <a:lnSpc>
                          <a:spcPct val="92000"/>
                        </a:lnSpc>
                      </a:pPr>
                      <a:r>
                        <a:rPr sz="900" b="1">
                          <a:solidFill>
                            <a:srgbClr val="FFFFFF"/>
                          </a:solidFill>
                          <a:latin typeface="Calibri"/>
                        </a:rPr>
                        <a:t>Message flows</a:t>
                      </a:r>
                    </a:p>
                  </a:txBody>
                  <a:tcPr marL="64008" marR="54864" marT="22860" marB="22860" anchor="ctr">
                    <a:solidFill>
                      <a:srgbClr val="2E74B5"/>
                    </a:solidFill>
                  </a:tcPr>
                </a:tc>
                <a:tc>
                  <a:txBody>
                    <a:bodyPr wrap="square"/>
                    <a:lstStyle/>
                    <a:p>
                      <a:pPr algn="l">
                        <a:lnSpc>
                          <a:spcPct val="92000"/>
                        </a:lnSpc>
                      </a:pPr>
                      <a:r>
                        <a:rPr sz="900" b="1">
                          <a:solidFill>
                            <a:srgbClr val="FFFFFF"/>
                          </a:solidFill>
                          <a:latin typeface="Calibri"/>
                        </a:rPr>
                        <a:t>Process definition(s)</a:t>
                      </a:r>
                    </a:p>
                  </a:txBody>
                  <a:tcPr marL="64008" marR="54864" marT="22860" marB="22860" anchor="ctr">
                    <a:solidFill>
                      <a:srgbClr val="2E74B5"/>
                    </a:solidFill>
                  </a:tcPr>
                </a:tc>
              </a:tr>
              <a:tr h="402336">
                <a:tc>
                  <a:txBody>
                    <a:bodyPr wrap="square"/>
                    <a:lstStyle/>
                    <a:p>
                      <a:pPr algn="l">
                        <a:lnSpc>
                          <a:spcPct val="92000"/>
                        </a:lnSpc>
                      </a:pPr>
                      <a:r>
                        <a:rPr sz="900" b="0">
                          <a:solidFill>
                            <a:srgbClr val="262626"/>
                          </a:solidFill>
                          <a:latin typeface="Calibri"/>
                        </a:rPr>
                        <a:t>S1  Strategic landscape</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25</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15</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PR_Landscape</a:t>
                      </a:r>
                    </a:p>
                  </a:txBody>
                  <a:tcPr marL="64008" marR="54864" marT="22860" marB="22860" anchor="ctr">
                    <a:solidFill>
                      <a:srgbClr val="FFFFFF"/>
                    </a:solidFill>
                  </a:tcPr>
                </a:tc>
              </a:tr>
              <a:tr h="402336">
                <a:tc>
                  <a:txBody>
                    <a:bodyPr wrap="square"/>
                    <a:lstStyle/>
                    <a:p>
                      <a:pPr algn="l">
                        <a:lnSpc>
                          <a:spcPct val="92000"/>
                        </a:lnSpc>
                      </a:pPr>
                      <a:r>
                        <a:rPr sz="900" b="0">
                          <a:solidFill>
                            <a:srgbClr val="262626"/>
                          </a:solidFill>
                          <a:latin typeface="Calibri"/>
                        </a:rPr>
                        <a:t>S2  Referral to authorisation</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37</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7</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9</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PR_ReferralToAuthorisation</a:t>
                      </a:r>
                    </a:p>
                  </a:txBody>
                  <a:tcPr marL="64008" marR="54864" marT="22860" marB="22860" anchor="ctr">
                    <a:solidFill>
                      <a:srgbClr val="EEF2F7"/>
                    </a:solidFill>
                  </a:tcPr>
                </a:tc>
              </a:tr>
              <a:tr h="402336">
                <a:tc>
                  <a:txBody>
                    <a:bodyPr wrap="square"/>
                    <a:lstStyle/>
                    <a:p>
                      <a:pPr algn="l">
                        <a:lnSpc>
                          <a:spcPct val="92000"/>
                        </a:lnSpc>
                      </a:pPr>
                      <a:r>
                        <a:rPr sz="900" b="0">
                          <a:solidFill>
                            <a:srgbClr val="262626"/>
                          </a:solidFill>
                          <a:latin typeface="Calibri"/>
                        </a:rPr>
                        <a:t>S3  Treatment to aftercare</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79</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7 + 3 + 1</a:t>
                      </a:r>
                    </a:p>
                  </a:txBody>
                  <a:tcPr marL="64008" marR="54864" marT="22860" marB="22860" anchor="ctr">
                    <a:solidFill>
                      <a:srgbClr val="FFFFFF"/>
                    </a:solidFill>
                  </a:tcPr>
                </a:tc>
                <a:tc>
                  <a:txBody>
                    <a:bodyPr wrap="square"/>
                    <a:lstStyle/>
                    <a:p>
                      <a:pPr algn="ctr">
                        <a:lnSpc>
                          <a:spcPct val="92000"/>
                        </a:lnSpc>
                      </a:pPr>
                      <a:r>
                        <a:rPr sz="900" b="0">
                          <a:solidFill>
                            <a:srgbClr val="262626"/>
                          </a:solidFill>
                          <a:latin typeface="Calibri"/>
                        </a:rPr>
                        <a:t>13</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PR_TreatmentToAftercare, PR_EnquiryHandling, PR_ManagementReporting</a:t>
                      </a:r>
                    </a:p>
                  </a:txBody>
                  <a:tcPr marL="64008" marR="54864" marT="22860" marB="22860" anchor="ctr">
                    <a:solidFill>
                      <a:srgbClr val="FFFFFF"/>
                    </a:solidFill>
                  </a:tcPr>
                </a:tc>
              </a:tr>
              <a:tr h="402336">
                <a:tc>
                  <a:txBody>
                    <a:bodyPr wrap="square"/>
                    <a:lstStyle/>
                    <a:p>
                      <a:pPr algn="l">
                        <a:lnSpc>
                          <a:spcPct val="92000"/>
                        </a:lnSpc>
                      </a:pPr>
                      <a:r>
                        <a:rPr sz="900" b="0">
                          <a:solidFill>
                            <a:srgbClr val="262626"/>
                          </a:solidFill>
                          <a:latin typeface="Calibri"/>
                        </a:rPr>
                        <a:t>O1  Operational merged</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60</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8</a:t>
                      </a:r>
                    </a:p>
                  </a:txBody>
                  <a:tcPr marL="64008" marR="54864" marT="22860" marB="22860" anchor="ctr">
                    <a:solidFill>
                      <a:srgbClr val="EEF2F7"/>
                    </a:solidFill>
                  </a:tcPr>
                </a:tc>
                <a:tc>
                  <a:txBody>
                    <a:bodyPr wrap="square"/>
                    <a:lstStyle/>
                    <a:p>
                      <a:pPr algn="ctr">
                        <a:lnSpc>
                          <a:spcPct val="92000"/>
                        </a:lnSpc>
                      </a:pPr>
                      <a:r>
                        <a:rPr sz="900" b="0">
                          <a:solidFill>
                            <a:srgbClr val="262626"/>
                          </a:solidFill>
                          <a:latin typeface="Calibri"/>
                        </a:rPr>
                        <a:t>15</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PR_Operational_Merged, PR_ReferringOrganisation</a:t>
                      </a:r>
                    </a:p>
                  </a:txBody>
                  <a:tcPr marL="64008" marR="54864" marT="22860" marB="22860" anchor="ctr">
                    <a:solidFill>
                      <a:srgbClr val="EEF2F7"/>
                    </a:solidFill>
                  </a:tcPr>
                </a:tc>
              </a:tr>
              <a:tr h="402336">
                <a:tc>
                  <a:txBody>
                    <a:bodyPr wrap="square"/>
                    <a:lstStyle/>
                    <a:p>
                      <a:pPr algn="l">
                        <a:lnSpc>
                          <a:spcPct val="92000"/>
                        </a:lnSpc>
                      </a:pPr>
                      <a:r>
                        <a:rPr sz="900" b="1">
                          <a:solidFill>
                            <a:srgbClr val="1F3864"/>
                          </a:solidFill>
                          <a:latin typeface="Calibri"/>
                        </a:rPr>
                        <a:t>Total</a:t>
                      </a:r>
                    </a:p>
                  </a:txBody>
                  <a:tcPr marL="64008" marR="54864" marT="22860" marB="22860" anchor="ctr">
                    <a:solidFill>
                      <a:srgbClr val="EEF2F7"/>
                    </a:solidFill>
                  </a:tcPr>
                </a:tc>
                <a:tc>
                  <a:txBody>
                    <a:bodyPr wrap="square"/>
                    <a:lstStyle/>
                    <a:p>
                      <a:pPr algn="l">
                        <a:lnSpc>
                          <a:spcPct val="92000"/>
                        </a:lnSpc>
                      </a:pPr>
                      <a:r>
                        <a:rPr sz="900" b="1">
                          <a:solidFill>
                            <a:srgbClr val="1F3864"/>
                          </a:solidFill>
                          <a:latin typeface="Calibri"/>
                        </a:rPr>
                        <a:t>201</a:t>
                      </a:r>
                    </a:p>
                  </a:txBody>
                  <a:tcPr marL="64008" marR="54864" marT="22860" marB="22860" anchor="ctr">
                    <a:solidFill>
                      <a:srgbClr val="EEF2F7"/>
                    </a:solidFill>
                  </a:tcPr>
                </a:tc>
                <a:tc>
                  <a:txBody>
                    <a:bodyPr wrap="square"/>
                    <a:lstStyle/>
                    <a:p>
                      <a:pPr algn="l">
                        <a:lnSpc>
                          <a:spcPct val="92000"/>
                        </a:lnSpc>
                      </a:pPr>
                      <a:r>
                        <a:rPr sz="900" b="1">
                          <a:solidFill>
                            <a:srgbClr val="1F3864"/>
                          </a:solidFill>
                          <a:latin typeface="Calibri"/>
                        </a:rPr>
                        <a:t/>
                      </a:r>
                    </a:p>
                  </a:txBody>
                  <a:tcPr marL="64008" marR="54864" marT="22860" marB="22860" anchor="ctr">
                    <a:solidFill>
                      <a:srgbClr val="EEF2F7"/>
                    </a:solidFill>
                  </a:tcPr>
                </a:tc>
                <a:tc>
                  <a:txBody>
                    <a:bodyPr wrap="square"/>
                    <a:lstStyle/>
                    <a:p>
                      <a:pPr algn="l">
                        <a:lnSpc>
                          <a:spcPct val="92000"/>
                        </a:lnSpc>
                      </a:pPr>
                      <a:r>
                        <a:rPr sz="900" b="1">
                          <a:solidFill>
                            <a:srgbClr val="1F3864"/>
                          </a:solidFill>
                          <a:latin typeface="Calibri"/>
                        </a:rPr>
                        <a:t>52</a:t>
                      </a:r>
                    </a:p>
                  </a:txBody>
                  <a:tcPr marL="64008" marR="54864" marT="22860" marB="22860" anchor="ctr">
                    <a:solidFill>
                      <a:srgbClr val="EEF2F7"/>
                    </a:solidFill>
                  </a:tcPr>
                </a:tc>
                <a:tc>
                  <a:txBody>
                    <a:bodyPr wrap="square"/>
                    <a:lstStyle/>
                    <a:p>
                      <a:pPr algn="l">
                        <a:lnSpc>
                          <a:spcPct val="92000"/>
                        </a:lnSpc>
                      </a:pPr>
                      <a:r>
                        <a:rPr sz="900" b="1">
                          <a:solidFill>
                            <a:srgbClr val="1F3864"/>
                          </a:solidFill>
                          <a:latin typeface="Calibri"/>
                        </a:rPr>
                        <a:t>7 definitions · 69 Camunda Forms</a:t>
                      </a:r>
                    </a:p>
                  </a:txBody>
                  <a:tcPr marL="64008" marR="54864" marT="22860" marB="22860" anchor="ctr">
                    <a:solidFill>
                      <a:srgbClr val="EEF2F7"/>
                    </a:solidFill>
                  </a:tcPr>
                </a:tc>
              </a:tr>
            </a:tbl>
          </a:graphicData>
        </a:graphic>
      </p:graphicFrame>
      <p:sp>
        <p:nvSpPr>
          <p:cNvPr id="10" name="TextBox 9"/>
          <p:cNvSpPr txBox="1"/>
          <p:nvPr/>
        </p:nvSpPr>
        <p:spPr>
          <a:xfrm>
            <a:off x="502920" y="4038360"/>
            <a:ext cx="11185855" cy="640080"/>
          </a:xfrm>
          <a:prstGeom prst="rect">
            <a:avLst/>
          </a:prstGeom>
          <a:noFill/>
        </p:spPr>
        <p:txBody>
          <a:bodyPr wrap="square" anchor="t" lIns="0" rIns="0" tIns="0" bIns="0">
            <a:spAutoFit/>
          </a:bodyPr>
          <a:lstStyle/>
          <a:p>
            <a:pPr algn="l">
              <a:lnSpc>
                <a:spcPct val="95000"/>
              </a:lnSpc>
              <a:spcBef>
                <a:spcPts val="0"/>
              </a:spcBef>
              <a:spcAft>
                <a:spcPts val="0"/>
              </a:spcAft>
            </a:pPr>
            <a:r>
              <a:rPr sz="1000" b="1" i="0">
                <a:solidFill>
                  <a:srgbClr val="B03A2E"/>
                </a:solidFill>
                <a:latin typeface="Calibri"/>
              </a:rPr>
              <a:t>Not driven end to end by the acceptance run: PR_EnquiryHandling and PR_ManagementReporting. Both deploy and start; neither was exercised by the 18 cases.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8854135" cy="219456"/>
          </a:xfrm>
          <a:prstGeom prst="rect">
            <a:avLst/>
          </a:prstGeom>
          <a:noFill/>
        </p:spPr>
        <p:txBody>
          <a:bodyPr wrap="square" anchor="t" lIns="0" rIns="0" tIns="0" bIns="0">
            <a:spAutoFit/>
          </a:bodyPr>
          <a:lstStyle/>
          <a:p>
            <a:pPr algn="l">
              <a:spcBef>
                <a:spcPts val="0"/>
              </a:spcBef>
              <a:spcAft>
                <a:spcPts val="0"/>
              </a:spcAft>
            </a:pPr>
            <a:r>
              <a:rPr sz="1100" b="1" i="0">
                <a:solidFill>
                  <a:srgbClr val="2E74B5"/>
                </a:solidFill>
                <a:latin typeface="Calibri"/>
              </a:rPr>
              <a:t>BACKUP A4  ·  DEMO FALLBACK AND CODE MAP</a:t>
            </a:r>
          </a:p>
        </p:txBody>
      </p:sp>
      <p:sp>
        <p:nvSpPr>
          <p:cNvPr id="3" name="TextBox 2"/>
          <p:cNvSpPr txBox="1"/>
          <p:nvPr/>
        </p:nvSpPr>
        <p:spPr>
          <a:xfrm>
            <a:off x="502920" y="393192"/>
            <a:ext cx="9335855" cy="590000"/>
          </a:xfrm>
          <a:prstGeom prst="rect">
            <a:avLst/>
          </a:prstGeom>
          <a:noFill/>
        </p:spPr>
        <p:txBody>
          <a:bodyPr wrap="square" anchor="t" lIns="0" rIns="0" tIns="0" bIns="0">
            <a:spAutoFit/>
          </a:bodyPr>
          <a:lstStyle/>
          <a:p>
            <a:pPr algn="l">
              <a:lnSpc>
                <a:spcPct val="92000"/>
              </a:lnSpc>
              <a:spcBef>
                <a:spcPts val="0"/>
              </a:spcBef>
              <a:spcAft>
                <a:spcPts val="0"/>
              </a:spcAft>
            </a:pPr>
            <a:r>
              <a:rPr sz="1900" b="1" i="0">
                <a:solidFill>
                  <a:srgbClr val="1F3864"/>
                </a:solidFill>
                <a:latin typeface="Calibri"/>
              </a:rPr>
              <a:t>If the cluster will not start, and where each part of the run lives</a:t>
            </a:r>
          </a:p>
        </p:txBody>
      </p:sp>
      <p:sp>
        <p:nvSpPr>
          <p:cNvPr id="4" name="Rectangle 3"/>
          <p:cNvSpPr/>
          <p:nvPr/>
        </p:nvSpPr>
        <p:spPr>
          <a:xfrm>
            <a:off x="502920" y="1024128"/>
            <a:ext cx="11185855" cy="127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9418320" y="201168"/>
            <a:ext cx="2331720" cy="292608"/>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backup</a:t>
            </a:r>
          </a:p>
        </p:txBody>
      </p:sp>
      <p:sp>
        <p:nvSpPr>
          <p:cNvPr id="6" name="TextBox 5"/>
          <p:cNvSpPr txBox="1"/>
          <p:nvPr/>
        </p:nvSpPr>
        <p:spPr>
          <a:xfrm>
            <a:off x="502920" y="1063752"/>
            <a:ext cx="11185855" cy="300000"/>
          </a:xfrm>
          <a:prstGeom prst="rect">
            <a:avLst/>
          </a:prstGeom>
          <a:noFill/>
        </p:spPr>
        <p:txBody>
          <a:bodyPr wrap="square" anchor="t" lIns="0" rIns="0" tIns="0" bIns="0">
            <a:spAutoFit/>
          </a:bodyPr>
          <a:lstStyle/>
          <a:p>
            <a:pPr algn="l">
              <a:lnSpc>
                <a:spcPct val="95000"/>
              </a:lnSpc>
              <a:spcBef>
                <a:spcPts val="0"/>
              </a:spcBef>
              <a:spcAft>
                <a:spcPts val="0"/>
              </a:spcAft>
            </a:pPr>
            <a:r>
              <a:rPr sz="1200" b="1" i="0">
                <a:solidFill>
                  <a:srgbClr val="2E74B5"/>
                </a:solidFill>
                <a:latin typeface="Calibri"/>
              </a:rPr>
              <a:t>The recording is a fallback, not a substitute: the log and the screenshots stay on the slides either way.</a:t>
            </a:r>
          </a:p>
        </p:txBody>
      </p:sp>
      <p:sp>
        <p:nvSpPr>
          <p:cNvPr id="7" name="TextBox 6"/>
          <p:cNvSpPr txBox="1"/>
          <p:nvPr/>
        </p:nvSpPr>
        <p:spPr>
          <a:xfrm>
            <a:off x="502920" y="6355080"/>
            <a:ext cx="9601200" cy="228600"/>
          </a:xfrm>
          <a:prstGeom prst="rect">
            <a:avLst/>
          </a:prstGeom>
          <a:noFill/>
        </p:spPr>
        <p:txBody>
          <a:bodyPr wrap="square" anchor="t" lIns="0" rIns="0" tIns="0" bIns="0">
            <a:spAutoFit/>
          </a:bodyPr>
          <a:lstStyle/>
          <a:p>
            <a:pPr algn="l">
              <a:spcBef>
                <a:spcPts val="0"/>
              </a:spcBef>
              <a:spcAft>
                <a:spcPts val="0"/>
              </a:spcAft>
            </a:pPr>
            <a:r>
              <a:rPr sz="900" b="0" i="0">
                <a:solidFill>
                  <a:srgbClr val="595959"/>
                </a:solidFill>
                <a:latin typeface="Calibri"/>
              </a:rPr>
              <a:t>UFCEP6-0-3  ·  Hospital Patient Referral, Treatment and Administration System</a:t>
            </a:r>
          </a:p>
        </p:txBody>
      </p:sp>
      <p:sp>
        <p:nvSpPr>
          <p:cNvPr id="8" name="TextBox 7"/>
          <p:cNvSpPr txBox="1"/>
          <p:nvPr/>
        </p:nvSpPr>
        <p:spPr>
          <a:xfrm>
            <a:off x="10378440" y="6355080"/>
            <a:ext cx="1371600" cy="228600"/>
          </a:xfrm>
          <a:prstGeom prst="rect">
            <a:avLst/>
          </a:prstGeom>
          <a:noFill/>
        </p:spPr>
        <p:txBody>
          <a:bodyPr wrap="square" anchor="t" lIns="0" rIns="0" tIns="0" bIns="0">
            <a:spAutoFit/>
          </a:bodyPr>
          <a:lstStyle/>
          <a:p>
            <a:pPr algn="r">
              <a:spcBef>
                <a:spcPts val="0"/>
              </a:spcBef>
              <a:spcAft>
                <a:spcPts val="0"/>
              </a:spcAft>
            </a:pPr>
            <a:r>
              <a:rPr sz="1000" b="1" i="0">
                <a:solidFill>
                  <a:srgbClr val="2E74B5"/>
                </a:solidFill>
                <a:latin typeface="Calibri"/>
              </a:rPr>
              <a:t>19</a:t>
            </a:r>
          </a:p>
        </p:txBody>
      </p:sp>
      <p:graphicFrame>
        <p:nvGraphicFramePr>
          <p:cNvPr id="9" name="Table 8"/>
          <p:cNvGraphicFramePr>
            <a:graphicFrameLocks noGrp="1"/>
          </p:cNvGraphicFramePr>
          <p:nvPr/>
        </p:nvGraphicFramePr>
        <p:xfrm>
          <a:off x="502920" y="1459752"/>
          <a:ext cx="11185852" cy="2816352"/>
        </p:xfrm>
        <a:graphic>
          <a:graphicData uri="http://schemas.openxmlformats.org/drawingml/2006/table">
            <a:tbl>
              <a:tblPr firstRow="1" bandRow="1">
                <a:tableStyleId>{2D5ABB26-0587-4C30-8999-92F81FD0307C}</a:tableStyleId>
              </a:tblPr>
              <a:tblGrid>
                <a:gridCol w="1473258"/>
                <a:gridCol w="2837387"/>
                <a:gridCol w="3164778"/>
                <a:gridCol w="3710429"/>
              </a:tblGrid>
              <a:tr h="402336">
                <a:tc>
                  <a:txBody>
                    <a:bodyPr wrap="square"/>
                    <a:lstStyle/>
                    <a:p>
                      <a:pPr algn="l">
                        <a:lnSpc>
                          <a:spcPct val="92000"/>
                        </a:lnSpc>
                      </a:pPr>
                      <a:r>
                        <a:rPr sz="900" b="1">
                          <a:solidFill>
                            <a:srgbClr val="FFFFFF"/>
                          </a:solidFill>
                          <a:latin typeface="Calibri"/>
                        </a:rPr>
                        <a:t>Step</a:t>
                      </a:r>
                    </a:p>
                  </a:txBody>
                  <a:tcPr marL="64008" marR="54864" marT="22860" marB="22860" anchor="ctr">
                    <a:solidFill>
                      <a:srgbClr val="2E74B5"/>
                    </a:solidFill>
                  </a:tcPr>
                </a:tc>
                <a:tc>
                  <a:txBody>
                    <a:bodyPr wrap="square"/>
                    <a:lstStyle/>
                    <a:p>
                      <a:pPr algn="l">
                        <a:lnSpc>
                          <a:spcPct val="92000"/>
                        </a:lnSpc>
                      </a:pPr>
                      <a:r>
                        <a:rPr sz="900" b="1">
                          <a:solidFill>
                            <a:srgbClr val="FFFFFF"/>
                          </a:solidFill>
                          <a:latin typeface="Calibri"/>
                        </a:rPr>
                        <a:t>If live</a:t>
                      </a:r>
                    </a:p>
                  </a:txBody>
                  <a:tcPr marL="64008" marR="54864" marT="22860" marB="22860" anchor="ctr">
                    <a:solidFill>
                      <a:srgbClr val="2E74B5"/>
                    </a:solidFill>
                  </a:tcPr>
                </a:tc>
                <a:tc>
                  <a:txBody>
                    <a:bodyPr wrap="square"/>
                    <a:lstStyle/>
                    <a:p>
                      <a:pPr algn="l">
                        <a:lnSpc>
                          <a:spcPct val="92000"/>
                        </a:lnSpc>
                      </a:pPr>
                      <a:r>
                        <a:rPr sz="900" b="1">
                          <a:solidFill>
                            <a:srgbClr val="FFFFFF"/>
                          </a:solidFill>
                          <a:latin typeface="Calibri"/>
                        </a:rPr>
                        <a:t>If not live</a:t>
                      </a:r>
                    </a:p>
                  </a:txBody>
                  <a:tcPr marL="64008" marR="54864" marT="22860" marB="22860" anchor="ctr">
                    <a:solidFill>
                      <a:srgbClr val="2E74B5"/>
                    </a:solidFill>
                  </a:tcPr>
                </a:tc>
                <a:tc>
                  <a:txBody>
                    <a:bodyPr wrap="square"/>
                    <a:lstStyle/>
                    <a:p>
                      <a:pPr algn="l">
                        <a:lnSpc>
                          <a:spcPct val="92000"/>
                        </a:lnSpc>
                      </a:pPr>
                      <a:r>
                        <a:rPr sz="900" b="1">
                          <a:solidFill>
                            <a:srgbClr val="FFFFFF"/>
                          </a:solidFill>
                          <a:latin typeface="Calibri"/>
                        </a:rPr>
                        <a:t>Artefact it produces</a:t>
                      </a:r>
                    </a:p>
                  </a:txBody>
                  <a:tcPr marL="64008" marR="54864" marT="22860" marB="22860" anchor="ctr">
                    <a:solidFill>
                      <a:srgbClr val="2E74B5"/>
                    </a:solidFill>
                  </a:tcPr>
                </a:tc>
              </a:tr>
              <a:tr h="402336">
                <a:tc>
                  <a:txBody>
                    <a:bodyPr wrap="square"/>
                    <a:lstStyle/>
                    <a:p>
                      <a:pPr algn="l">
                        <a:lnSpc>
                          <a:spcPct val="92000"/>
                        </a:lnSpc>
                      </a:pPr>
                      <a:r>
                        <a:rPr sz="900" b="0">
                          <a:solidFill>
                            <a:srgbClr val="262626"/>
                          </a:solidFill>
                          <a:latin typeface="Calibri"/>
                        </a:rPr>
                        <a:t>Deploy</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deploy-all.mjs</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recorded clip 00:00–0:40</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7 definitions, 69 forms in Operate</a:t>
                      </a:r>
                    </a:p>
                  </a:txBody>
                  <a:tcPr marL="64008" marR="54864" marT="22860" marB="22860" anchor="ctr">
                    <a:solidFill>
                      <a:srgbClr val="FFFFFF"/>
                    </a:solidFill>
                  </a:tcPr>
                </a:tc>
              </a:tr>
              <a:tr h="402336">
                <a:tc>
                  <a:txBody>
                    <a:bodyPr wrap="square"/>
                    <a:lstStyle/>
                    <a:p>
                      <a:pPr algn="l">
                        <a:lnSpc>
                          <a:spcPct val="92000"/>
                        </a:lnSpc>
                      </a:pPr>
                      <a:r>
                        <a:rPr sz="900" b="0">
                          <a:solidFill>
                            <a:srgbClr val="262626"/>
                          </a:solidFill>
                          <a:latin typeface="Calibri"/>
                        </a:rPr>
                        <a:t>Start</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Start Patient referral</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recorded clip 00:40–1:05</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one running instance</a:t>
                      </a:r>
                    </a:p>
                  </a:txBody>
                  <a:tcPr marL="64008" marR="54864" marT="22860" marB="22860" anchor="ctr">
                    <a:solidFill>
                      <a:srgbClr val="EEF2F7"/>
                    </a:solidFill>
                  </a:tcPr>
                </a:tc>
              </a:tr>
              <a:tr h="402336">
                <a:tc>
                  <a:txBody>
                    <a:bodyPr wrap="square"/>
                    <a:lstStyle/>
                    <a:p>
                      <a:pPr algn="l">
                        <a:lnSpc>
                          <a:spcPct val="92000"/>
                        </a:lnSpc>
                      </a:pPr>
                      <a:r>
                        <a:rPr sz="900" b="0">
                          <a:solidFill>
                            <a:srgbClr val="262626"/>
                          </a:solidFill>
                          <a:latin typeface="Calibri"/>
                        </a:rPr>
                        <a:t>RBAC</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two logins, two inboxes</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two screenshots (to be re-taken)</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task-visibility.json</a:t>
                      </a:r>
                    </a:p>
                  </a:txBody>
                  <a:tcPr marL="64008" marR="54864" marT="22860" marB="22860" anchor="ctr">
                    <a:solidFill>
                      <a:srgbClr val="FFFFFF"/>
                    </a:solidFill>
                  </a:tcPr>
                </a:tc>
              </a:tr>
              <a:tr h="402336">
                <a:tc>
                  <a:txBody>
                    <a:bodyPr wrap="square"/>
                    <a:lstStyle/>
                    <a:p>
                      <a:pPr algn="l">
                        <a:lnSpc>
                          <a:spcPct val="92000"/>
                        </a:lnSpc>
                      </a:pPr>
                      <a:r>
                        <a:rPr sz="900" b="0">
                          <a:solidFill>
                            <a:srgbClr val="262626"/>
                          </a:solidFill>
                          <a:latin typeface="Calibri"/>
                        </a:rPr>
                        <a:t>Validation</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empty form submit</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recorded clip 01:20–1:40</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form error message</a:t>
                      </a:r>
                    </a:p>
                  </a:txBody>
                  <a:tcPr marL="64008" marR="54864" marT="22860" marB="22860" anchor="ctr">
                    <a:solidFill>
                      <a:srgbClr val="EEF2F7"/>
                    </a:solidFill>
                  </a:tcPr>
                </a:tc>
              </a:tr>
              <a:tr h="402336">
                <a:tc>
                  <a:txBody>
                    <a:bodyPr wrap="square"/>
                    <a:lstStyle/>
                    <a:p>
                      <a:pPr algn="l">
                        <a:lnSpc>
                          <a:spcPct val="92000"/>
                        </a:lnSpc>
                      </a:pPr>
                      <a:r>
                        <a:rPr sz="900" b="0">
                          <a:solidFill>
                            <a:srgbClr val="262626"/>
                          </a:solidFill>
                          <a:latin typeface="Calibri"/>
                        </a:rPr>
                        <a:t>Persistence</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write, exit, read</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run-2-read.txt on screen</a:t>
                      </a:r>
                    </a:p>
                  </a:txBody>
                  <a:tcPr marL="64008" marR="54864" marT="22860" marB="22860" anchor="ctr">
                    <a:solidFill>
                      <a:srgbClr val="FFFFFF"/>
                    </a:solidFill>
                  </a:tcPr>
                </a:tc>
                <a:tc>
                  <a:txBody>
                    <a:bodyPr wrap="square"/>
                    <a:lstStyle/>
                    <a:p>
                      <a:pPr algn="l">
                        <a:lnSpc>
                          <a:spcPct val="92000"/>
                        </a:lnSpc>
                      </a:pPr>
                      <a:r>
                        <a:rPr sz="900" b="0">
                          <a:solidFill>
                            <a:srgbClr val="262626"/>
                          </a:solidFill>
                          <a:latin typeface="Calibri"/>
                        </a:rPr>
                        <a:t>7/7 checks</a:t>
                      </a:r>
                    </a:p>
                  </a:txBody>
                  <a:tcPr marL="64008" marR="54864" marT="22860" marB="22860" anchor="ctr">
                    <a:solidFill>
                      <a:srgbClr val="FFFFFF"/>
                    </a:solidFill>
                  </a:tcPr>
                </a:tc>
              </a:tr>
              <a:tr h="402336">
                <a:tc>
                  <a:txBody>
                    <a:bodyPr wrap="square"/>
                    <a:lstStyle/>
                    <a:p>
                      <a:pPr algn="l">
                        <a:lnSpc>
                          <a:spcPct val="92000"/>
                        </a:lnSpc>
                      </a:pPr>
                      <a:r>
                        <a:rPr sz="900" b="0">
                          <a:solidFill>
                            <a:srgbClr val="262626"/>
                          </a:solidFill>
                          <a:latin typeface="Calibri"/>
                        </a:rPr>
                        <a:t>Evidence</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open the run log</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acceptance-run.log on screen</a:t>
                      </a:r>
                    </a:p>
                  </a:txBody>
                  <a:tcPr marL="64008" marR="54864" marT="22860" marB="22860" anchor="ctr">
                    <a:solidFill>
                      <a:srgbClr val="EEF2F7"/>
                    </a:solidFill>
                  </a:tcPr>
                </a:tc>
                <a:tc>
                  <a:txBody>
                    <a:bodyPr wrap="square"/>
                    <a:lstStyle/>
                    <a:p>
                      <a:pPr algn="l">
                        <a:lnSpc>
                          <a:spcPct val="92000"/>
                        </a:lnSpc>
                      </a:pPr>
                      <a:r>
                        <a:rPr sz="900" b="0">
                          <a:solidFill>
                            <a:srgbClr val="262626"/>
                          </a:solidFill>
                          <a:latin typeface="Calibri"/>
                        </a:rPr>
                        <a:t>run date, 18 cases, incidents</a:t>
                      </a:r>
                    </a:p>
                  </a:txBody>
                  <a:tcPr marL="64008" marR="54864" marT="22860" marB="22860" anchor="ctr">
                    <a:solidFill>
                      <a:srgbClr val="EEF2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